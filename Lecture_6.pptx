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11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table of contents and chapter ranges, pp. x–xv, 85–118, 255–296.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table of contents, pp. x–xi; Appendix A, p. 255; Appendix D, p. 287.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 overview and chapter description, pp. xxiii, 85–102.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 sections on stack, drawer, tab, and dialog navigation, pp. 86–102.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“Stack Navigation” and “Navigating Forward and Back,” pp. 86–88.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named-route discussion, pp. 87–88.
- Rap Payne, Flutter App Development, Chapter 11, MaterialApp routes example, p. 183.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“Navigating Forward and Back,” pp. 87–88.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“Using Anonymous Routes,” pp. 88–89.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“Get Result After a Scene Is Closed,” pp. 89–90.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“The Drawer Widget,” pp. 91–93.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“Filling the Drawer,” pp. 93–94.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“Filling the Drawer,” pp. 93–94.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“Tab Navigation,” pp. 95–99.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“DefaultTabController” and “TabBarView,” pp. 96–97.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“TabBar and Tabs” and “TabBar at the Bottom,” pp. 97–99.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“The Dialog Widget,” pp. 99–100.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“showDialog() and AlertDialog,” pp. 100–101.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“Responses with a Dialog,” pp. 101–102.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closing discussion on combining navigation methods, pp. 102–103.
- Rap Payne, Flutter App Development, drawer and tab sections, pp. 91–99.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 summary sections, pp. 85–102.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“What Is State?” pp. 105–107.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examples of built-in stateful widgets and TextField explanation, pp. 105–107.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“The Shape of a StatefulWidget,” pp. 107–108.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separation rationale and performance discussion, pp. 108–109.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“The Most Important Rule About State!,” p. 109.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setState explanation and rebuild discussion, p. 109.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“Passing State Down,” pp. 109–110.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“Lifting State Back Up,” pp. 111–112.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“An Example of State Management,” pp. 112–115.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7, pp. 105–118.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pp. 255–270; Appendix D, pp. 287–296.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“Functions Are Objects,” p. 264.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“Big Arrow/Fat Arrow/Lambda,” p. 264.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“Named Function Parameters,” pp. 265–266.
- Rap Payne, Flutter App Development, Appendix A, optional and required parameters, pp. 266–267.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 callback examples, pp. 88–101.
- Rap Payne, Flutter App Development, Chapter 7 callback examples for lifting state up, pp. 111–115.
- Rap Payne, Flutter App Development, Appendix A, functions as objects, p. 264.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“Looping” and list-iteration examples, pp. 257–258.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list iteration and looping examples, pp. 257–258.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“Looping,” p. 258.
- General Dart control-flow usage consistent with the language described in Appendix 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A, list iteration examples, pp. 257–258.
- General Flutter usage pattern consistent with collection iteration in Dart.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D introduction, pp. 287–288.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D, “Including a File with Your App,” pp. 288–289.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D, “Writing a File” and “And Reading It!,” pp. 290–291.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D, “Using JSON,” pp. 292–294.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Appendix D, “Shared Preferences,” pp. 295–296.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Flutter App Development, Chapter 6, pp. 85–102.
- Rap Payne, Flutter App Development, Chapter 7, pp. 105–118.
- Rap Payne, Flutter App Development, Appendix A, pp. 255–270.
- Rap Payne, Flutter App Development, Appendix D, pp. 287–296.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777240"/>
            <a:ext cx="3429000" cy="5212080"/>
          </a:xfrm>
          <a:prstGeom prst="roundRect">
            <a:avLst>
              <a:gd name="adj" fmla="val 2667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1417320"/>
            <a:ext cx="2606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1874520"/>
            <a:ext cx="219456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331720"/>
            <a:ext cx="178308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3886200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232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39867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41080" y="4471416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82D5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45720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41080" y="5056632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73B3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5157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9601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Flutter Navigation,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State, and Dart Essentials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" y="2606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Professional study deck for Computer Science students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Chapters 6–7 of Flutter App Development + a 15-slide Dart supplement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3767328"/>
            <a:ext cx="5029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13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</a:rPr>
              <a:t>Based on Rap Payne’s Flutter App 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45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ROADMAP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How this 45-slide deck is organized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30 slides from the book, followed by 15 slides on core Dart programming topics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Part 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6: Navigation and Routing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327355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Navigator stack, drawers, tabs, dialogs, and combining patterns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" y="45262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</a:rPr>
              <a:t>Slides 1–20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Part 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2304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7: Managing State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90872" y="327355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StatefulWidget design, setState, passing data down, and lifting state up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90872" y="45262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</a:rPr>
              <a:t>Slides 21–30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21040" y="18288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1021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Part III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85632" y="2304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Dart Essentials Module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85632" y="327355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Functions, loops, file assets, local I/O, JSON, and shared preferences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85632" y="45262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</a:rPr>
              <a:t>Slides 31–45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navigation matters in Flutter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Navigation makes one scene disappear and another scene appear, which is what makes an app feel multi-screen.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Core idea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 Flutter app often contains multiple scenes (screens, pages, workflows).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Navigation responds to user actions such as button presses, menu taps, or tab changes.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Chapter 6 focuses on four practical patterns: stack, drawer, tab, and dialog navigation.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These methods can coexist in the same app when each one serves a clear UX purpose.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Navigation categories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24942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9971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Stack navigation for linear forward/back movement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20840" y="267919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0175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11810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16839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Drawer navigation for top-level destinations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88620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98678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Tab navigation for peer destinations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720840" y="441655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475488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48554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9057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Dialogs for short decisions or confirmations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Navigation taxonomy and decision rule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Choose the pattern that matches the user’s mental model, not just the widget you happen to know.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Use this pattern when…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Stack: the user moves deeper into a task and may later go back.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Drawer: the app has top-level destinations that do not fit as visible tabs.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Tabs: the user switches frequently between a small set of peer views.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Dialog: the interaction is brief and should interrupt the current context only temporarily.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Architecture 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1214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Choose the visible pattern that matches the workflow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29400" y="256032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232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74320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32520" y="256032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526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74320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Drawer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29400" y="352044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73B3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70332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Tabs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32520" y="352044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3B2F1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70332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Dialog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3154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linear flow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06840" y="3154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top-level menu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03720" y="41148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peer views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87968" y="411480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short interruption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STACK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Navigator stack mental model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Each new scene is pushed on top of the current one. Going back pops the current scene off the stack.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Key ideas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Flutter uses a stack metaphor for the most common kind of forward/back movement.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When a scene is pushed, the user moves deeper into the workflow.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When a scene is popped, control returns to the previous caller.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Back arrows in the AppBar and the Android back button naturally fit this model.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Visual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210312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</a:rPr>
              <a:t>Top of stack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242316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60604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Checkout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98280" y="2990088"/>
            <a:ext cx="0" cy="25603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324612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0F2A4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4290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98280" y="3813048"/>
            <a:ext cx="0" cy="25603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406908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0B233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2519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Catalog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60920" y="5120640"/>
            <a:ext cx="45720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537960" y="501091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</a:rPr>
              <a:t>pop()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STACK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Named routes in MaterialApp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Named routes centralize your scene map and make the routing scheme self-documenting for teammates.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named routes help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They define scene-level destinations in one place.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They are easier to read in a team setting than ad hoc route creation everywhere.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They work well for standard app flows where destinations are known up front.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An initial route can be specified; if it is “/”, Flutter assumes it by default.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Named route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MaterialApp(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'My Cool App',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routes: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'/scene1': (ctx) =&gt; MyWidget1(),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'/scene2': (ctx) =&gt; MyWidget2(),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'/scene3': (ctx) =&gt; MyWidget3(),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STACK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Navigating forward and back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The essential pair is Navigator.pushNamed(context, route) and Navigator.pop(context).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Operational facts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pushNamed() to move to the next route in a linear flow.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pop() to return to the previous route when the user finishes or cancels.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a Scaffold is present, Flutter usually adds a back arrow to the AppBar automatically.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On Android, the system back button also works with the route stack.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Minimal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ElevatedButton(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const Text('Check out'),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Navigator.pushNamed(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'/checkout',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ElevatedButton(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const Text('Go back'),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Navigator.pop(context),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STACK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Anonymous routes and MaterialPageRoute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Anonymous routes are more ad hoc: they create the route on the fly instead of looking it up by name.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When to choose anonymous routes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You want a flexible one-off route without expanding the global route table.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You need custom transitions or custom route construction.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You are navigating to a widget that is not part of the named-route listing.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Trade-off: greater flexibility, but less predictability for teammates reading the codebase.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Anonymous route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Navigator.push(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MaterialPageRoute&lt;void&gt;(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(BuildContext context) =&gt; SecondRoute(),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STACK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Returning data after a scene is closed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Because every pop() returns to its caller, a route can return a value to the widget that opened it.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Typical use cases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Multi-step workflows such as profile editing, settings editors, or wizards.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Editing a specific field in a separate route and then writing the result back.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Dialogs and routes both use the same Future-based pattern for returned values.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calling code must be async because pushNamed() returns a Future.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Receive + return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onPressed: () async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_person.xHandle =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Navigator.pushNamed(context, '/xHandle');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Navigator.pop&lt;String&gt;(context, xHandle);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DRAWER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Drawer navigation: where it fits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 Drawer is usually a top-level navigation surface for destinations that do not need to stay visible all the time.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What the chapter highlights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Add a drawer to the Scaffold to reveal a slide-in menu from the left.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When a drawer is present, the hamburger icon replaces the AppBar back button unless you build custom controls yourself.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 practical pattern is to keep the drawer at the topmost level and use stack navigation below it.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you want the same drawer everywhere, place it in its own widget and include it in each scene’s Scaffold.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Scaffold with drawer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Scaffold(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appBar: AppBar(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const Text('Drawer Navigation'),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const Text('DrawerNavigation'),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drawer: MyDrawer(),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DRAWER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Drawer anatomy and content model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Drawer itself accepts one child, so multiple menu items must live inside another layout widget.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Important details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a Column when content is short and does not need scrolling.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a ListView when the drawer may grow and must scroll.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Entries should be visibly tappable; ListTile is a natural choice.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DrawerHeader provides a large branded area at the top for a logo or app identity.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Anatomy diagram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0574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B162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2240280"/>
            <a:ext cx="2267712" cy="777240"/>
          </a:xfrm>
          <a:prstGeom prst="rect">
            <a:avLst/>
          </a:prstGeom>
          <a:solidFill>
            <a:srgbClr val="1632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523744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DrawerHeader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20840" y="324612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01C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36499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EB"/>
                </a:solidFill>
              </a:rPr>
              <a:t>ListTile · Widget 1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720840" y="3867912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01C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986784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EB"/>
                </a:solidFill>
              </a:rPr>
              <a:t>ListTile · Widget 2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720840" y="4489704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01C2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60857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EB"/>
                </a:solidFill>
              </a:rPr>
              <a:t>ListTile · Widget 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72600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5E7EB"/>
                </a:solidFill>
              </a:rPr>
              <a:t>Drawer → one child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5E7EB"/>
                </a:solidFill>
              </a:rPr>
              <a:t>Column or ListView → many children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098280" y="333756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DRAWER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Filling the drawer with destinations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Each drawer entry can call Navigator.push() or Navigator.pushNamed() just like stack navigation.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Implementation checklist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Start with Drawer(child: ListView(...)) for a scalable menu.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ListTile for icon + label + tap handler.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Call Navigator.pushNamed(context, routeName) inside onTap for each destination.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Consider a DrawerHeader to reinforce branding and context.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Drawer menu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Drawer(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ListView(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[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DrawerHeader(child: Text('My Brand')),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ListTile(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leading: const Icon(Icons.looks_one),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title: const Text('Widget 1'),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onTap: () =&gt; Navigator.pushNamed(context, '/widget1'),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TAB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Tab navigation for peer destinations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Tabs are most effective when users switch often among a small set of equally important views.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Design guidance from the chapter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Tabs are easier to discover than a hidden drawer because destinations stay visible.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Do not overload the TabBar with too many small tabs.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you are desperate for more tabs, set isScrollable to true and allow horizontal scrolling.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Tabs can appear at the top in the AppBar or at the bottom via bottomNavigationBar.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Structure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24942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9971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Wrap screen with DefaultTabController(length: n)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20840" y="267919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0175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11810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16839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Provide n widgets inside TabBarView(children: ...)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88620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98678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Define n matching Tab widgets inside TabBar(tabs: ...)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720840" y="441655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475488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48554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9057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Optionally move TabBar to bottomNavigationBar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TAB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DefaultTabController and TabBarView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The controller is required, and the TabBarView defines which widgets are shown when tabs change.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Forgetting a TabController causes errors; DefaultTabController is the easiest fix.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Its length must match the number of tabs and the number of TabBarView children.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TabBarView usually occupies most of the screen, but widgets may be placed above or below it.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Think of TabBarView as the viewport for tab content.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Controller + view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DefaultTabController(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length: 5,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Scaffold(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TabBarView(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children: &lt;Widget&gt;[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WidgetA(), WidgetB(), WidgetC(),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WidgetD(), WidgetE(),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TAB NAVIGATION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TabBar, tabs, and bottom placement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 tab can contain text, an icon, or both, but its position must match the corresponding TabBarView child.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Critical rules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Each tab corresponds positionally to one TabBarView child.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counts must match exactly and the order must match exactly.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Top tabs often live in AppBar.bottom; bottom tabs use Scaffold.bottomNavigationBar.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tabs sit on a light background, wrap them in a darker Material surface for contrast.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Top or bottom tabs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appBar: AppBar(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const Text('Tab Navigation Demo'),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bottom: const TabBar(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tabs: [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Tab(icon: Icon(Icons.looks_one)),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Tab(child: Text('Choice 2')),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bottomNavigationBar: const TabBar(...),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DIALOGS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Dialogs as transient navigation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Dialogs are treated in the chapter as a special kind of navigation because they temporarily show another widget on top of the current scene.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dialogs matter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They interrupt the current screen briefly without a full scene transition.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They are appropriate for confirmations, alerts, short choices, and warnings.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Flutter commonly uses SimpleDialog or AlertDialog for this purpose.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Dialog actions normally dismiss the dialog through Navigator.pop(context).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Dialog types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46888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0B162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697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SimpleDialog · AlertDialog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315468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3467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AlertDialog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26680" y="3657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temporary decision layer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DIALOGS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showDialog() and AlertDialog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showDialog() is built into Flutter and requires a context plus a builder that returns a dialog widget.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Mechanics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showDialog() usually returns either a SimpleDialog or an AlertDialog.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AlertDialog has an actions list, often containing TextButton widgets.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simplest pattern is one button that dismisses the dialog with Navigator.pop(context).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code looks verbose at first because the builder function nests the dialog definition.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Minimal AlertDialog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3" y="2037477"/>
            <a:ext cx="1824228" cy="17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5081" y="2240280"/>
            <a:ext cx="4940807" cy="37581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ElevatedButton</a:t>
            </a: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const Text('Press me'),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showDialog&lt;void&gt;(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context,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(BuildContext context)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AlertDialog(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content: const Text('Press OK to continue'),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actions: &lt;Widget&gt;[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TextButton(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child: const Text('OK'),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onPressed: () =&gt; Navigator.pop(context),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DIALOGS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Returning values from dialogs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showDialog() returns a Future&lt;T&gt;, so dialogs can behave like short asynchronous questions.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Pattern to master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Await the showDialog&lt;T&gt;() result inside async code.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Each action button can return a specific value with Navigator.pop&lt;T&gt;(context, value).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This pattern is ideal for yes/no confirmations or small selections.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It mirrors the same Future-based return pattern used by pushed routes.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Dialog result flow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response = await showDialog&lt;String&gt;(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context,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(BuildContext context)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AlertDialog(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const Text('Are you sure?'),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actions: &lt;Widget&gt;[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TextButton(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const Text('Yes'),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onPressed: () =&gt; Navigator.pop(context, 'Yes'),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NAVIGATION 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Navigation methods can be combined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Real apps usually mix patterns: visible peer tabs, hidden top-level destinations, and stack-based drill-down workflows.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 practical combined 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a drawer for broad app sections or infrequent top-level destinations.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tabs for closely related peer views inside one section.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stack navigation whenever a user drills deeper into details or editors.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dialogs for short confirmations that should not become full routes.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Example app architecture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18120" y="224028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1632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23774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App shell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00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Drawer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61120" y="306324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173B3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3200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Tabs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18120" y="3913632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4050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Stack detail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8120" y="475488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3B2F1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48920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Dialog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87968" y="2770632"/>
            <a:ext cx="0" cy="29260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17152" y="2770632"/>
            <a:ext cx="749808" cy="29260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53528" y="3538728"/>
            <a:ext cx="164592" cy="374904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87968" y="4443984"/>
            <a:ext cx="0" cy="310896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6 RECAP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Navigation and routing: what students should remember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Key takeaways to review before you implement or revise for exams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1051560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993392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1076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54480" y="20848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Use the Navigator stack for linear drill-down workflows and normal forward/back flows.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05840" y="2688336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8026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54480" y="277977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Named routes centralize navigation; anonymous routes trade readability for flexibility.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005840" y="3383280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4975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Both pushed routes and dialogs can return values through Future&lt;T&gt;.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1925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54480" y="41696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Drawers are best for top-level destinations; tabs are best for visible peer destinations.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005840" y="4773168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8874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5448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A clean app architecture often combines drawer, tabs, stack navigation, and dialogs.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is state in Flutter?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State is data that changes during a widget’s lifetime and affects what the user sees on screen.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Definition and implications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data changes and the display must update, that data is state.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data never changes during the widget’s life, the widget can stay stateless.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State is central to interactive interfaces such as forms, toggles, sliders, and editors.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 StatefulWidget owns private mutable data and redraws when that data changes.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Simple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24942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9971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User types into a TextField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20840" y="267919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0175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11810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16839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Widget stores new value internally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88620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98678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Display changes immediately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720840" y="441655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475488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48554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9057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That live-changing value is state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Built-in stateful widgets show what state looks like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Flutter ships with many widgets that already manage internal changing data.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Examples named in the chapter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Navigator and DefaultTabController manage navigation state.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Checkbox, Radio, Slider, DropdownButton, and TextField all reflect live user input.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Form and FormField coordinate evolving input and validation state.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Scaffold and DrawerController also manage internal interaction state.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Built-in examples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22402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40487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TextField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0" y="22402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40487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Checkbox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37960" y="31089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27355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Navigator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0" y="31089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27355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37960" y="39776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14223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Form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9224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These widgets keep internal data and re-render as that data changes.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STATEFULWIDGET DESIGN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shape of a StatefulWidget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 StatefulWidget always comes in two parts: the widget class and its private state class.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Responsibilities by class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widget class is public and is the thing other widgets place in the tree.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state class is private and owns the mutable state variables.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state class also defines build() and the event-handling callbacks.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Both classes are traditionally written in the same Dart file.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Canonical structure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Foo extends StatefulWidget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State&lt;Foo&gt; createState() =&gt; _FooState();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_FooState extends State&lt;Foo&gt;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private state variables here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someWidget;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STATEFULWIDGET DESIGN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Flutter separates widget and state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The separation is both a software-design decision and a performance decision.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Reasons given in the chapter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Single responsibility principle: drawing and data management are separate concerns.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Flutter can handle redraw work and state retention independently for efficiency.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When a widget redraws, the old widget object can be discarded while the state object may be reused.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This decoupling helps Flutter avoid unnecessary work.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Conceptual split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025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3202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Widget class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 shell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26883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class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private data + build()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595360" y="2971800"/>
            <a:ext cx="53035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1228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separate concerns + better reuse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STATE RULE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most important rule about state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All changes to state data must be made in the state class and inside setState().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this rule matters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If you mutate state directly, the user may never see the change.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setState() batches changes at a time Flutter considers optimal.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This batching helps reduce redundant redraws.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chapter presents this as the central discipline of local state management.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The required pattern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setState(()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Make all changes to state variables here...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_value = 42;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STATE RULE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setState actually triggers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Calling setState() not only updates variables; it causes this widget to rebuild via build().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Operational behavior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Flutter invokes build() behind the scenes after the state change is scheduled.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Child widgets inside the build() subtree are part of that rebuild cycle.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This sounds expensive, but Flutter’s virtual widget tree keeps actual screen redraw work efficient.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Therefore, rebuild intent is broad while real repaint work remains selective.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State change pipeline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24942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9971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User event occurs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20840" y="267919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0175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11810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16839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setState() callback updates local variables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88620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98678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Flutter schedules a rebuild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720840" y="441655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475488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48554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9057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build() runs and visible output updates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DATA FLOW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Passing state down through constructors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Flutter uses one-way data flow: data moves down from a host widget into its children.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 parent can pass values into a child through constructor parameters.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Inside the State class, incoming widget fields are accessed with widget.fieldName.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This pattern keeps the parent in control of the source of truth.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Passing data down is simple; the complexity starts when a child needs to influence parent state.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Parent → child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Foo extends StatefulWidget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Foo({required this.passedIn, super.key});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passedIn;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State&lt;Foo&gt; createState() =&gt; _FooState();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_FooState extends State&lt;Foo&gt;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Text(widget.passedIn);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DATA FLOW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Lifting state up with callback functions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Flutter does not pass data upward directly. Instead, the parent passes a handler function downward.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The pattern in words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Functions are first-class objects in Dart, so references can be passed like data.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parent defines the real state-changing method.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child receives that function and invokes it when it needs the parent to update state.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effect feels like data went up, but really a function call went down and executed in the parent.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Flow model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24028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24028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48716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Parent owns state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0" y="248716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Child triggers callback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641080" y="2587752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3474720"/>
            <a:ext cx="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720840" y="3794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D399"/>
                </a:solidFill>
              </a:rPr>
              <a:t>child invokes callback to update parent state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STATE EXAMPLE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ColorMixer: a concrete state-management example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The chapter’s example mixes RGB sliders into a large color circle and demonstrates both passing state down and lifting state up.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the example is valuable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ColorMixer owns the mutable red, green, and blue values, so it must be stateful.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ColorCircle can stay stateless because the parent passes it everything it needs.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ColorValueChanger receives both the current value and a callback reference.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The callback updates the parent state through setState().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ColorMixer core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ColorMixer extends StatefulWidget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ColorMixer({super.key});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State&lt;ColorMixer&gt; createState() =&gt; _ColorMixerState();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_ColorMixerState extends State&lt;ColorMixer&gt;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_redColor = 0, _greenColor = 0, _blueColor = 0;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_setColor(String property, int value)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setState(() { /* update RGB */ });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CHAPTER 7 RECAP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Managing state: what students should remember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Key takeaways to review before you implement or revise for exams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1051560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993392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1076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54480" y="20848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State is data that changes over time and affects what is drawn on screen.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05840" y="2688336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8026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54480" y="277977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A StatefulWidget has a public widget class and a private state class with build() and callbacks.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005840" y="3383280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4975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All local-state mutations must happen inside setState() in the state class.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1925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54480" y="41696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Data flows down through constructors; child-to-parent influence happens by passing callback functions down.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005840" y="4773168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8874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5448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Prefer stateless widgets until you truly need changing local data and UI updates.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Supplemental Dart Module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Functions, Loops, and Working with Files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94A3B8"/>
                </a:solidFill>
              </a:rPr>
              <a:t>Same visual style, but now focused on the Dart language features and file-handling patterns that support Flutter development.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95528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82880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0391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ƒ(x)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49640" y="288036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30906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49640" y="393192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3B2F1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41422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files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/ 45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Functions are a central Dart abstraction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In Dart, functions are first-class objects: they can be stored, passed, and invoked like other values.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this matters in Flutter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Widget callbacks such as onPressed, onChanged, and builder are all functions.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Functions can be assigned to variables and passed into other widgets.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Constructors, getters, and setters are function-like language features you use constantly.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Understanding functions makes state lifting and asynchronous programming far easier.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First-class function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sayHi = (String name) =&gt; print('Hello, $name');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meToo = sayHi;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meToo('Tobias');</a:t>
            </a:r>
            <a:endParaRPr lang="en-US" sz="13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Function syntax and arrow functions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Use a normal function body for multi-step logic and the fat arrow for a single returned expression.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Rule of thumb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Standard braces are best when you need multiple statements or control flow.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Arrow syntax =&gt; is syntactic sugar for concise single-expression returns.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Flutter code uses arrow functions heavily in small callbacks and build helpers.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Choose readability first; concise does not always mean clearer.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Equivalent forms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triple(int val)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val * 3;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tripleA = (int val)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val * 3;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tripleB = (int val) =&gt; val * 3;</a:t>
            </a:r>
            <a:endParaRPr lang="en-US" sz="13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Parameters: positional, optional, named, and required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Dart gives you more than one way to define arguments, which is extremely useful for expressive APIs.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What students should know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Named parameters improve readability at the call site.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Named parameters also reduce ordering mistakes in long argument lists.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Optional parameters let you define flexible APIs without overloads.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required makes named parameters mandatory while keeping the self-documenting call style.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Named parameter call style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sendEmail(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'Popcorn in the breakroom',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toAddress: 'ceo@bluthcompany.com',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 is unimportant with named params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Anonymous functions and callbacks in Flutter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Much of Flutter’s API design depends on passing short inline functions into widgets.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Where you see callbacks daily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onPressed in buttons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builder functions in showDialog, ListView, and many layout widgets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State-lifting callbacks passed from parent widgets to children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Future handling via then(...) and async/await-related functions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Common Flutter callback forms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onPressed: () =&gt; Navigator.pop(context),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builder: (BuildContext context)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AlertDialog(...);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onTap: () =&gt; Navigator.pushNamed(context, '/widget1')</a:t>
            </a:r>
            <a:endParaRPr lang="en-US" sz="13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LOOPS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Looping in Dart: pick the form that matches the job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Dart supports standard loop structures, plus iterable-friendly patterns that feel natural in UI code.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Mental 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for when you need an index or a fixed numeric progression.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for-in when you want to iterate elements directly from a collection.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while when repetition should continue only while a condition remains true.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Combine loops with break and continue to control flow precisely.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Loop family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24942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9971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for → index-based repetition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20840" y="267919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0175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11810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16839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for-in → element-based repetition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88620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12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98678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while → condition-controlled repetition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720840" y="4416552"/>
            <a:ext cx="0" cy="33832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475488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0F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48554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9057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break / continue → branch within a loop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LOOPS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for loops and for-in loops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Both are common in Flutter, but they solve slightly different problems.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Choose based on intent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for is ideal when the counter itself matters.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for-in is cleaner when the item matters more than the index.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for-in reads especially well with lists of widgets, models, or strings.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Collection iteration can also be expressed with methods like forEach(...).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Examples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10; i++)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List&lt;dynamic&gt; list = [1, 'two', 3];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d in list)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print(d);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list.forEach((d) =&gt; print(d));</a:t>
            </a:r>
            <a:endParaRPr lang="en-US" sz="13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LOOPS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while loops, break, and continue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A while loop is useful when the number of repetitions is not known up front.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Control-flow reminders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while evaluates the condition before each iteration.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break exits the loop immediately.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continue skips the remainder of the current iteration and starts the next one.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In production code, loop readability and termination conditions matter more than cleverness.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Example pattern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10)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== 4)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== 8) break;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print(i++);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DART LOOPS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Loop patterns that map well to UI work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In Flutter, loops often prepare widget lists, transform data, or produce repeated visual structures.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Practical patterns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Iterate over models to create ListTile or Card widgets.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for-in when building summary text from list data.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indexed for loops when position, ordering, or alignment rules depend on the index.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Prefer expressive code over deeply nested loops in widget trees.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Pseudo-UI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people = ['Phoebe', 'Rachel', 'Monica'];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widgets = &lt;Widget&gt;[];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name in people)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widgets.add(ListTile(title: Text(name)));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WORKING WITH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Where app data can come from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The appendix frames app data as coming from the user, the device itself, or an external server.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This appendix focuses on device storage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Bundled files included with the app installation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Writable local files stored in the app’s documents area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JSON as a common format for structured persistence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Shared preferences for small key–value settings between runs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Storage landscape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28600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46888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input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23960" y="228600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173B3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46888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Device storage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26680" y="365760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3B2F1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84048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External server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6760" y="2852928"/>
            <a:ext cx="182880" cy="74980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49640" y="3063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D3EE"/>
                </a:solidFill>
              </a:rPr>
              <a:t>This section focuses here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WORKING WITH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Bundling files with your app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Bundled assets are great for initialization data or mini databases that ship with the app.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Workflow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Create the file inside the project, commonly under an assets folder.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Declare it in pubspec.yaml under the assets section.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Read it with rootBundle.loadString(...) after importing services.dart.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Bundled assets are compile-time resources, so they cannot be modified at runtime.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Asset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assets/database.json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Dart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'package:flutter/services.dart';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data =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rootBundle.loadString('assets/database.json');</a:t>
            </a:r>
            <a:endParaRPr lang="en-US" sz="13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WORKING WITH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Reading and writing local files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Writable local files live in an app-owned directory, typically provided by path_provider.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Key implementation points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getApplicationDocumentsDirectory() to locate a writable directory.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Create a File with a path under that directory and write text via writeAsString().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Read text back with readAsString() or readAsStringSync().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Writing flat files is not available on the web for security reasons.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Local file I/O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 docs = await getApplicationDocumentsDirectory();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file = File('my_file.txt');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file.writeAsString(_someText);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file.readAsString().then((text)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=&gt; _text = text);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WORKING WITH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JSON serialization and deserialization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JSON is the appendix’s preferred format for storing or transmitting structured data.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What students should retain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Serialization means converting in-memory app data into JSON text.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Deserialization means converting JSON text back into in-memory structures.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dart:convert provides json.encode() and json.decode().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A toJson() method is a clean way to serialize strongly typed objects.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JSON round trip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dynamic&gt; jsonMap =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'id': _person.id,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'firstName': _person.firstName,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'lastName': _person.lastName,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jsonString = json.encode(jsonMap);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file.writeAsString(jsonString);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dynamic&gt; personMap = json.decode(jsonString);</a:t>
            </a:r>
            <a:endParaRPr lang="en-US" sz="13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WORKING WITH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Shared preferences for small settings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For tokens, toggles, and small user settings between runs, shared preferences are a better fit than hand-managed flat files.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10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Pattern described in the appendix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212848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Get the SharedPreferences instance asynchronously.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96112" y="28163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432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Write values with typed set methods such as setString, setBool, setInt, and setStringList.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96112" y="3346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273552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Read them back with matching get methods.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803904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dirty="0">
                <a:solidFill>
                  <a:srgbClr val="E5E7EB"/>
                </a:solidFill>
              </a:rPr>
              <a:t>Use this for preferences and light persistent settings, not complex relational data.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Preference example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084832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0A10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17627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Dart / Flutter example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9672" y="2414016"/>
            <a:ext cx="46085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prefs = await SharedPreferences.getInstance();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..setString('organizationName', organizationName)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..setBool('isReady', true)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..setInt('numberOfTries', tries);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orgName = prefs.getString('organizationName');</a:t>
            </a:r>
            <a:endParaRPr lang="en-US" sz="13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FINAL SUMMARY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Study guide: what to take away from the whole deck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4A3B8"/>
                </a:solidFill>
              </a:rPr>
              <a:t>Key takeaways to review before you implement or revise for exams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 Development · Rap Payne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35640" y="644652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/ 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1051560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993392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1076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54480" y="20848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Chapter 6 teaches you to match navigation pattern to user intent: stack, drawer, tabs, or dialog.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05840" y="2688336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8026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54480" y="277977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Chapter 7 teaches local-state discipline: private state, setState(), downward data flow, and lifted callbacks.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005840" y="3383280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4975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Dart functions matter because Flutter APIs are full of callbacks, builders, and concise arrow functions.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1925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54480" y="41696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Dart loops help you process collections and generate UI structures cleanly and predictably.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005840" y="4773168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8874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5448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5E7EB"/>
                </a:solidFill>
              </a:rPr>
              <a:t>File work in Flutter spans bundled assets, writable local files, JSON conversion, and shared preferences.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7208</Words>
  <Application>Microsoft Office PowerPoint</Application>
  <PresentationFormat>Widescreen</PresentationFormat>
  <Paragraphs>935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Navigation, State, and Dart Essentials</dc:title>
  <dc:subject>Flutter chapters 6 and 7, plus Dart functions, loops, and files</dc:subject>
  <dc:creator>OpenAI</dc:creator>
  <cp:lastModifiedBy>CTS</cp:lastModifiedBy>
  <cp:revision>2</cp:revision>
  <dcterms:created xsi:type="dcterms:W3CDTF">2026-03-08T20:29:17Z</dcterms:created>
  <dcterms:modified xsi:type="dcterms:W3CDTF">2026-03-08T20:52:53Z</dcterms:modified>
</cp:coreProperties>
</file>