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8057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How to Write for iOS and Android at Once, Chapters 11–12, uploaded PDF in this chat.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Shape 3"/>
          <p:cNvSpPr/>
          <p:nvPr/>
        </p:nvSpPr>
        <p:spPr>
          <a:xfrm>
            <a:off x="640080" y="914400"/>
            <a:ext cx="5120640" cy="5029200"/>
          </a:xfrm>
          <a:prstGeom prst="roundRect">
            <a:avLst>
              <a:gd name="adj" fmla="val 1455"/>
            </a:avLst>
          </a:prstGeom>
          <a:solidFill>
            <a:srgbClr val="0B1220"/>
          </a:solidFill>
          <a:ln w="12700">
            <a:solidFill>
              <a:srgbClr val="1E293B"/>
            </a:solidFill>
            <a:prstDash val="solid"/>
          </a:ln>
        </p:spPr>
      </p:sp>
      <p:sp>
        <p:nvSpPr>
          <p:cNvPr id="6" name="Text 4"/>
          <p:cNvSpPr/>
          <p:nvPr/>
        </p:nvSpPr>
        <p:spPr>
          <a:xfrm>
            <a:off x="868680" y="1234440"/>
            <a:ext cx="4572000" cy="10972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Flutter Layout</a:t>
            </a:r>
            <a:endParaRPr lang="en-US" sz="2800" dirty="0"/>
          </a:p>
          <a:p>
            <a:pPr marL="0" indent="0">
              <a:buNone/>
            </a:pPr>
            <a:r>
              <a:rPr lang="en-US" sz="2800" b="1" dirty="0">
                <a:solidFill>
                  <a:srgbClr val="F8FAFC"/>
                </a:solidFill>
                <a:latin typeface="Aptos Display" pitchFamily="34" charset="0"/>
                <a:ea typeface="Aptos Display" pitchFamily="34" charset="-122"/>
                <a:cs typeface="Aptos Display" pitchFamily="34" charset="-120"/>
              </a:rPr>
              <a:t>Chapters 11 &amp; 12</a:t>
            </a:r>
            <a:endParaRPr lang="en-US" sz="2800" dirty="0"/>
          </a:p>
        </p:txBody>
      </p:sp>
      <p:sp>
        <p:nvSpPr>
          <p:cNvPr id="7" name="Text 5"/>
          <p:cNvSpPr/>
          <p:nvPr/>
        </p:nvSpPr>
        <p:spPr>
          <a:xfrm>
            <a:off x="896112" y="2487168"/>
            <a:ext cx="4389120" cy="320040"/>
          </a:xfrm>
          <a:prstGeom prst="rect">
            <a:avLst/>
          </a:prstGeom>
          <a:noFill/>
          <a:ln/>
        </p:spPr>
        <p:txBody>
          <a:bodyPr wrap="square" lIns="0" tIns="0" rIns="0" bIns="0" rtlCol="0" anchor="ctr"/>
          <a:lstStyle/>
          <a:p>
            <a:pPr marL="0" indent="0">
              <a:buNone/>
            </a:pPr>
            <a:r>
              <a:rPr lang="en-US" sz="1600" dirty="0">
                <a:solidFill>
                  <a:srgbClr val="22D3EE"/>
                </a:solidFill>
              </a:rPr>
              <a:t>Laying Out Your Widgets • Positioning Widgets</a:t>
            </a:r>
            <a:endParaRPr lang="en-US" sz="1600" dirty="0"/>
          </a:p>
        </p:txBody>
      </p:sp>
      <p:sp>
        <p:nvSpPr>
          <p:cNvPr id="8" name="Text 6"/>
          <p:cNvSpPr/>
          <p:nvPr/>
        </p:nvSpPr>
        <p:spPr>
          <a:xfrm>
            <a:off x="896112" y="2971800"/>
            <a:ext cx="4297680" cy="1097280"/>
          </a:xfrm>
          <a:prstGeom prst="rect">
            <a:avLst/>
          </a:prstGeom>
          <a:noFill/>
          <a:ln/>
        </p:spPr>
        <p:txBody>
          <a:bodyPr wrap="square" lIns="0" tIns="0" rIns="0" bIns="0" rtlCol="0" anchor="ctr"/>
          <a:lstStyle/>
          <a:p>
            <a:pPr marL="0" indent="0">
              <a:buNone/>
            </a:pPr>
            <a:r>
              <a:rPr lang="en-US" sz="1700" dirty="0">
                <a:solidFill>
                  <a:srgbClr val="E2E8F0"/>
                </a:solidFill>
              </a:rPr>
              <a:t>For third-year Computer Science students</a:t>
            </a:r>
            <a:endParaRPr lang="en-US" sz="1700" dirty="0"/>
          </a:p>
          <a:p>
            <a:pPr marL="0" indent="0">
              <a:buNone/>
            </a:pPr>
            <a:r>
              <a:rPr lang="en-US" sz="1700" dirty="0">
                <a:solidFill>
                  <a:srgbClr val="E2E8F0"/>
                </a:solidFill>
              </a:rPr>
              <a:t>Focused on scene layout, constraints, Row/Column, responsive design, Flex, and MediaQuery.</a:t>
            </a:r>
            <a:endParaRPr lang="en-US" sz="1700" dirty="0"/>
          </a:p>
        </p:txBody>
      </p:sp>
      <p:sp>
        <p:nvSpPr>
          <p:cNvPr id="9" name="Shape 7"/>
          <p:cNvSpPr/>
          <p:nvPr/>
        </p:nvSpPr>
        <p:spPr>
          <a:xfrm>
            <a:off x="6035040" y="731520"/>
            <a:ext cx="5486400" cy="5394960"/>
          </a:xfrm>
          <a:prstGeom prst="roundRect">
            <a:avLst>
              <a:gd name="adj" fmla="val 1356"/>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10" name="Image 0" descr="/mnt/data/ch11_12_assets/page-200.png"/>
          <p:cNvPicPr>
            <a:picLocks noChangeAspect="1"/>
          </p:cNvPicPr>
          <p:nvPr/>
        </p:nvPicPr>
        <p:blipFill>
          <a:blip r:embed="rId3"/>
          <a:stretch>
            <a:fillRect/>
          </a:stretch>
        </p:blipFill>
        <p:spPr>
          <a:xfrm>
            <a:off x="7046335" y="804672"/>
            <a:ext cx="3463810" cy="5248656"/>
          </a:xfrm>
          <a:prstGeom prst="rect">
            <a:avLst/>
          </a:prstGeom>
        </p:spPr>
      </p:pic>
      <p:sp>
        <p:nvSpPr>
          <p:cNvPr id="11" name="Text 8"/>
          <p:cNvSpPr/>
          <p:nvPr/>
        </p:nvSpPr>
        <p:spPr>
          <a:xfrm>
            <a:off x="868680" y="5257800"/>
            <a:ext cx="4480560" cy="548640"/>
          </a:xfrm>
          <a:prstGeom prst="rect">
            <a:avLst/>
          </a:prstGeom>
          <a:noFill/>
          <a:ln/>
        </p:spPr>
        <p:txBody>
          <a:bodyPr wrap="square" lIns="0" tIns="0" rIns="0" bIns="0" rtlCol="0" anchor="ctr"/>
          <a:lstStyle/>
          <a:p>
            <a:pPr marL="0" indent="0">
              <a:buNone/>
            </a:pPr>
            <a:r>
              <a:rPr lang="en-US" sz="1400" i="1" dirty="0">
                <a:solidFill>
                  <a:srgbClr val="CBD5E1"/>
                </a:solidFill>
              </a:rPr>
              <a:t>Goal of the lecture: move from “trial-and-error UI” to a mental model of how Flutter actually sizes and positions widgets.</a:t>
            </a:r>
            <a:endParaRPr lang="en-US" sz="1400" dirty="0"/>
          </a:p>
        </p:txBody>
      </p:sp>
      <p:sp>
        <p:nvSpPr>
          <p:cNvPr id="12" name="Text 9"/>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Learning outcomes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100" dirty="0">
                <a:solidFill>
                  <a:srgbClr val="CBD5E1"/>
                </a:solidFill>
              </a:rPr>
              <a:t>What students should be able to do after this lecture</a:t>
            </a:r>
            <a:endParaRPr lang="en-US" sz="1100" dirty="0"/>
          </a:p>
        </p:txBody>
      </p:sp>
      <p:sp>
        <p:nvSpPr>
          <p:cNvPr id="7" name="Text 5"/>
          <p:cNvSpPr/>
          <p:nvPr/>
        </p:nvSpPr>
        <p:spPr>
          <a:xfrm>
            <a:off x="640080" y="1143000"/>
            <a:ext cx="6583680" cy="5120640"/>
          </a:xfrm>
          <a:prstGeom prst="rect">
            <a:avLst/>
          </a:prstGeom>
          <a:noFill/>
          <a:ln/>
        </p:spPr>
        <p:txBody>
          <a:bodyPr wrap="square" lIns="508" tIns="508" rIns="508" bIns="508" rtlCol="0" anchor="t">
            <a:normAutofit/>
          </a:bodyPr>
          <a:lstStyle/>
          <a:p>
            <a:pPr marL="194310" indent="-194310">
              <a:buSzPct val="100000"/>
              <a:buChar char="•"/>
            </a:pPr>
            <a:r>
              <a:rPr lang="en-US" sz="1700" dirty="0">
                <a:solidFill>
                  <a:srgbClr val="E2E8F0"/>
                </a:solidFill>
              </a:rPr>
              <a:t>Explain the five-step roadmap the book uses for layout work: scene structure, positioning, overflow handling, extra space, and fine tuning.</a:t>
            </a:r>
            <a:endParaRPr lang="en-US" sz="1700" dirty="0"/>
          </a:p>
          <a:p>
            <a:pPr marL="194310" indent="-194310">
              <a:buSzPct val="100000"/>
              <a:buChar char="•"/>
            </a:pPr>
            <a:r>
              <a:rPr lang="en-US" sz="1700" dirty="0">
                <a:solidFill>
                  <a:srgbClr val="E2E8F0"/>
                </a:solidFill>
              </a:rPr>
              <a:t>Use MaterialApp, Scaffold, AppBar, and SafeArea correctly when building the outer structure of a Flutter screen.</a:t>
            </a:r>
            <a:endParaRPr lang="en-US" sz="1700" dirty="0"/>
          </a:p>
          <a:p>
            <a:pPr marL="194310" indent="-194310">
              <a:buSzPct val="100000"/>
              <a:buChar char="•"/>
            </a:pPr>
            <a:r>
              <a:rPr lang="en-US" sz="1700" dirty="0">
                <a:solidFill>
                  <a:srgbClr val="E2E8F0"/>
                </a:solidFill>
              </a:rPr>
              <a:t>Reason about Flutter's layout algorithm using constraints, preferred size, greedy widgets, and parent-child negotiation.</a:t>
            </a:r>
            <a:endParaRPr lang="en-US" sz="1700" dirty="0"/>
          </a:p>
          <a:p>
            <a:pPr marL="194310" indent="-194310">
              <a:buSzPct val="100000"/>
              <a:buChar char="•"/>
            </a:pPr>
            <a:r>
              <a:rPr lang="en-US" sz="1700" dirty="0">
                <a:solidFill>
                  <a:srgbClr val="E2E8F0"/>
                </a:solidFill>
              </a:rPr>
              <a:t>Diagnose and fix the “unbounded height” family of layout errors instead of guessing blindly.</a:t>
            </a:r>
            <a:endParaRPr lang="en-US" sz="1700" dirty="0"/>
          </a:p>
          <a:p>
            <a:pPr marL="194310" indent="-194310">
              <a:buSzPct val="100000"/>
              <a:buChar char="•"/>
            </a:pPr>
            <a:r>
              <a:rPr lang="en-US" sz="1700" dirty="0">
                <a:solidFill>
                  <a:srgbClr val="E2E8F0"/>
                </a:solidFill>
              </a:rPr>
              <a:t>Choose between Row, Column, Flex, and MediaQuery for responsive scene composition.</a:t>
            </a:r>
            <a:endParaRPr lang="en-US" sz="1700" dirty="0"/>
          </a:p>
          <a:p>
            <a:pPr marL="194310" indent="-194310">
              <a:buSzPct val="100000"/>
              <a:buChar char="•"/>
            </a:pPr>
            <a:r>
              <a:rPr lang="en-US" sz="1700" dirty="0">
                <a:solidFill>
                  <a:srgbClr val="E2E8F0"/>
                </a:solidFill>
              </a:rPr>
              <a:t>Apply book examples to realistic mobile UI layouts.</a:t>
            </a:r>
            <a:endParaRPr lang="en-US" sz="1700" dirty="0"/>
          </a:p>
        </p:txBody>
      </p:sp>
      <p:sp>
        <p:nvSpPr>
          <p:cNvPr id="8" name="Shape 6"/>
          <p:cNvSpPr/>
          <p:nvPr/>
        </p:nvSpPr>
        <p:spPr>
          <a:xfrm>
            <a:off x="7635240" y="1234440"/>
            <a:ext cx="3886200" cy="4297680"/>
          </a:xfrm>
          <a:prstGeom prst="roundRect">
            <a:avLst>
              <a:gd name="adj" fmla="val 1176"/>
            </a:avLst>
          </a:prstGeom>
          <a:solidFill>
            <a:srgbClr val="0B1220"/>
          </a:solidFill>
          <a:ln w="12700">
            <a:solidFill>
              <a:srgbClr val="1E293B"/>
            </a:solidFill>
            <a:prstDash val="solid"/>
          </a:ln>
        </p:spPr>
      </p:sp>
      <p:sp>
        <p:nvSpPr>
          <p:cNvPr id="9" name="Text 7"/>
          <p:cNvSpPr/>
          <p:nvPr/>
        </p:nvSpPr>
        <p:spPr>
          <a:xfrm>
            <a:off x="7863840" y="1417320"/>
            <a:ext cx="1828800" cy="274320"/>
          </a:xfrm>
          <a:prstGeom prst="rect">
            <a:avLst/>
          </a:prstGeom>
          <a:noFill/>
          <a:ln/>
        </p:spPr>
        <p:txBody>
          <a:bodyPr wrap="square" lIns="0" tIns="0" rIns="0" bIns="0" rtlCol="0" anchor="ctr"/>
          <a:lstStyle/>
          <a:p>
            <a:pPr marL="0" indent="0">
              <a:buNone/>
            </a:pPr>
            <a:r>
              <a:rPr lang="en-US" sz="1800" b="1" dirty="0">
                <a:solidFill>
                  <a:srgbClr val="F8FAFC"/>
                </a:solidFill>
              </a:rPr>
              <a:t>Lecture flow</a:t>
            </a:r>
            <a:endParaRPr lang="en-US" sz="1800" dirty="0"/>
          </a:p>
        </p:txBody>
      </p:sp>
      <p:sp>
        <p:nvSpPr>
          <p:cNvPr id="10" name="Text 8"/>
          <p:cNvSpPr/>
          <p:nvPr/>
        </p:nvSpPr>
        <p:spPr>
          <a:xfrm>
            <a:off x="7818120" y="1783080"/>
            <a:ext cx="3291840" cy="3200400"/>
          </a:xfrm>
          <a:prstGeom prst="rect">
            <a:avLst/>
          </a:prstGeom>
          <a:noFill/>
          <a:ln/>
        </p:spPr>
        <p:txBody>
          <a:bodyPr wrap="square" lIns="508" tIns="508" rIns="508" bIns="508" rtlCol="0" anchor="t">
            <a:normAutofit/>
          </a:bodyPr>
          <a:lstStyle/>
          <a:p>
            <a:pPr marL="182880" indent="-182880">
              <a:buSzPct val="100000"/>
              <a:buChar char="•"/>
            </a:pPr>
            <a:r>
              <a:rPr lang="en-US" sz="1600" dirty="0">
                <a:solidFill>
                  <a:srgbClr val="E2E8F0"/>
                </a:solidFill>
              </a:rPr>
              <a:t>Part I — Chapter 11: how Flutter lays out an entire scene</a:t>
            </a:r>
            <a:endParaRPr lang="en-US" sz="1600" dirty="0"/>
          </a:p>
          <a:p>
            <a:pPr marL="182880" indent="-182880">
              <a:buSzPct val="100000"/>
              <a:buChar char="•"/>
            </a:pPr>
            <a:r>
              <a:rPr lang="en-US" sz="1600" dirty="0">
                <a:solidFill>
                  <a:srgbClr val="E2E8F0"/>
                </a:solidFill>
              </a:rPr>
              <a:t>Part II — Layout algorithm and the unbounded-height problem</a:t>
            </a:r>
            <a:endParaRPr lang="en-US" sz="1600" dirty="0"/>
          </a:p>
          <a:p>
            <a:pPr marL="182880" indent="-182880">
              <a:buSzPct val="100000"/>
              <a:buChar char="•"/>
            </a:pPr>
            <a:r>
              <a:rPr lang="en-US" sz="1600" dirty="0">
                <a:solidFill>
                  <a:srgbClr val="E2E8F0"/>
                </a:solidFill>
              </a:rPr>
              <a:t>Part III — Chapter 12: Row, Column, responsive design, Flex, MediaQuery</a:t>
            </a:r>
            <a:endParaRPr lang="en-US" sz="1600" dirty="0"/>
          </a:p>
          <a:p>
            <a:pPr marL="182880" indent="-182880">
              <a:buSzPct val="100000"/>
              <a:buChar char="•"/>
            </a:pPr>
            <a:r>
              <a:rPr lang="en-US" sz="1600" dirty="0">
                <a:solidFill>
                  <a:srgbClr val="E2E8F0"/>
                </a:solidFill>
              </a:rPr>
              <a:t>Part IV — Quick check: questions for class discussion</a:t>
            </a:r>
            <a:endParaRPr lang="en-US" sz="1600" dirty="0"/>
          </a:p>
        </p:txBody>
      </p:sp>
      <p:sp>
        <p:nvSpPr>
          <p:cNvPr id="11" name="Text 9"/>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4160520" cy="6858000"/>
          </a:xfrm>
          <a:prstGeom prst="rect">
            <a:avLst/>
          </a:prstGeom>
          <a:solidFill>
            <a:srgbClr val="0B1220"/>
          </a:solidFill>
          <a:ln w="12700">
            <a:solidFill>
              <a:srgbClr val="0B1220"/>
            </a:solidFill>
            <a:prstDash val="solid"/>
          </a:ln>
        </p:spPr>
      </p:sp>
      <p:sp>
        <p:nvSpPr>
          <p:cNvPr id="4" name="Text 2"/>
          <p:cNvSpPr/>
          <p:nvPr/>
        </p:nvSpPr>
        <p:spPr>
          <a:xfrm>
            <a:off x="594360" y="914400"/>
            <a:ext cx="2743200" cy="201168"/>
          </a:xfrm>
          <a:prstGeom prst="rect">
            <a:avLst/>
          </a:prstGeom>
          <a:noFill/>
          <a:ln/>
        </p:spPr>
        <p:txBody>
          <a:bodyPr wrap="square" lIns="0" tIns="0" rIns="0" bIns="0" rtlCol="0" anchor="ctr"/>
          <a:lstStyle/>
          <a:p>
            <a:pPr marL="0" indent="0">
              <a:buNone/>
            </a:pPr>
            <a:r>
              <a:rPr lang="en-US" sz="1200" b="1" dirty="0">
                <a:solidFill>
                  <a:srgbClr val="22D3EE"/>
                </a:solidFill>
              </a:rPr>
              <a:t>CHAPTER 11</a:t>
            </a:r>
            <a:endParaRPr lang="en-US" sz="1200" dirty="0"/>
          </a:p>
        </p:txBody>
      </p:sp>
      <p:sp>
        <p:nvSpPr>
          <p:cNvPr id="5" name="Text 3"/>
          <p:cNvSpPr/>
          <p:nvPr/>
        </p:nvSpPr>
        <p:spPr>
          <a:xfrm>
            <a:off x="594360" y="1170432"/>
            <a:ext cx="3017520" cy="91440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Laying Out</a:t>
            </a:r>
            <a:endParaRPr lang="en-US" sz="2800" dirty="0"/>
          </a:p>
          <a:p>
            <a:pPr marL="0" indent="0">
              <a:buNone/>
            </a:pPr>
            <a:r>
              <a:rPr lang="en-US" sz="2800" b="1" dirty="0">
                <a:solidFill>
                  <a:srgbClr val="F8FAFC"/>
                </a:solidFill>
                <a:latin typeface="Aptos Display" pitchFamily="34" charset="0"/>
                <a:ea typeface="Aptos Display" pitchFamily="34" charset="-122"/>
                <a:cs typeface="Aptos Display" pitchFamily="34" charset="-120"/>
              </a:rPr>
              <a:t>Your Widgets</a:t>
            </a:r>
            <a:endParaRPr lang="en-US" sz="2800" dirty="0"/>
          </a:p>
        </p:txBody>
      </p:sp>
      <p:sp>
        <p:nvSpPr>
          <p:cNvPr id="6" name="Text 4"/>
          <p:cNvSpPr/>
          <p:nvPr/>
        </p:nvSpPr>
        <p:spPr>
          <a:xfrm>
            <a:off x="621792" y="2240280"/>
            <a:ext cx="2926080" cy="2743200"/>
          </a:xfrm>
          <a:prstGeom prst="rect">
            <a:avLst/>
          </a:prstGeom>
          <a:noFill/>
          <a:ln/>
        </p:spPr>
        <p:txBody>
          <a:bodyPr wrap="square" lIns="0" tIns="0" rIns="0" bIns="0" rtlCol="0" anchor="ctr"/>
          <a:lstStyle/>
          <a:p>
            <a:pPr marL="0" indent="0">
              <a:buNone/>
            </a:pPr>
            <a:r>
              <a:rPr lang="en-US" sz="1600" dirty="0">
                <a:solidFill>
                  <a:srgbClr val="CBD5E1"/>
                </a:solidFill>
              </a:rPr>
              <a:t>The chapter shifts from basic widget usage to the engineering logic of screen structure. The key idea is that Flutter layout becomes predictable once you understand constraints and the role of the outer scene widgets.</a:t>
            </a:r>
            <a:endParaRPr lang="en-US" sz="1600" dirty="0"/>
          </a:p>
        </p:txBody>
      </p:sp>
      <p:sp>
        <p:nvSpPr>
          <p:cNvPr id="7" name="Shape 5"/>
          <p:cNvSpPr/>
          <p:nvPr/>
        </p:nvSpPr>
        <p:spPr>
          <a:xfrm>
            <a:off x="4572000" y="777240"/>
            <a:ext cx="6858000" cy="5120640"/>
          </a:xfrm>
          <a:prstGeom prst="roundRect">
            <a:avLst>
              <a:gd name="adj" fmla="val 1429"/>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8" name="Image 0" descr="/mnt/data/ch11_12_assets/page-203.png"/>
          <p:cNvPicPr>
            <a:picLocks noChangeAspect="1"/>
          </p:cNvPicPr>
          <p:nvPr/>
        </p:nvPicPr>
        <p:blipFill>
          <a:blip r:embed="rId3"/>
          <a:stretch>
            <a:fillRect/>
          </a:stretch>
        </p:blipFill>
        <p:spPr>
          <a:xfrm>
            <a:off x="6359612" y="850392"/>
            <a:ext cx="3282775" cy="49743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The layout roadmap in the book</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100" dirty="0">
                <a:solidFill>
                  <a:srgbClr val="CBD5E1"/>
                </a:solidFill>
              </a:rPr>
              <a:t>Five steps that organize the entire layout section</a:t>
            </a:r>
            <a:endParaRPr lang="en-US" sz="1100" dirty="0"/>
          </a:p>
        </p:txBody>
      </p:sp>
      <p:sp>
        <p:nvSpPr>
          <p:cNvPr id="7" name="Shape 5"/>
          <p:cNvSpPr/>
          <p:nvPr/>
        </p:nvSpPr>
        <p:spPr>
          <a:xfrm>
            <a:off x="731520" y="1325880"/>
            <a:ext cx="10698480" cy="658368"/>
          </a:xfrm>
          <a:prstGeom prst="roundRect">
            <a:avLst>
              <a:gd name="adj" fmla="val 5556"/>
            </a:avLst>
          </a:prstGeom>
          <a:solidFill>
            <a:srgbClr val="0B1220"/>
          </a:solidFill>
          <a:ln w="12700">
            <a:solidFill>
              <a:srgbClr val="1E293B"/>
            </a:solidFill>
            <a:prstDash val="solid"/>
          </a:ln>
        </p:spPr>
      </p:sp>
      <p:sp>
        <p:nvSpPr>
          <p:cNvPr id="8" name="Shape 6"/>
          <p:cNvSpPr/>
          <p:nvPr/>
        </p:nvSpPr>
        <p:spPr>
          <a:xfrm>
            <a:off x="868680" y="1408176"/>
            <a:ext cx="502920" cy="493776"/>
          </a:xfrm>
          <a:prstGeom prst="roundRect">
            <a:avLst>
              <a:gd name="adj" fmla="val 11111"/>
            </a:avLst>
          </a:prstGeom>
          <a:solidFill>
            <a:srgbClr val="22D3EE"/>
          </a:solidFill>
          <a:ln w="12700">
            <a:solidFill>
              <a:srgbClr val="22D3EE"/>
            </a:solidFill>
            <a:prstDash val="solid"/>
          </a:ln>
        </p:spPr>
      </p:sp>
      <p:sp>
        <p:nvSpPr>
          <p:cNvPr id="9" name="Text 7"/>
          <p:cNvSpPr/>
          <p:nvPr/>
        </p:nvSpPr>
        <p:spPr>
          <a:xfrm>
            <a:off x="1024128" y="1499616"/>
            <a:ext cx="182880" cy="182880"/>
          </a:xfrm>
          <a:prstGeom prst="rect">
            <a:avLst/>
          </a:prstGeom>
          <a:noFill/>
          <a:ln/>
        </p:spPr>
        <p:txBody>
          <a:bodyPr wrap="square" lIns="0" tIns="0" rIns="0" bIns="0" rtlCol="0" anchor="ctr"/>
          <a:lstStyle/>
          <a:p>
            <a:pPr marL="0" indent="0" algn="ctr">
              <a:buNone/>
            </a:pPr>
            <a:r>
              <a:rPr lang="en-US" sz="1800" b="1" dirty="0">
                <a:solidFill>
                  <a:srgbClr val="0F172A"/>
                </a:solidFill>
              </a:rPr>
              <a:t>1</a:t>
            </a:r>
            <a:endParaRPr lang="en-US" sz="1800" dirty="0"/>
          </a:p>
        </p:txBody>
      </p:sp>
      <p:sp>
        <p:nvSpPr>
          <p:cNvPr id="10" name="Text 8"/>
          <p:cNvSpPr/>
          <p:nvPr/>
        </p:nvSpPr>
        <p:spPr>
          <a:xfrm>
            <a:off x="1600200" y="1490472"/>
            <a:ext cx="8961120" cy="201168"/>
          </a:xfrm>
          <a:prstGeom prst="rect">
            <a:avLst/>
          </a:prstGeom>
          <a:noFill/>
          <a:ln/>
        </p:spPr>
        <p:txBody>
          <a:bodyPr wrap="square" lIns="0" tIns="0" rIns="0" bIns="0" rtlCol="0" anchor="ctr"/>
          <a:lstStyle/>
          <a:p>
            <a:pPr marL="0" indent="0">
              <a:buNone/>
            </a:pPr>
            <a:r>
              <a:rPr lang="en-US" sz="1900" b="1" dirty="0">
                <a:solidFill>
                  <a:srgbClr val="F8FAFC"/>
                </a:solidFill>
              </a:rPr>
              <a:t>Layout the entire scene</a:t>
            </a:r>
            <a:endParaRPr lang="en-US" sz="1900" dirty="0"/>
          </a:p>
        </p:txBody>
      </p:sp>
      <p:sp>
        <p:nvSpPr>
          <p:cNvPr id="11" name="Shape 9"/>
          <p:cNvSpPr/>
          <p:nvPr/>
        </p:nvSpPr>
        <p:spPr>
          <a:xfrm>
            <a:off x="731520" y="2258568"/>
            <a:ext cx="10698480" cy="658368"/>
          </a:xfrm>
          <a:prstGeom prst="roundRect">
            <a:avLst>
              <a:gd name="adj" fmla="val 5556"/>
            </a:avLst>
          </a:prstGeom>
          <a:solidFill>
            <a:srgbClr val="0B1220"/>
          </a:solidFill>
          <a:ln w="12700">
            <a:solidFill>
              <a:srgbClr val="1E293B"/>
            </a:solidFill>
            <a:prstDash val="solid"/>
          </a:ln>
        </p:spPr>
      </p:sp>
      <p:sp>
        <p:nvSpPr>
          <p:cNvPr id="12" name="Shape 10"/>
          <p:cNvSpPr/>
          <p:nvPr/>
        </p:nvSpPr>
        <p:spPr>
          <a:xfrm>
            <a:off x="868680" y="2340864"/>
            <a:ext cx="502920" cy="493776"/>
          </a:xfrm>
          <a:prstGeom prst="roundRect">
            <a:avLst>
              <a:gd name="adj" fmla="val 11111"/>
            </a:avLst>
          </a:prstGeom>
          <a:solidFill>
            <a:srgbClr val="3B82F6"/>
          </a:solidFill>
          <a:ln w="12700">
            <a:solidFill>
              <a:srgbClr val="3B82F6"/>
            </a:solidFill>
            <a:prstDash val="solid"/>
          </a:ln>
        </p:spPr>
      </p:sp>
      <p:sp>
        <p:nvSpPr>
          <p:cNvPr id="13" name="Text 11"/>
          <p:cNvSpPr/>
          <p:nvPr/>
        </p:nvSpPr>
        <p:spPr>
          <a:xfrm>
            <a:off x="1024128" y="2432304"/>
            <a:ext cx="182880" cy="182880"/>
          </a:xfrm>
          <a:prstGeom prst="rect">
            <a:avLst/>
          </a:prstGeom>
          <a:noFill/>
          <a:ln/>
        </p:spPr>
        <p:txBody>
          <a:bodyPr wrap="square" lIns="0" tIns="0" rIns="0" bIns="0" rtlCol="0" anchor="ctr"/>
          <a:lstStyle/>
          <a:p>
            <a:pPr marL="0" indent="0" algn="ctr">
              <a:buNone/>
            </a:pPr>
            <a:r>
              <a:rPr lang="en-US" sz="1800" b="1" dirty="0">
                <a:solidFill>
                  <a:srgbClr val="0F172A"/>
                </a:solidFill>
              </a:rPr>
              <a:t>2</a:t>
            </a:r>
            <a:endParaRPr lang="en-US" sz="1800" dirty="0"/>
          </a:p>
        </p:txBody>
      </p:sp>
      <p:sp>
        <p:nvSpPr>
          <p:cNvPr id="14" name="Text 12"/>
          <p:cNvSpPr/>
          <p:nvPr/>
        </p:nvSpPr>
        <p:spPr>
          <a:xfrm>
            <a:off x="1600200" y="2423160"/>
            <a:ext cx="8961120" cy="201168"/>
          </a:xfrm>
          <a:prstGeom prst="rect">
            <a:avLst/>
          </a:prstGeom>
          <a:noFill/>
          <a:ln/>
        </p:spPr>
        <p:txBody>
          <a:bodyPr wrap="square" lIns="0" tIns="0" rIns="0" bIns="0" rtlCol="0" anchor="ctr"/>
          <a:lstStyle/>
          <a:p>
            <a:pPr marL="0" indent="0">
              <a:buNone/>
            </a:pPr>
            <a:r>
              <a:rPr lang="en-US" sz="1900" b="1" dirty="0">
                <a:solidFill>
                  <a:srgbClr val="F8FAFC"/>
                </a:solidFill>
              </a:rPr>
              <a:t>Position widgets relative to each other</a:t>
            </a:r>
            <a:endParaRPr lang="en-US" sz="1900" dirty="0"/>
          </a:p>
        </p:txBody>
      </p:sp>
      <p:sp>
        <p:nvSpPr>
          <p:cNvPr id="15" name="Shape 13"/>
          <p:cNvSpPr/>
          <p:nvPr/>
        </p:nvSpPr>
        <p:spPr>
          <a:xfrm>
            <a:off x="731520" y="3191256"/>
            <a:ext cx="10698480" cy="658368"/>
          </a:xfrm>
          <a:prstGeom prst="roundRect">
            <a:avLst>
              <a:gd name="adj" fmla="val 5556"/>
            </a:avLst>
          </a:prstGeom>
          <a:solidFill>
            <a:srgbClr val="0B1220"/>
          </a:solidFill>
          <a:ln w="12700">
            <a:solidFill>
              <a:srgbClr val="1E293B"/>
            </a:solidFill>
            <a:prstDash val="solid"/>
          </a:ln>
        </p:spPr>
      </p:sp>
      <p:sp>
        <p:nvSpPr>
          <p:cNvPr id="16" name="Shape 14"/>
          <p:cNvSpPr/>
          <p:nvPr/>
        </p:nvSpPr>
        <p:spPr>
          <a:xfrm>
            <a:off x="868680" y="3273552"/>
            <a:ext cx="502920" cy="493776"/>
          </a:xfrm>
          <a:prstGeom prst="roundRect">
            <a:avLst>
              <a:gd name="adj" fmla="val 11111"/>
            </a:avLst>
          </a:prstGeom>
          <a:solidFill>
            <a:srgbClr val="FB7185"/>
          </a:solidFill>
          <a:ln w="12700">
            <a:solidFill>
              <a:srgbClr val="FB7185"/>
            </a:solidFill>
            <a:prstDash val="solid"/>
          </a:ln>
        </p:spPr>
      </p:sp>
      <p:sp>
        <p:nvSpPr>
          <p:cNvPr id="17" name="Text 15"/>
          <p:cNvSpPr/>
          <p:nvPr/>
        </p:nvSpPr>
        <p:spPr>
          <a:xfrm>
            <a:off x="1024128" y="3364992"/>
            <a:ext cx="182880" cy="182880"/>
          </a:xfrm>
          <a:prstGeom prst="rect">
            <a:avLst/>
          </a:prstGeom>
          <a:noFill/>
          <a:ln/>
        </p:spPr>
        <p:txBody>
          <a:bodyPr wrap="square" lIns="0" tIns="0" rIns="0" bIns="0" rtlCol="0" anchor="ctr"/>
          <a:lstStyle/>
          <a:p>
            <a:pPr marL="0" indent="0" algn="ctr">
              <a:buNone/>
            </a:pPr>
            <a:r>
              <a:rPr lang="en-US" sz="1800" b="1" dirty="0">
                <a:solidFill>
                  <a:srgbClr val="0F172A"/>
                </a:solidFill>
              </a:rPr>
              <a:t>3</a:t>
            </a:r>
            <a:endParaRPr lang="en-US" sz="1800" dirty="0"/>
          </a:p>
        </p:txBody>
      </p:sp>
      <p:sp>
        <p:nvSpPr>
          <p:cNvPr id="18" name="Text 16"/>
          <p:cNvSpPr/>
          <p:nvPr/>
        </p:nvSpPr>
        <p:spPr>
          <a:xfrm>
            <a:off x="1600200" y="3355848"/>
            <a:ext cx="8961120" cy="201168"/>
          </a:xfrm>
          <a:prstGeom prst="rect">
            <a:avLst/>
          </a:prstGeom>
          <a:noFill/>
          <a:ln/>
        </p:spPr>
        <p:txBody>
          <a:bodyPr wrap="square" lIns="0" tIns="0" rIns="0" bIns="0" rtlCol="0" anchor="ctr"/>
          <a:lstStyle/>
          <a:p>
            <a:pPr marL="0" indent="0">
              <a:buNone/>
            </a:pPr>
            <a:r>
              <a:rPr lang="en-US" sz="1900" b="1" dirty="0">
                <a:solidFill>
                  <a:srgbClr val="F8FAFC"/>
                </a:solidFill>
              </a:rPr>
              <a:t>Handle overflow when widgets do not fit</a:t>
            </a:r>
            <a:endParaRPr lang="en-US" sz="1900" dirty="0"/>
          </a:p>
        </p:txBody>
      </p:sp>
      <p:sp>
        <p:nvSpPr>
          <p:cNvPr id="19" name="Shape 17"/>
          <p:cNvSpPr/>
          <p:nvPr/>
        </p:nvSpPr>
        <p:spPr>
          <a:xfrm>
            <a:off x="731520" y="4123944"/>
            <a:ext cx="10698480" cy="658368"/>
          </a:xfrm>
          <a:prstGeom prst="roundRect">
            <a:avLst>
              <a:gd name="adj" fmla="val 5556"/>
            </a:avLst>
          </a:prstGeom>
          <a:solidFill>
            <a:srgbClr val="0B1220"/>
          </a:solidFill>
          <a:ln w="12700">
            <a:solidFill>
              <a:srgbClr val="1E293B"/>
            </a:solidFill>
            <a:prstDash val="solid"/>
          </a:ln>
        </p:spPr>
      </p:sp>
      <p:sp>
        <p:nvSpPr>
          <p:cNvPr id="20" name="Shape 18"/>
          <p:cNvSpPr/>
          <p:nvPr/>
        </p:nvSpPr>
        <p:spPr>
          <a:xfrm>
            <a:off x="868680" y="4206240"/>
            <a:ext cx="502920" cy="493776"/>
          </a:xfrm>
          <a:prstGeom prst="roundRect">
            <a:avLst>
              <a:gd name="adj" fmla="val 11111"/>
            </a:avLst>
          </a:prstGeom>
          <a:solidFill>
            <a:srgbClr val="22C55E"/>
          </a:solidFill>
          <a:ln w="12700">
            <a:solidFill>
              <a:srgbClr val="22C55E"/>
            </a:solidFill>
            <a:prstDash val="solid"/>
          </a:ln>
        </p:spPr>
      </p:sp>
      <p:sp>
        <p:nvSpPr>
          <p:cNvPr id="21" name="Text 19"/>
          <p:cNvSpPr/>
          <p:nvPr/>
        </p:nvSpPr>
        <p:spPr>
          <a:xfrm>
            <a:off x="1024128" y="4297680"/>
            <a:ext cx="182880" cy="182880"/>
          </a:xfrm>
          <a:prstGeom prst="rect">
            <a:avLst/>
          </a:prstGeom>
          <a:noFill/>
          <a:ln/>
        </p:spPr>
        <p:txBody>
          <a:bodyPr wrap="square" lIns="0" tIns="0" rIns="0" bIns="0" rtlCol="0" anchor="ctr"/>
          <a:lstStyle/>
          <a:p>
            <a:pPr marL="0" indent="0" algn="ctr">
              <a:buNone/>
            </a:pPr>
            <a:r>
              <a:rPr lang="en-US" sz="1800" b="1" dirty="0">
                <a:solidFill>
                  <a:srgbClr val="0F172A"/>
                </a:solidFill>
              </a:rPr>
              <a:t>4</a:t>
            </a:r>
            <a:endParaRPr lang="en-US" sz="1800" dirty="0"/>
          </a:p>
        </p:txBody>
      </p:sp>
      <p:sp>
        <p:nvSpPr>
          <p:cNvPr id="22" name="Text 20"/>
          <p:cNvSpPr/>
          <p:nvPr/>
        </p:nvSpPr>
        <p:spPr>
          <a:xfrm>
            <a:off x="1600200" y="4288536"/>
            <a:ext cx="8961120" cy="201168"/>
          </a:xfrm>
          <a:prstGeom prst="rect">
            <a:avLst/>
          </a:prstGeom>
          <a:noFill/>
          <a:ln/>
        </p:spPr>
        <p:txBody>
          <a:bodyPr wrap="square" lIns="0" tIns="0" rIns="0" bIns="0" rtlCol="0" anchor="ctr"/>
          <a:lstStyle/>
          <a:p>
            <a:pPr marL="0" indent="0">
              <a:buNone/>
            </a:pPr>
            <a:r>
              <a:rPr lang="en-US" sz="1900" b="1" dirty="0">
                <a:solidFill>
                  <a:srgbClr val="F8FAFC"/>
                </a:solidFill>
              </a:rPr>
              <a:t>Handle extra space when screens are larger than needed</a:t>
            </a:r>
            <a:endParaRPr lang="en-US" sz="1900" dirty="0"/>
          </a:p>
        </p:txBody>
      </p:sp>
      <p:sp>
        <p:nvSpPr>
          <p:cNvPr id="23" name="Shape 21"/>
          <p:cNvSpPr/>
          <p:nvPr/>
        </p:nvSpPr>
        <p:spPr>
          <a:xfrm>
            <a:off x="731520" y="5056632"/>
            <a:ext cx="10698480" cy="658368"/>
          </a:xfrm>
          <a:prstGeom prst="roundRect">
            <a:avLst>
              <a:gd name="adj" fmla="val 5556"/>
            </a:avLst>
          </a:prstGeom>
          <a:solidFill>
            <a:srgbClr val="0B1220"/>
          </a:solidFill>
          <a:ln w="12700">
            <a:solidFill>
              <a:srgbClr val="1E293B"/>
            </a:solidFill>
            <a:prstDash val="solid"/>
          </a:ln>
        </p:spPr>
      </p:sp>
      <p:sp>
        <p:nvSpPr>
          <p:cNvPr id="24" name="Shape 22"/>
          <p:cNvSpPr/>
          <p:nvPr/>
        </p:nvSpPr>
        <p:spPr>
          <a:xfrm>
            <a:off x="868680" y="5138928"/>
            <a:ext cx="502920" cy="493776"/>
          </a:xfrm>
          <a:prstGeom prst="roundRect">
            <a:avLst>
              <a:gd name="adj" fmla="val 11111"/>
            </a:avLst>
          </a:prstGeom>
          <a:solidFill>
            <a:srgbClr val="F59E0B"/>
          </a:solidFill>
          <a:ln w="12700">
            <a:solidFill>
              <a:srgbClr val="F59E0B"/>
            </a:solidFill>
            <a:prstDash val="solid"/>
          </a:ln>
        </p:spPr>
      </p:sp>
      <p:sp>
        <p:nvSpPr>
          <p:cNvPr id="25" name="Text 23"/>
          <p:cNvSpPr/>
          <p:nvPr/>
        </p:nvSpPr>
        <p:spPr>
          <a:xfrm>
            <a:off x="1024128" y="5230368"/>
            <a:ext cx="182880" cy="182880"/>
          </a:xfrm>
          <a:prstGeom prst="rect">
            <a:avLst/>
          </a:prstGeom>
          <a:noFill/>
          <a:ln/>
        </p:spPr>
        <p:txBody>
          <a:bodyPr wrap="square" lIns="0" tIns="0" rIns="0" bIns="0" rtlCol="0" anchor="ctr"/>
          <a:lstStyle/>
          <a:p>
            <a:pPr marL="0" indent="0" algn="ctr">
              <a:buNone/>
            </a:pPr>
            <a:r>
              <a:rPr lang="en-US" sz="1800" b="1" dirty="0">
                <a:solidFill>
                  <a:srgbClr val="0F172A"/>
                </a:solidFill>
              </a:rPr>
              <a:t>5</a:t>
            </a:r>
            <a:endParaRPr lang="en-US" sz="1800" dirty="0"/>
          </a:p>
        </p:txBody>
      </p:sp>
      <p:sp>
        <p:nvSpPr>
          <p:cNvPr id="26" name="Text 24"/>
          <p:cNvSpPr/>
          <p:nvPr/>
        </p:nvSpPr>
        <p:spPr>
          <a:xfrm>
            <a:off x="1600200" y="5221224"/>
            <a:ext cx="8961120" cy="201168"/>
          </a:xfrm>
          <a:prstGeom prst="rect">
            <a:avLst/>
          </a:prstGeom>
          <a:noFill/>
          <a:ln/>
        </p:spPr>
        <p:txBody>
          <a:bodyPr wrap="square" lIns="0" tIns="0" rIns="0" bIns="0" rtlCol="0" anchor="ctr"/>
          <a:lstStyle/>
          <a:p>
            <a:pPr marL="0" indent="0">
              <a:buNone/>
            </a:pPr>
            <a:r>
              <a:rPr lang="en-US" sz="1900" b="1" dirty="0">
                <a:solidFill>
                  <a:srgbClr val="F8FAFC"/>
                </a:solidFill>
              </a:rPr>
              <a:t>Fine-tune positioning with padding, margin, and alignment</a:t>
            </a:r>
            <a:endParaRPr lang="en-US" sz="1900" dirty="0"/>
          </a:p>
        </p:txBody>
      </p:sp>
      <p:sp>
        <p:nvSpPr>
          <p:cNvPr id="27" name="Text 25"/>
          <p:cNvSpPr/>
          <p:nvPr/>
        </p:nvSpPr>
        <p:spPr>
          <a:xfrm>
            <a:off x="749808" y="6172200"/>
            <a:ext cx="10424160" cy="228600"/>
          </a:xfrm>
          <a:prstGeom prst="rect">
            <a:avLst/>
          </a:prstGeom>
          <a:noFill/>
          <a:ln/>
        </p:spPr>
        <p:txBody>
          <a:bodyPr wrap="square" lIns="0" tIns="0" rIns="0" bIns="0" rtlCol="0" anchor="ctr"/>
          <a:lstStyle/>
          <a:p>
            <a:pPr marL="0" indent="0">
              <a:buNone/>
            </a:pPr>
            <a:r>
              <a:rPr lang="en-US" sz="1500" i="1" dirty="0">
                <a:solidFill>
                  <a:srgbClr val="CBD5E1"/>
                </a:solidFill>
              </a:rPr>
              <a:t>Chapters 11 and 12 cover steps 1 and 2. Later chapters continue with overflow, extra space, and fine tuning.</a:t>
            </a:r>
            <a:endParaRPr lang="en-US" sz="1500" dirty="0"/>
          </a:p>
        </p:txBody>
      </p:sp>
      <p:sp>
        <p:nvSpPr>
          <p:cNvPr id="28" name="Text 26"/>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Step 1 — Lay out the whole scene</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100" dirty="0">
                <a:solidFill>
                  <a:srgbClr val="CBD5E1"/>
                </a:solidFill>
              </a:rPr>
              <a:t>Why screen structure is more than decoration</a:t>
            </a:r>
            <a:endParaRPr lang="en-US" sz="1100" dirty="0"/>
          </a:p>
        </p:txBody>
      </p:sp>
      <p:sp>
        <p:nvSpPr>
          <p:cNvPr id="7" name="Text 5"/>
          <p:cNvSpPr/>
          <p:nvPr/>
        </p:nvSpPr>
        <p:spPr>
          <a:xfrm>
            <a:off x="685800" y="1188720"/>
            <a:ext cx="6035040" cy="4389120"/>
          </a:xfrm>
          <a:prstGeom prst="rect">
            <a:avLst/>
          </a:prstGeom>
          <a:noFill/>
          <a:ln/>
        </p:spPr>
        <p:txBody>
          <a:bodyPr wrap="square" lIns="508" tIns="508" rIns="508" bIns="508" rtlCol="0" anchor="t">
            <a:normAutofit/>
          </a:bodyPr>
          <a:lstStyle/>
          <a:p>
            <a:pPr marL="205740" indent="-205740">
              <a:buSzPct val="100000"/>
              <a:buChar char="•"/>
            </a:pPr>
            <a:r>
              <a:rPr lang="en-US" sz="1800" dirty="0">
                <a:solidFill>
                  <a:srgbClr val="E2E8F0"/>
                </a:solidFill>
              </a:rPr>
              <a:t>The book argues that apps should not surprise users. Familiar structure makes interfaces feel simpler and more usable.</a:t>
            </a:r>
            <a:endParaRPr lang="en-US" sz="1800" dirty="0"/>
          </a:p>
          <a:p>
            <a:pPr marL="205740" indent="-205740">
              <a:buSzPct val="100000"/>
              <a:buChar char="•"/>
            </a:pPr>
            <a:r>
              <a:rPr lang="en-US" sz="1800" dirty="0">
                <a:solidFill>
                  <a:srgbClr val="E2E8F0"/>
                </a:solidFill>
              </a:rPr>
              <a:t>Users expect top-level affordances such as a title bar, status area, navigation patterns, and predictable action placement.</a:t>
            </a:r>
            <a:endParaRPr lang="en-US" sz="1800" dirty="0"/>
          </a:p>
          <a:p>
            <a:pPr marL="205740" indent="-205740">
              <a:buSzPct val="100000"/>
              <a:buChar char="•"/>
            </a:pPr>
            <a:r>
              <a:rPr lang="en-US" sz="1800" dirty="0">
                <a:solidFill>
                  <a:srgbClr val="E2E8F0"/>
                </a:solidFill>
              </a:rPr>
              <a:t>In Flutter, those conventions are not “magic”; they are modeled through specific widgets that define the scene skeleton.</a:t>
            </a:r>
            <a:endParaRPr lang="en-US" sz="1800" dirty="0"/>
          </a:p>
          <a:p>
            <a:pPr marL="205740" indent="-205740">
              <a:buSzPct val="100000"/>
              <a:buChar char="•"/>
            </a:pPr>
            <a:r>
              <a:rPr lang="en-US" sz="1800" dirty="0">
                <a:solidFill>
                  <a:srgbClr val="E2E8F0"/>
                </a:solidFill>
              </a:rPr>
              <a:t>At this stage, we are not arranging every small widget yet. We are deciding the outer frame within which all later layout happens.</a:t>
            </a:r>
            <a:endParaRPr lang="en-US" sz="1800" dirty="0"/>
          </a:p>
        </p:txBody>
      </p:sp>
      <p:sp>
        <p:nvSpPr>
          <p:cNvPr id="8" name="Shape 6"/>
          <p:cNvSpPr/>
          <p:nvPr/>
        </p:nvSpPr>
        <p:spPr>
          <a:xfrm>
            <a:off x="7132320" y="1097280"/>
            <a:ext cx="4389120" cy="5120640"/>
          </a:xfrm>
          <a:prstGeom prst="roundRect">
            <a:avLst>
              <a:gd name="adj" fmla="val 1667"/>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9" name="Image 0" descr="/mnt/data/ch11_12_assets/page-200.png"/>
          <p:cNvPicPr>
            <a:picLocks noChangeAspect="1"/>
          </p:cNvPicPr>
          <p:nvPr/>
        </p:nvPicPr>
        <p:blipFill>
          <a:blip r:embed="rId3"/>
          <a:stretch>
            <a:fillRect/>
          </a:stretch>
        </p:blipFill>
        <p:spPr>
          <a:xfrm>
            <a:off x="7685492" y="1170432"/>
            <a:ext cx="3282775" cy="4974336"/>
          </a:xfrm>
          <a:prstGeom prst="rect">
            <a:avLst/>
          </a:prstGeom>
        </p:spPr>
      </p:pic>
      <p:sp>
        <p:nvSpPr>
          <p:cNvPr id="10" name="Text 7"/>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MaterialApp vs CupertinoApp vs WidgetApp</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100" dirty="0">
                <a:solidFill>
                  <a:srgbClr val="CBD5E1"/>
                </a:solidFill>
              </a:rPr>
              <a:t>Choosing the root app wrapper</a:t>
            </a:r>
            <a:endParaRPr lang="en-US" sz="1100" dirty="0"/>
          </a:p>
        </p:txBody>
      </p:sp>
      <p:sp>
        <p:nvSpPr>
          <p:cNvPr id="7" name="Shape 5"/>
          <p:cNvSpPr/>
          <p:nvPr/>
        </p:nvSpPr>
        <p:spPr>
          <a:xfrm>
            <a:off x="685800" y="1234440"/>
            <a:ext cx="10972800" cy="4480560"/>
          </a:xfrm>
          <a:prstGeom prst="roundRect">
            <a:avLst>
              <a:gd name="adj" fmla="val 816"/>
            </a:avLst>
          </a:prstGeom>
          <a:solidFill>
            <a:srgbClr val="0B1220"/>
          </a:solidFill>
          <a:ln w="12700">
            <a:solidFill>
              <a:srgbClr val="1E293B"/>
            </a:solidFill>
            <a:prstDash val="solid"/>
          </a:ln>
        </p:spPr>
      </p:sp>
      <p:sp>
        <p:nvSpPr>
          <p:cNvPr id="8" name="Text 6"/>
          <p:cNvSpPr/>
          <p:nvPr/>
        </p:nvSpPr>
        <p:spPr>
          <a:xfrm>
            <a:off x="868680" y="1417320"/>
            <a:ext cx="2011680" cy="228600"/>
          </a:xfrm>
          <a:prstGeom prst="rect">
            <a:avLst/>
          </a:prstGeom>
          <a:noFill/>
          <a:ln/>
        </p:spPr>
        <p:txBody>
          <a:bodyPr wrap="square" lIns="0" tIns="0" rIns="0" bIns="0" rtlCol="0" anchor="ctr"/>
          <a:lstStyle/>
          <a:p>
            <a:pPr marL="0" indent="0">
              <a:buNone/>
            </a:pPr>
            <a:r>
              <a:rPr lang="en-US" sz="1700" b="1" dirty="0">
                <a:solidFill>
                  <a:srgbClr val="22D3EE"/>
                </a:solidFill>
              </a:rPr>
              <a:t>Aspect</a:t>
            </a:r>
            <a:endParaRPr lang="en-US" sz="1700" dirty="0"/>
          </a:p>
        </p:txBody>
      </p:sp>
      <p:sp>
        <p:nvSpPr>
          <p:cNvPr id="9" name="Text 7"/>
          <p:cNvSpPr/>
          <p:nvPr/>
        </p:nvSpPr>
        <p:spPr>
          <a:xfrm>
            <a:off x="3291840" y="1417320"/>
            <a:ext cx="2011680" cy="228600"/>
          </a:xfrm>
          <a:prstGeom prst="rect">
            <a:avLst/>
          </a:prstGeom>
          <a:noFill/>
          <a:ln/>
        </p:spPr>
        <p:txBody>
          <a:bodyPr wrap="square" lIns="0" tIns="0" rIns="0" bIns="0" rtlCol="0" anchor="ctr"/>
          <a:lstStyle/>
          <a:p>
            <a:pPr marL="0" indent="0">
              <a:buNone/>
            </a:pPr>
            <a:r>
              <a:rPr lang="en-US" sz="1700" b="1" dirty="0">
                <a:solidFill>
                  <a:srgbClr val="F8FAFC"/>
                </a:solidFill>
              </a:rPr>
              <a:t>MaterialApp</a:t>
            </a:r>
            <a:endParaRPr lang="en-US" sz="1700" dirty="0"/>
          </a:p>
        </p:txBody>
      </p:sp>
      <p:sp>
        <p:nvSpPr>
          <p:cNvPr id="10" name="Text 8"/>
          <p:cNvSpPr/>
          <p:nvPr/>
        </p:nvSpPr>
        <p:spPr>
          <a:xfrm>
            <a:off x="5897880" y="1417320"/>
            <a:ext cx="2011680" cy="228600"/>
          </a:xfrm>
          <a:prstGeom prst="rect">
            <a:avLst/>
          </a:prstGeom>
          <a:noFill/>
          <a:ln/>
        </p:spPr>
        <p:txBody>
          <a:bodyPr wrap="square" lIns="0" tIns="0" rIns="0" bIns="0" rtlCol="0" anchor="ctr"/>
          <a:lstStyle/>
          <a:p>
            <a:pPr marL="0" indent="0">
              <a:buNone/>
            </a:pPr>
            <a:r>
              <a:rPr lang="en-US" sz="1700" b="1" dirty="0">
                <a:solidFill>
                  <a:srgbClr val="F8FAFC"/>
                </a:solidFill>
              </a:rPr>
              <a:t>CupertinoApp</a:t>
            </a:r>
            <a:endParaRPr lang="en-US" sz="1700" dirty="0"/>
          </a:p>
        </p:txBody>
      </p:sp>
      <p:sp>
        <p:nvSpPr>
          <p:cNvPr id="11" name="Text 9"/>
          <p:cNvSpPr/>
          <p:nvPr/>
        </p:nvSpPr>
        <p:spPr>
          <a:xfrm>
            <a:off x="8549640" y="1417320"/>
            <a:ext cx="2011680" cy="228600"/>
          </a:xfrm>
          <a:prstGeom prst="rect">
            <a:avLst/>
          </a:prstGeom>
          <a:noFill/>
          <a:ln/>
        </p:spPr>
        <p:txBody>
          <a:bodyPr wrap="square" lIns="0" tIns="0" rIns="0" bIns="0" rtlCol="0" anchor="ctr"/>
          <a:lstStyle/>
          <a:p>
            <a:pPr marL="0" indent="0">
              <a:buNone/>
            </a:pPr>
            <a:r>
              <a:rPr lang="en-US" sz="1700" b="1" dirty="0">
                <a:solidFill>
                  <a:srgbClr val="F8FAFC"/>
                </a:solidFill>
              </a:rPr>
              <a:t>WidgetApp</a:t>
            </a:r>
            <a:endParaRPr lang="en-US" sz="1700" dirty="0"/>
          </a:p>
        </p:txBody>
      </p:sp>
      <p:sp>
        <p:nvSpPr>
          <p:cNvPr id="12" name="Text 10"/>
          <p:cNvSpPr/>
          <p:nvPr/>
        </p:nvSpPr>
        <p:spPr>
          <a:xfrm>
            <a:off x="868680" y="1828800"/>
            <a:ext cx="1920240" cy="411480"/>
          </a:xfrm>
          <a:prstGeom prst="rect">
            <a:avLst/>
          </a:prstGeom>
          <a:noFill/>
          <a:ln/>
        </p:spPr>
        <p:txBody>
          <a:bodyPr wrap="square" lIns="0" tIns="0" rIns="0" bIns="0" rtlCol="0" anchor="ctr"/>
          <a:lstStyle/>
          <a:p>
            <a:pPr marL="0" indent="0">
              <a:buNone/>
            </a:pPr>
            <a:r>
              <a:rPr lang="en-US" sz="1500" dirty="0">
                <a:solidFill>
                  <a:srgbClr val="CBD5E1"/>
                </a:solidFill>
              </a:rPr>
              <a:t>Conforms to</a:t>
            </a:r>
            <a:endParaRPr lang="en-US" sz="1500" dirty="0"/>
          </a:p>
        </p:txBody>
      </p:sp>
      <p:sp>
        <p:nvSpPr>
          <p:cNvPr id="13" name="Text 11"/>
          <p:cNvSpPr/>
          <p:nvPr/>
        </p:nvSpPr>
        <p:spPr>
          <a:xfrm>
            <a:off x="3291840" y="1828800"/>
            <a:ext cx="2194560" cy="411480"/>
          </a:xfrm>
          <a:prstGeom prst="rect">
            <a:avLst/>
          </a:prstGeom>
          <a:noFill/>
          <a:ln/>
        </p:spPr>
        <p:txBody>
          <a:bodyPr wrap="square" lIns="0" tIns="0" rIns="0" bIns="0" rtlCol="0" anchor="ctr"/>
          <a:lstStyle/>
          <a:p>
            <a:pPr marL="0" indent="0">
              <a:buNone/>
            </a:pPr>
            <a:r>
              <a:rPr lang="en-US" sz="1500" dirty="0">
                <a:solidFill>
                  <a:srgbClr val="E2E8F0"/>
                </a:solidFill>
              </a:rPr>
              <a:t>Material Design</a:t>
            </a:r>
            <a:endParaRPr lang="en-US" sz="1500" dirty="0"/>
          </a:p>
        </p:txBody>
      </p:sp>
      <p:sp>
        <p:nvSpPr>
          <p:cNvPr id="14" name="Text 12"/>
          <p:cNvSpPr/>
          <p:nvPr/>
        </p:nvSpPr>
        <p:spPr>
          <a:xfrm>
            <a:off x="5897880" y="1828800"/>
            <a:ext cx="2194560" cy="411480"/>
          </a:xfrm>
          <a:prstGeom prst="rect">
            <a:avLst/>
          </a:prstGeom>
          <a:noFill/>
          <a:ln/>
        </p:spPr>
        <p:txBody>
          <a:bodyPr wrap="square" lIns="0" tIns="0" rIns="0" bIns="0" rtlCol="0" anchor="ctr"/>
          <a:lstStyle/>
          <a:p>
            <a:pPr marL="0" indent="0">
              <a:buNone/>
            </a:pPr>
            <a:r>
              <a:rPr lang="en-US" sz="1500" dirty="0">
                <a:solidFill>
                  <a:srgbClr val="E2E8F0"/>
                </a:solidFill>
              </a:rPr>
              <a:t>Apple HIG</a:t>
            </a:r>
            <a:endParaRPr lang="en-US" sz="1500" dirty="0"/>
          </a:p>
        </p:txBody>
      </p:sp>
      <p:sp>
        <p:nvSpPr>
          <p:cNvPr id="15" name="Text 13"/>
          <p:cNvSpPr/>
          <p:nvPr/>
        </p:nvSpPr>
        <p:spPr>
          <a:xfrm>
            <a:off x="8549640" y="1828800"/>
            <a:ext cx="2194560" cy="411480"/>
          </a:xfrm>
          <a:prstGeom prst="rect">
            <a:avLst/>
          </a:prstGeom>
          <a:noFill/>
          <a:ln/>
        </p:spPr>
        <p:txBody>
          <a:bodyPr wrap="square" lIns="0" tIns="0" rIns="0" bIns="0" rtlCol="0" anchor="ctr"/>
          <a:lstStyle/>
          <a:p>
            <a:pPr marL="0" indent="0">
              <a:buNone/>
            </a:pPr>
            <a:r>
              <a:rPr lang="en-US" sz="1500" dirty="0">
                <a:solidFill>
                  <a:srgbClr val="E2E8F0"/>
                </a:solidFill>
              </a:rPr>
              <a:t>No preset standard</a:t>
            </a:r>
            <a:endParaRPr lang="en-US" sz="1500" dirty="0"/>
          </a:p>
        </p:txBody>
      </p:sp>
      <p:sp>
        <p:nvSpPr>
          <p:cNvPr id="16" name="Shape 14"/>
          <p:cNvSpPr/>
          <p:nvPr/>
        </p:nvSpPr>
        <p:spPr>
          <a:xfrm>
            <a:off x="868680" y="2331720"/>
            <a:ext cx="9966960" cy="0"/>
          </a:xfrm>
          <a:prstGeom prst="line">
            <a:avLst/>
          </a:prstGeom>
          <a:noFill/>
          <a:ln w="12700">
            <a:solidFill>
              <a:srgbClr val="334155"/>
            </a:solidFill>
            <a:prstDash val="solid"/>
          </a:ln>
        </p:spPr>
      </p:sp>
      <p:sp>
        <p:nvSpPr>
          <p:cNvPr id="17" name="Text 15"/>
          <p:cNvSpPr/>
          <p:nvPr/>
        </p:nvSpPr>
        <p:spPr>
          <a:xfrm>
            <a:off x="868680" y="2670048"/>
            <a:ext cx="1920240" cy="411480"/>
          </a:xfrm>
          <a:prstGeom prst="rect">
            <a:avLst/>
          </a:prstGeom>
          <a:noFill/>
          <a:ln/>
        </p:spPr>
        <p:txBody>
          <a:bodyPr wrap="square" lIns="0" tIns="0" rIns="0" bIns="0" rtlCol="0" anchor="ctr"/>
          <a:lstStyle/>
          <a:p>
            <a:pPr marL="0" indent="0">
              <a:buNone/>
            </a:pPr>
            <a:r>
              <a:rPr lang="en-US" sz="1500" dirty="0">
                <a:solidFill>
                  <a:srgbClr val="CBD5E1"/>
                </a:solidFill>
              </a:rPr>
              <a:t>Look &amp; feel</a:t>
            </a:r>
            <a:endParaRPr lang="en-US" sz="1500" dirty="0"/>
          </a:p>
        </p:txBody>
      </p:sp>
      <p:sp>
        <p:nvSpPr>
          <p:cNvPr id="18" name="Text 16"/>
          <p:cNvSpPr/>
          <p:nvPr/>
        </p:nvSpPr>
        <p:spPr>
          <a:xfrm>
            <a:off x="3291840" y="2670048"/>
            <a:ext cx="2194560" cy="411480"/>
          </a:xfrm>
          <a:prstGeom prst="rect">
            <a:avLst/>
          </a:prstGeom>
          <a:noFill/>
          <a:ln/>
        </p:spPr>
        <p:txBody>
          <a:bodyPr wrap="square" lIns="0" tIns="0" rIns="0" bIns="0" rtlCol="0" anchor="ctr"/>
          <a:lstStyle/>
          <a:p>
            <a:pPr marL="0" indent="0">
              <a:buNone/>
            </a:pPr>
            <a:r>
              <a:rPr lang="en-US" sz="1500" dirty="0">
                <a:solidFill>
                  <a:srgbClr val="E2E8F0"/>
                </a:solidFill>
              </a:rPr>
              <a:t>Google/Android style</a:t>
            </a:r>
            <a:endParaRPr lang="en-US" sz="1500" dirty="0"/>
          </a:p>
        </p:txBody>
      </p:sp>
      <p:sp>
        <p:nvSpPr>
          <p:cNvPr id="19" name="Text 17"/>
          <p:cNvSpPr/>
          <p:nvPr/>
        </p:nvSpPr>
        <p:spPr>
          <a:xfrm>
            <a:off x="5897880" y="2670048"/>
            <a:ext cx="2194560" cy="411480"/>
          </a:xfrm>
          <a:prstGeom prst="rect">
            <a:avLst/>
          </a:prstGeom>
          <a:noFill/>
          <a:ln/>
        </p:spPr>
        <p:txBody>
          <a:bodyPr wrap="square" lIns="0" tIns="0" rIns="0" bIns="0" rtlCol="0" anchor="ctr"/>
          <a:lstStyle/>
          <a:p>
            <a:pPr marL="0" indent="0">
              <a:buNone/>
            </a:pPr>
            <a:r>
              <a:rPr lang="en-US" sz="1500" dirty="0">
                <a:solidFill>
                  <a:srgbClr val="E2E8F0"/>
                </a:solidFill>
              </a:rPr>
              <a:t>iOS style</a:t>
            </a:r>
            <a:endParaRPr lang="en-US" sz="1500" dirty="0"/>
          </a:p>
        </p:txBody>
      </p:sp>
      <p:sp>
        <p:nvSpPr>
          <p:cNvPr id="20" name="Text 18"/>
          <p:cNvSpPr/>
          <p:nvPr/>
        </p:nvSpPr>
        <p:spPr>
          <a:xfrm>
            <a:off x="8549640" y="2670048"/>
            <a:ext cx="2194560" cy="411480"/>
          </a:xfrm>
          <a:prstGeom prst="rect">
            <a:avLst/>
          </a:prstGeom>
          <a:noFill/>
          <a:ln/>
        </p:spPr>
        <p:txBody>
          <a:bodyPr wrap="square" lIns="0" tIns="0" rIns="0" bIns="0" rtlCol="0" anchor="ctr"/>
          <a:lstStyle/>
          <a:p>
            <a:pPr marL="0" indent="0">
              <a:buNone/>
            </a:pPr>
            <a:r>
              <a:rPr lang="en-US" sz="1500" dirty="0">
                <a:solidFill>
                  <a:srgbClr val="E2E8F0"/>
                </a:solidFill>
              </a:rPr>
              <a:t>Generic base class</a:t>
            </a:r>
            <a:endParaRPr lang="en-US" sz="1500" dirty="0"/>
          </a:p>
        </p:txBody>
      </p:sp>
      <p:sp>
        <p:nvSpPr>
          <p:cNvPr id="21" name="Shape 19"/>
          <p:cNvSpPr/>
          <p:nvPr/>
        </p:nvSpPr>
        <p:spPr>
          <a:xfrm>
            <a:off x="868680" y="3172968"/>
            <a:ext cx="9966960" cy="0"/>
          </a:xfrm>
          <a:prstGeom prst="line">
            <a:avLst/>
          </a:prstGeom>
          <a:noFill/>
          <a:ln w="12700">
            <a:solidFill>
              <a:srgbClr val="334155"/>
            </a:solidFill>
            <a:prstDash val="solid"/>
          </a:ln>
        </p:spPr>
      </p:sp>
      <p:sp>
        <p:nvSpPr>
          <p:cNvPr id="22" name="Text 20"/>
          <p:cNvSpPr/>
          <p:nvPr/>
        </p:nvSpPr>
        <p:spPr>
          <a:xfrm>
            <a:off x="868680" y="3511296"/>
            <a:ext cx="1920240" cy="411480"/>
          </a:xfrm>
          <a:prstGeom prst="rect">
            <a:avLst/>
          </a:prstGeom>
          <a:noFill/>
          <a:ln/>
        </p:spPr>
        <p:txBody>
          <a:bodyPr wrap="square" lIns="0" tIns="0" rIns="0" bIns="0" rtlCol="0" anchor="ctr"/>
          <a:lstStyle/>
          <a:p>
            <a:pPr marL="0" indent="0">
              <a:buNone/>
            </a:pPr>
            <a:r>
              <a:rPr lang="en-US" sz="1500" dirty="0">
                <a:solidFill>
                  <a:srgbClr val="CBD5E1"/>
                </a:solidFill>
              </a:rPr>
              <a:t>Real-world use</a:t>
            </a:r>
            <a:endParaRPr lang="en-US" sz="1500" dirty="0"/>
          </a:p>
        </p:txBody>
      </p:sp>
      <p:sp>
        <p:nvSpPr>
          <p:cNvPr id="23" name="Text 21"/>
          <p:cNvSpPr/>
          <p:nvPr/>
        </p:nvSpPr>
        <p:spPr>
          <a:xfrm>
            <a:off x="3291840" y="3511296"/>
            <a:ext cx="2194560" cy="411480"/>
          </a:xfrm>
          <a:prstGeom prst="rect">
            <a:avLst/>
          </a:prstGeom>
          <a:noFill/>
          <a:ln/>
        </p:spPr>
        <p:txBody>
          <a:bodyPr wrap="square" lIns="0" tIns="0" rIns="0" bIns="0" rtlCol="0" anchor="ctr"/>
          <a:lstStyle/>
          <a:p>
            <a:pPr marL="0" indent="0">
              <a:buNone/>
            </a:pPr>
            <a:r>
              <a:rPr lang="en-US" sz="1500" dirty="0">
                <a:solidFill>
                  <a:srgbClr val="E2E8F0"/>
                </a:solidFill>
              </a:rPr>
              <a:t>Standard choice for most apps</a:t>
            </a:r>
            <a:endParaRPr lang="en-US" sz="1500" dirty="0"/>
          </a:p>
        </p:txBody>
      </p:sp>
      <p:sp>
        <p:nvSpPr>
          <p:cNvPr id="24" name="Text 22"/>
          <p:cNvSpPr/>
          <p:nvPr/>
        </p:nvSpPr>
        <p:spPr>
          <a:xfrm>
            <a:off x="5897880" y="3511296"/>
            <a:ext cx="2194560" cy="411480"/>
          </a:xfrm>
          <a:prstGeom prst="rect">
            <a:avLst/>
          </a:prstGeom>
          <a:noFill/>
          <a:ln/>
        </p:spPr>
        <p:txBody>
          <a:bodyPr wrap="square" lIns="0" tIns="0" rIns="0" bIns="0" rtlCol="0" anchor="ctr"/>
          <a:lstStyle/>
          <a:p>
            <a:pPr marL="0" indent="0">
              <a:buNone/>
            </a:pPr>
            <a:r>
              <a:rPr lang="en-US" sz="1500" dirty="0">
                <a:solidFill>
                  <a:srgbClr val="E2E8F0"/>
                </a:solidFill>
              </a:rPr>
              <a:t>Mostly iOS-first apps</a:t>
            </a:r>
            <a:endParaRPr lang="en-US" sz="1500" dirty="0"/>
          </a:p>
        </p:txBody>
      </p:sp>
      <p:sp>
        <p:nvSpPr>
          <p:cNvPr id="25" name="Text 23"/>
          <p:cNvSpPr/>
          <p:nvPr/>
        </p:nvSpPr>
        <p:spPr>
          <a:xfrm>
            <a:off x="8549640" y="3511296"/>
            <a:ext cx="2194560" cy="411480"/>
          </a:xfrm>
          <a:prstGeom prst="rect">
            <a:avLst/>
          </a:prstGeom>
          <a:noFill/>
          <a:ln/>
        </p:spPr>
        <p:txBody>
          <a:bodyPr wrap="square" lIns="0" tIns="0" rIns="0" bIns="0" rtlCol="0" anchor="ctr"/>
          <a:lstStyle/>
          <a:p>
            <a:pPr marL="0" indent="0">
              <a:buNone/>
            </a:pPr>
            <a:r>
              <a:rPr lang="en-US" sz="1500" dirty="0">
                <a:solidFill>
                  <a:srgbClr val="E2E8F0"/>
                </a:solidFill>
              </a:rPr>
              <a:t>Used for custom app wrappers</a:t>
            </a:r>
            <a:endParaRPr lang="en-US" sz="1500" dirty="0"/>
          </a:p>
        </p:txBody>
      </p:sp>
      <p:sp>
        <p:nvSpPr>
          <p:cNvPr id="26" name="Shape 24"/>
          <p:cNvSpPr/>
          <p:nvPr/>
        </p:nvSpPr>
        <p:spPr>
          <a:xfrm>
            <a:off x="868680" y="4014216"/>
            <a:ext cx="9966960" cy="0"/>
          </a:xfrm>
          <a:prstGeom prst="line">
            <a:avLst/>
          </a:prstGeom>
          <a:noFill/>
          <a:ln w="12700">
            <a:solidFill>
              <a:srgbClr val="334155"/>
            </a:solidFill>
            <a:prstDash val="solid"/>
          </a:ln>
        </p:spPr>
      </p:sp>
      <p:sp>
        <p:nvSpPr>
          <p:cNvPr id="27" name="Text 25"/>
          <p:cNvSpPr/>
          <p:nvPr/>
        </p:nvSpPr>
        <p:spPr>
          <a:xfrm>
            <a:off x="868680" y="4352544"/>
            <a:ext cx="1920240" cy="411480"/>
          </a:xfrm>
          <a:prstGeom prst="rect">
            <a:avLst/>
          </a:prstGeom>
          <a:noFill/>
          <a:ln/>
        </p:spPr>
        <p:txBody>
          <a:bodyPr wrap="square" lIns="0" tIns="0" rIns="0" bIns="0" rtlCol="0" anchor="ctr"/>
          <a:lstStyle/>
          <a:p>
            <a:pPr marL="0" indent="0">
              <a:buNone/>
            </a:pPr>
            <a:r>
              <a:rPr lang="en-US" sz="1500" dirty="0">
                <a:solidFill>
                  <a:srgbClr val="CBD5E1"/>
                </a:solidFill>
              </a:rPr>
              <a:t>When to use</a:t>
            </a:r>
            <a:endParaRPr lang="en-US" sz="1500" dirty="0"/>
          </a:p>
        </p:txBody>
      </p:sp>
      <p:sp>
        <p:nvSpPr>
          <p:cNvPr id="28" name="Text 26"/>
          <p:cNvSpPr/>
          <p:nvPr/>
        </p:nvSpPr>
        <p:spPr>
          <a:xfrm>
            <a:off x="3291840" y="4352544"/>
            <a:ext cx="2194560" cy="411480"/>
          </a:xfrm>
          <a:prstGeom prst="rect">
            <a:avLst/>
          </a:prstGeom>
          <a:noFill/>
          <a:ln/>
        </p:spPr>
        <p:txBody>
          <a:bodyPr wrap="square" lIns="0" tIns="0" rIns="0" bIns="0" rtlCol="0" anchor="ctr"/>
          <a:lstStyle/>
          <a:p>
            <a:pPr marL="0" indent="0">
              <a:buNone/>
            </a:pPr>
            <a:r>
              <a:rPr lang="en-US" sz="1500" dirty="0">
                <a:solidFill>
                  <a:srgbClr val="E2E8F0"/>
                </a:solidFill>
              </a:rPr>
              <a:t>Cross-platform default</a:t>
            </a:r>
            <a:endParaRPr lang="en-US" sz="1500" dirty="0"/>
          </a:p>
        </p:txBody>
      </p:sp>
      <p:sp>
        <p:nvSpPr>
          <p:cNvPr id="29" name="Text 27"/>
          <p:cNvSpPr/>
          <p:nvPr/>
        </p:nvSpPr>
        <p:spPr>
          <a:xfrm>
            <a:off x="5897880" y="4352544"/>
            <a:ext cx="2194560" cy="411480"/>
          </a:xfrm>
          <a:prstGeom prst="rect">
            <a:avLst/>
          </a:prstGeom>
          <a:noFill/>
          <a:ln/>
        </p:spPr>
        <p:txBody>
          <a:bodyPr wrap="square" lIns="0" tIns="0" rIns="0" bIns="0" rtlCol="0" anchor="ctr"/>
          <a:lstStyle/>
          <a:p>
            <a:pPr marL="0" indent="0">
              <a:buNone/>
            </a:pPr>
            <a:r>
              <a:rPr lang="en-US" sz="1500" dirty="0">
                <a:solidFill>
                  <a:srgbClr val="E2E8F0"/>
                </a:solidFill>
              </a:rPr>
              <a:t>Platform-specific iOS feel</a:t>
            </a:r>
            <a:endParaRPr lang="en-US" sz="1500" dirty="0"/>
          </a:p>
        </p:txBody>
      </p:sp>
      <p:sp>
        <p:nvSpPr>
          <p:cNvPr id="30" name="Text 28"/>
          <p:cNvSpPr/>
          <p:nvPr/>
        </p:nvSpPr>
        <p:spPr>
          <a:xfrm>
            <a:off x="8549640" y="4352544"/>
            <a:ext cx="2194560" cy="411480"/>
          </a:xfrm>
          <a:prstGeom prst="rect">
            <a:avLst/>
          </a:prstGeom>
          <a:noFill/>
          <a:ln/>
        </p:spPr>
        <p:txBody>
          <a:bodyPr wrap="square" lIns="0" tIns="0" rIns="0" bIns="0" rtlCol="0" anchor="ctr"/>
          <a:lstStyle/>
          <a:p>
            <a:pPr marL="0" indent="0">
              <a:buNone/>
            </a:pPr>
            <a:r>
              <a:rPr lang="en-US" sz="1500" dirty="0">
                <a:solidFill>
                  <a:srgbClr val="E2E8F0"/>
                </a:solidFill>
              </a:rPr>
              <a:t>Heavy custom behavior</a:t>
            </a:r>
            <a:endParaRPr lang="en-US" sz="1500" dirty="0"/>
          </a:p>
        </p:txBody>
      </p:sp>
      <p:sp>
        <p:nvSpPr>
          <p:cNvPr id="31" name="Shape 29"/>
          <p:cNvSpPr/>
          <p:nvPr/>
        </p:nvSpPr>
        <p:spPr>
          <a:xfrm>
            <a:off x="868680" y="4855464"/>
            <a:ext cx="9966960" cy="0"/>
          </a:xfrm>
          <a:prstGeom prst="line">
            <a:avLst/>
          </a:prstGeom>
          <a:noFill/>
          <a:ln w="12700">
            <a:solidFill>
              <a:srgbClr val="334155"/>
            </a:solidFill>
            <a:prstDash val="solid"/>
          </a:ln>
        </p:spPr>
      </p:sp>
      <p:sp>
        <p:nvSpPr>
          <p:cNvPr id="32" name="Text 30"/>
          <p:cNvSpPr/>
          <p:nvPr/>
        </p:nvSpPr>
        <p:spPr>
          <a:xfrm>
            <a:off x="749808" y="5943600"/>
            <a:ext cx="10972800" cy="411480"/>
          </a:xfrm>
          <a:prstGeom prst="rect">
            <a:avLst/>
          </a:prstGeom>
          <a:noFill/>
          <a:ln/>
        </p:spPr>
        <p:txBody>
          <a:bodyPr wrap="square" lIns="0" tIns="0" rIns="0" bIns="0" rtlCol="0" anchor="ctr"/>
          <a:lstStyle/>
          <a:p>
            <a:pPr marL="0" indent="0">
              <a:buNone/>
            </a:pPr>
            <a:r>
              <a:rPr lang="en-US" sz="1400" i="1" dirty="0">
                <a:solidFill>
                  <a:srgbClr val="CBD5E1"/>
                </a:solidFill>
              </a:rPr>
              <a:t>The book explicitly notes that most community projects use MaterialApp, because conditional platform-specific rendering often defeats the simplicity of cross-platform development.</a:t>
            </a:r>
            <a:endParaRPr lang="en-US" sz="1400" dirty="0"/>
          </a:p>
        </p:txBody>
      </p:sp>
      <p:sp>
        <p:nvSpPr>
          <p:cNvPr id="33" name="Text 31"/>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What MaterialApp actually does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100" dirty="0">
                <a:solidFill>
                  <a:srgbClr val="CBD5E1"/>
                </a:solidFill>
              </a:rPr>
              <a:t>Outer invisible framework for the entire application</a:t>
            </a:r>
            <a:endParaRPr lang="en-US" sz="1100" dirty="0"/>
          </a:p>
        </p:txBody>
      </p:sp>
      <p:sp>
        <p:nvSpPr>
          <p:cNvPr id="7" name="Text 5"/>
          <p:cNvSpPr/>
          <p:nvPr/>
        </p:nvSpPr>
        <p:spPr>
          <a:xfrm>
            <a:off x="658368" y="1234440"/>
            <a:ext cx="5577840" cy="4114800"/>
          </a:xfrm>
          <a:prstGeom prst="rect">
            <a:avLst/>
          </a:prstGeom>
          <a:noFill/>
          <a:ln/>
        </p:spPr>
        <p:txBody>
          <a:bodyPr wrap="square" lIns="508" tIns="508" rIns="508" bIns="508" rtlCol="0" anchor="t">
            <a:normAutofit/>
          </a:bodyPr>
          <a:lstStyle/>
          <a:p>
            <a:pPr marL="205740" indent="-205740">
              <a:buSzPct val="100000"/>
              <a:buChar char="•"/>
            </a:pPr>
            <a:r>
              <a:rPr lang="en-US" dirty="0">
                <a:solidFill>
                  <a:srgbClr val="E2E8F0"/>
                </a:solidFill>
              </a:rPr>
              <a:t>Wraps the whole app so the operating system sees it as one coherent application.</a:t>
            </a:r>
            <a:endParaRPr lang="en-US" dirty="0"/>
          </a:p>
          <a:p>
            <a:pPr marL="205740" indent="-205740">
              <a:buSzPct val="100000"/>
              <a:buChar char="•"/>
            </a:pPr>
            <a:r>
              <a:rPr lang="en-US" dirty="0">
                <a:solidFill>
                  <a:srgbClr val="E2E8F0"/>
                </a:solidFill>
              </a:rPr>
              <a:t>Provides the place to set app title, default theme, and routes.</a:t>
            </a:r>
            <a:endParaRPr lang="en-US" dirty="0"/>
          </a:p>
          <a:p>
            <a:pPr marL="205740" indent="-205740">
              <a:buSzPct val="100000"/>
              <a:buChar char="•"/>
            </a:pPr>
            <a:r>
              <a:rPr lang="en-US" dirty="0">
                <a:solidFill>
                  <a:srgbClr val="E2E8F0"/>
                </a:solidFill>
              </a:rPr>
              <a:t>Defines the visual baseline for Material-style widgets.</a:t>
            </a:r>
            <a:endParaRPr lang="en-US" dirty="0"/>
          </a:p>
          <a:p>
            <a:pPr marL="205740" indent="-205740">
              <a:buSzPct val="100000"/>
              <a:buChar char="•"/>
            </a:pPr>
            <a:r>
              <a:rPr lang="en-US" dirty="0">
                <a:solidFill>
                  <a:srgbClr val="E2E8F0"/>
                </a:solidFill>
              </a:rPr>
              <a:t>Is usually the root of the render tree that later passes constraints down to the rest of the UI.</a:t>
            </a:r>
            <a:endParaRPr lang="en-US" dirty="0"/>
          </a:p>
        </p:txBody>
      </p:sp>
      <p:sp>
        <p:nvSpPr>
          <p:cNvPr id="8" name="Shape 6"/>
          <p:cNvSpPr/>
          <p:nvPr/>
        </p:nvSpPr>
        <p:spPr>
          <a:xfrm>
            <a:off x="6537960" y="1234440"/>
            <a:ext cx="5029200" cy="2834640"/>
          </a:xfrm>
          <a:prstGeom prst="roundRect">
            <a:avLst>
              <a:gd name="adj" fmla="val 2258"/>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9" name="Text 7"/>
          <p:cNvSpPr/>
          <p:nvPr/>
        </p:nvSpPr>
        <p:spPr>
          <a:xfrm>
            <a:off x="6684264" y="1307592"/>
            <a:ext cx="4736592" cy="164592"/>
          </a:xfrm>
          <a:prstGeom prst="rect">
            <a:avLst/>
          </a:prstGeom>
          <a:noFill/>
          <a:ln/>
        </p:spPr>
        <p:txBody>
          <a:bodyPr wrap="square" lIns="0" tIns="0" rIns="0" bIns="0" rtlCol="0" anchor="ctr"/>
          <a:lstStyle/>
          <a:p>
            <a:pPr marL="0" indent="0">
              <a:buNone/>
            </a:pPr>
            <a:r>
              <a:rPr lang="en-US" sz="1100" b="1" dirty="0">
                <a:solidFill>
                  <a:srgbClr val="93C5FD"/>
                </a:solidFill>
              </a:rPr>
              <a:t>Book-style root app example</a:t>
            </a:r>
            <a:endParaRPr lang="en-US" sz="1100" dirty="0"/>
          </a:p>
        </p:txBody>
      </p:sp>
      <p:sp>
        <p:nvSpPr>
          <p:cNvPr id="10" name="Text 8"/>
          <p:cNvSpPr/>
          <p:nvPr/>
        </p:nvSpPr>
        <p:spPr>
          <a:xfrm>
            <a:off x="6665976" y="1536192"/>
            <a:ext cx="4773168" cy="2450592"/>
          </a:xfrm>
          <a:prstGeom prst="rect">
            <a:avLst/>
          </a:prstGeom>
          <a:noFill/>
          <a:ln/>
        </p:spPr>
        <p:txBody>
          <a:bodyPr wrap="square" lIns="254" tIns="254" rIns="254" bIns="25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MaterialApp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home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MainWidget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title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'My Cool App'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theme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_themeDefinedElsewhere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routes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'/scene1'</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ctx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MyWidget1</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'/scene2'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ctx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MyWidget2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debugShowCheckedModeBanner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8F8F2"/>
                </a:solidFill>
                <a:latin typeface="Consolas" pitchFamily="34" charset="0"/>
                <a:ea typeface="Consolas" pitchFamily="34" charset="-122"/>
                <a:cs typeface="Consolas" pitchFamily="34" charset="-120"/>
              </a:rPr>
              <a:t>);</a:t>
            </a:r>
            <a:endParaRPr lang="en-US" sz="1100" dirty="0"/>
          </a:p>
        </p:txBody>
      </p:sp>
      <p:sp>
        <p:nvSpPr>
          <p:cNvPr id="11" name="Shape 9"/>
          <p:cNvSpPr/>
          <p:nvPr/>
        </p:nvSpPr>
        <p:spPr>
          <a:xfrm>
            <a:off x="6766560" y="4251960"/>
            <a:ext cx="4572000" cy="1783080"/>
          </a:xfrm>
          <a:prstGeom prst="roundRect">
            <a:avLst>
              <a:gd name="adj" fmla="val 4103"/>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12" name="Image 0" descr="/mnt/data/ch11_12_assets/page-203.png"/>
          <p:cNvPicPr>
            <a:picLocks noChangeAspect="1"/>
          </p:cNvPicPr>
          <p:nvPr/>
        </p:nvPicPr>
        <p:blipFill>
          <a:blip r:embed="rId3"/>
          <a:stretch>
            <a:fillRect/>
          </a:stretch>
        </p:blipFill>
        <p:spPr>
          <a:xfrm>
            <a:off x="8512471" y="4325112"/>
            <a:ext cx="1080178" cy="1636776"/>
          </a:xfrm>
          <a:prstGeom prst="rect">
            <a:avLst/>
          </a:prstGeom>
        </p:spPr>
      </p:pic>
      <p:sp>
        <p:nvSpPr>
          <p:cNvPr id="13"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Scaffold: the visible framework of a scene</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100" dirty="0">
                <a:solidFill>
                  <a:srgbClr val="CBD5E1"/>
                </a:solidFill>
              </a:rPr>
              <a:t>Think of it as the standard shell for one screen</a:t>
            </a:r>
            <a:endParaRPr lang="en-US" sz="1100" dirty="0"/>
          </a:p>
        </p:txBody>
      </p:sp>
      <p:sp>
        <p:nvSpPr>
          <p:cNvPr id="7" name="Shape 5"/>
          <p:cNvSpPr/>
          <p:nvPr/>
        </p:nvSpPr>
        <p:spPr>
          <a:xfrm>
            <a:off x="640080" y="1234440"/>
            <a:ext cx="4663440" cy="4846320"/>
          </a:xfrm>
          <a:prstGeom prst="roundRect">
            <a:avLst>
              <a:gd name="adj" fmla="val 1176"/>
            </a:avLst>
          </a:prstGeom>
          <a:solidFill>
            <a:srgbClr val="0B1220"/>
          </a:solidFill>
          <a:ln w="12700">
            <a:solidFill>
              <a:srgbClr val="1E293B"/>
            </a:solidFill>
            <a:prstDash val="solid"/>
          </a:ln>
        </p:spPr>
      </p:sp>
      <p:sp>
        <p:nvSpPr>
          <p:cNvPr id="8" name="Text 6"/>
          <p:cNvSpPr/>
          <p:nvPr/>
        </p:nvSpPr>
        <p:spPr>
          <a:xfrm>
            <a:off x="868680" y="1444752"/>
            <a:ext cx="2286000" cy="228600"/>
          </a:xfrm>
          <a:prstGeom prst="rect">
            <a:avLst/>
          </a:prstGeom>
          <a:noFill/>
          <a:ln/>
        </p:spPr>
        <p:txBody>
          <a:bodyPr wrap="square" lIns="0" tIns="0" rIns="0" bIns="0" rtlCol="0" anchor="ctr"/>
          <a:lstStyle/>
          <a:p>
            <a:pPr marL="0" indent="0">
              <a:buNone/>
            </a:pPr>
            <a:r>
              <a:rPr lang="en-US" sz="1800" b="1" dirty="0">
                <a:solidFill>
                  <a:srgbClr val="F8FAFC"/>
                </a:solidFill>
              </a:rPr>
              <a:t>Scaffold can provide</a:t>
            </a:r>
            <a:endParaRPr lang="en-US" sz="1800" dirty="0"/>
          </a:p>
        </p:txBody>
      </p:sp>
      <p:sp>
        <p:nvSpPr>
          <p:cNvPr id="9" name="Text 7"/>
          <p:cNvSpPr/>
          <p:nvPr/>
        </p:nvSpPr>
        <p:spPr>
          <a:xfrm>
            <a:off x="841248" y="1783080"/>
            <a:ext cx="3931920" cy="3017520"/>
          </a:xfrm>
          <a:prstGeom prst="rect">
            <a:avLst/>
          </a:prstGeom>
          <a:noFill/>
          <a:ln/>
        </p:spPr>
        <p:txBody>
          <a:bodyPr wrap="square" lIns="508" tIns="508" rIns="508" bIns="508" rtlCol="0" anchor="t">
            <a:normAutofit/>
          </a:bodyPr>
          <a:lstStyle/>
          <a:p>
            <a:pPr marL="194310" indent="-194310">
              <a:buSzPct val="100000"/>
              <a:buChar char="•"/>
            </a:pPr>
            <a:r>
              <a:rPr lang="en-US" sz="1700" dirty="0">
                <a:solidFill>
                  <a:srgbClr val="E2E8F0"/>
                </a:solidFill>
              </a:rPr>
              <a:t>AppBar for title and actions</a:t>
            </a:r>
            <a:endParaRPr lang="en-US" sz="1700" dirty="0"/>
          </a:p>
          <a:p>
            <a:pPr marL="194310" indent="-194310">
              <a:buSzPct val="100000"/>
              <a:buChar char="•"/>
            </a:pPr>
            <a:r>
              <a:rPr lang="en-US" sz="1700" dirty="0">
                <a:solidFill>
                  <a:srgbClr val="E2E8F0"/>
                </a:solidFill>
              </a:rPr>
              <a:t>Body area for actual content</a:t>
            </a:r>
            <a:endParaRPr lang="en-US" sz="1700" dirty="0"/>
          </a:p>
          <a:p>
            <a:pPr marL="194310" indent="-194310">
              <a:buSzPct val="100000"/>
              <a:buChar char="•"/>
            </a:pPr>
            <a:r>
              <a:rPr lang="en-US" sz="1700" dirty="0">
                <a:solidFill>
                  <a:srgbClr val="E2E8F0"/>
                </a:solidFill>
              </a:rPr>
              <a:t>Navigation drawer or bottom navigation</a:t>
            </a:r>
            <a:endParaRPr lang="en-US" sz="1700" dirty="0"/>
          </a:p>
          <a:p>
            <a:pPr marL="194310" indent="-194310">
              <a:buSzPct val="100000"/>
              <a:buChar char="•"/>
            </a:pPr>
            <a:r>
              <a:rPr lang="en-US" sz="1700" dirty="0">
                <a:solidFill>
                  <a:srgbClr val="E2E8F0"/>
                </a:solidFill>
              </a:rPr>
              <a:t>FloatingActionButton for prominent actions</a:t>
            </a:r>
            <a:endParaRPr lang="en-US" sz="1700" dirty="0"/>
          </a:p>
          <a:p>
            <a:pPr marL="194310" indent="-194310">
              <a:buSzPct val="100000"/>
              <a:buChar char="•"/>
            </a:pPr>
            <a:r>
              <a:rPr lang="en-US" sz="1700" dirty="0">
                <a:solidFill>
                  <a:srgbClr val="E2E8F0"/>
                </a:solidFill>
              </a:rPr>
              <a:t>Bottom sheet for contextual content</a:t>
            </a:r>
            <a:endParaRPr lang="en-US" sz="1700" dirty="0"/>
          </a:p>
        </p:txBody>
      </p:sp>
      <p:sp>
        <p:nvSpPr>
          <p:cNvPr id="10" name="Shape 8"/>
          <p:cNvSpPr/>
          <p:nvPr/>
        </p:nvSpPr>
        <p:spPr>
          <a:xfrm>
            <a:off x="5532120" y="1325880"/>
            <a:ext cx="3108960" cy="4480560"/>
          </a:xfrm>
          <a:prstGeom prst="roundRect">
            <a:avLst>
              <a:gd name="adj" fmla="val 2059"/>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11" name="Text 9"/>
          <p:cNvSpPr/>
          <p:nvPr/>
        </p:nvSpPr>
        <p:spPr>
          <a:xfrm>
            <a:off x="5678424" y="1399032"/>
            <a:ext cx="2816352" cy="164592"/>
          </a:xfrm>
          <a:prstGeom prst="rect">
            <a:avLst/>
          </a:prstGeom>
          <a:noFill/>
          <a:ln/>
        </p:spPr>
        <p:txBody>
          <a:bodyPr wrap="square" lIns="0" tIns="0" rIns="0" bIns="0" rtlCol="0" anchor="ctr"/>
          <a:lstStyle/>
          <a:p>
            <a:pPr marL="0" indent="0">
              <a:buNone/>
            </a:pPr>
            <a:r>
              <a:rPr lang="en-US" sz="1100" b="1" dirty="0">
                <a:solidFill>
                  <a:srgbClr val="93C5FD"/>
                </a:solidFill>
              </a:rPr>
              <a:t>Scaffold pattern</a:t>
            </a:r>
            <a:endParaRPr lang="en-US" sz="1100" dirty="0"/>
          </a:p>
        </p:txBody>
      </p:sp>
      <p:sp>
        <p:nvSpPr>
          <p:cNvPr id="12" name="Text 10"/>
          <p:cNvSpPr/>
          <p:nvPr/>
        </p:nvSpPr>
        <p:spPr>
          <a:xfrm>
            <a:off x="5660136" y="1627632"/>
            <a:ext cx="2852928" cy="4096512"/>
          </a:xfrm>
          <a:prstGeom prst="rect">
            <a:avLst/>
          </a:prstGeom>
          <a:noFill/>
          <a:ln/>
        </p:spPr>
        <p:txBody>
          <a:bodyPr wrap="square" lIns="254" tIns="254" rIns="254" bIns="25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Scaffold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appBar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MyAppBar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drawer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MyNavigationDrawer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body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TheRealContent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floatingActionButton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FloatingActionButton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onPressed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const</a:t>
            </a:r>
            <a:r>
              <a:rPr lang="en-US" sz="1400" dirty="0">
                <a:solidFill>
                  <a:srgbClr val="FFFFFF"/>
                </a:solidFill>
                <a:latin typeface="Consolas" pitchFamily="34" charset="0"/>
                <a:ea typeface="Consolas" pitchFamily="34" charset="-122"/>
                <a:cs typeface="Consolas" pitchFamily="34" charset="-120"/>
              </a:rPr>
              <a:t> Icon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Icons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add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bottomSheet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MyBottomSheet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8F8F2"/>
                </a:solidFill>
                <a:latin typeface="Consolas" pitchFamily="34" charset="0"/>
                <a:ea typeface="Consolas" pitchFamily="34" charset="-122"/>
                <a:cs typeface="Consolas" pitchFamily="34" charset="-120"/>
              </a:rPr>
              <a:t>);</a:t>
            </a:r>
            <a:endParaRPr lang="en-US" sz="1100" dirty="0"/>
          </a:p>
        </p:txBody>
      </p:sp>
      <p:sp>
        <p:nvSpPr>
          <p:cNvPr id="13" name="Shape 11"/>
          <p:cNvSpPr/>
          <p:nvPr/>
        </p:nvSpPr>
        <p:spPr>
          <a:xfrm>
            <a:off x="8869680" y="1417320"/>
            <a:ext cx="2286000" cy="4572000"/>
          </a:xfrm>
          <a:prstGeom prst="roundRect">
            <a:avLst>
              <a:gd name="adj" fmla="val 3200"/>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14" name="Image 0" descr="/mnt/data/ch11_12_assets/page-203.png"/>
          <p:cNvPicPr>
            <a:picLocks noChangeAspect="1"/>
          </p:cNvPicPr>
          <p:nvPr/>
        </p:nvPicPr>
        <p:blipFill>
          <a:blip r:embed="rId3"/>
          <a:stretch>
            <a:fillRect/>
          </a:stretch>
        </p:blipFill>
        <p:spPr>
          <a:xfrm>
            <a:off x="8942832" y="2082197"/>
            <a:ext cx="2139696" cy="3242247"/>
          </a:xfrm>
          <a:prstGeom prst="rect">
            <a:avLst/>
          </a:prstGeom>
        </p:spPr>
      </p:pic>
      <p:sp>
        <p:nvSpPr>
          <p:cNvPr id="15" name="Text 12"/>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dirty="0"/>
          </a:p>
        </p:txBody>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AppBar and the “leading” slot</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Tiny details that shape the user's sense of structure</a:t>
            </a:r>
            <a:endParaRPr lang="en-US" sz="1400" dirty="0"/>
          </a:p>
        </p:txBody>
      </p:sp>
      <p:sp>
        <p:nvSpPr>
          <p:cNvPr id="7" name="Text 5"/>
          <p:cNvSpPr/>
          <p:nvPr/>
        </p:nvSpPr>
        <p:spPr>
          <a:xfrm>
            <a:off x="713232" y="1234440"/>
            <a:ext cx="5943600" cy="4206240"/>
          </a:xfrm>
          <a:prstGeom prst="rect">
            <a:avLst/>
          </a:prstGeom>
          <a:noFill/>
          <a:ln/>
        </p:spPr>
        <p:txBody>
          <a:bodyPr wrap="square" lIns="508" tIns="508" rIns="508" bIns="508" rtlCol="0" anchor="t">
            <a:normAutofit/>
          </a:bodyPr>
          <a:lstStyle/>
          <a:p>
            <a:pPr marL="194310" indent="-194310">
              <a:buSzPct val="100000"/>
              <a:buChar char="•"/>
            </a:pPr>
            <a:r>
              <a:rPr lang="en-US" sz="1700" dirty="0">
                <a:solidFill>
                  <a:srgbClr val="E2E8F0"/>
                </a:solidFill>
              </a:rPr>
              <a:t>For most non-game apps, users expect a visible AppBar.</a:t>
            </a:r>
            <a:endParaRPr lang="en-US" sz="1700" dirty="0"/>
          </a:p>
          <a:p>
            <a:pPr marL="194310" indent="-194310">
              <a:buSzPct val="100000"/>
              <a:buChar char="•"/>
            </a:pPr>
            <a:r>
              <a:rPr lang="en-US" sz="1700" dirty="0">
                <a:solidFill>
                  <a:srgbClr val="E2E8F0"/>
                </a:solidFill>
              </a:rPr>
              <a:t>The title tells users where they are in the app.</a:t>
            </a:r>
            <a:endParaRPr lang="en-US" sz="1700" dirty="0"/>
          </a:p>
          <a:p>
            <a:pPr marL="194310" indent="-194310">
              <a:buSzPct val="100000"/>
              <a:buChar char="•"/>
            </a:pPr>
            <a:r>
              <a:rPr lang="en-US" sz="1700" dirty="0">
                <a:solidFill>
                  <a:srgbClr val="E2E8F0"/>
                </a:solidFill>
              </a:rPr>
              <a:t>The leading property usually holds a back icon, custom icon, or—when a drawer exists—the hamburger menu.</a:t>
            </a:r>
            <a:endParaRPr lang="en-US" sz="1700" dirty="0"/>
          </a:p>
          <a:p>
            <a:pPr marL="194310" indent="-194310">
              <a:buSzPct val="100000"/>
              <a:buChar char="•"/>
            </a:pPr>
            <a:r>
              <a:rPr lang="en-US" sz="1700" dirty="0">
                <a:solidFill>
                  <a:srgbClr val="E2E8F0"/>
                </a:solidFill>
              </a:rPr>
              <a:t>The book notes that if you have a drawer, omitting a custom leading icon lets the scaffold present the drawer affordance naturally.</a:t>
            </a:r>
            <a:endParaRPr lang="en-US" sz="1700" dirty="0"/>
          </a:p>
        </p:txBody>
      </p:sp>
      <p:sp>
        <p:nvSpPr>
          <p:cNvPr id="8" name="Shape 6"/>
          <p:cNvSpPr/>
          <p:nvPr/>
        </p:nvSpPr>
        <p:spPr>
          <a:xfrm>
            <a:off x="713233" y="3938374"/>
            <a:ext cx="4483608" cy="2311549"/>
          </a:xfrm>
          <a:prstGeom prst="roundRect">
            <a:avLst>
              <a:gd name="adj" fmla="val 11290"/>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txBody>
          <a:bodyPr/>
          <a:lstStyle/>
          <a:p>
            <a:r>
              <a:rPr lang="en-US" dirty="0">
                <a:solidFill>
                  <a:srgbClr val="8292A2"/>
                </a:solidFill>
                <a:latin typeface="Consolas" pitchFamily="34" charset="0"/>
                <a:ea typeface="Consolas" pitchFamily="34" charset="-122"/>
                <a:cs typeface="Consolas" pitchFamily="34" charset="-120"/>
              </a:rPr>
              <a:t>1 </a:t>
            </a:r>
            <a:r>
              <a:rPr lang="en-US" dirty="0" err="1">
                <a:solidFill>
                  <a:srgbClr val="FFFFFF"/>
                </a:solidFill>
                <a:latin typeface="Consolas" pitchFamily="34" charset="0"/>
                <a:ea typeface="Consolas" pitchFamily="34" charset="-122"/>
                <a:cs typeface="Consolas" pitchFamily="34" charset="-120"/>
              </a:rPr>
              <a:t>appBar</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err="1">
                <a:solidFill>
                  <a:srgbClr val="FFFFFF"/>
                </a:solidFill>
                <a:latin typeface="Consolas" pitchFamily="34" charset="0"/>
                <a:ea typeface="Consolas" pitchFamily="34" charset="-122"/>
                <a:cs typeface="Consolas" pitchFamily="34" charset="-120"/>
              </a:rPr>
              <a:t>AppBar</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2 </a:t>
            </a:r>
            <a:r>
              <a:rPr lang="en-US" dirty="0">
                <a:solidFill>
                  <a:srgbClr val="FFFFFF"/>
                </a:solidFill>
                <a:latin typeface="Consolas" pitchFamily="34" charset="0"/>
                <a:ea typeface="Consolas" pitchFamily="34" charset="-122"/>
                <a:cs typeface="Consolas" pitchFamily="34" charset="-120"/>
              </a:rPr>
              <a:t>  leading</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Icon</a:t>
            </a:r>
            <a:r>
              <a:rPr lang="en-US" dirty="0">
                <a:solidFill>
                  <a:srgbClr val="F8F8F2"/>
                </a:solidFill>
                <a:latin typeface="Consolas" pitchFamily="34" charset="0"/>
                <a:ea typeface="Consolas" pitchFamily="34" charset="-122"/>
                <a:cs typeface="Consolas" pitchFamily="34" charset="-120"/>
              </a:rPr>
              <a:t>(</a:t>
            </a:r>
            <a:r>
              <a:rPr lang="en-US" dirty="0" err="1">
                <a:solidFill>
                  <a:srgbClr val="FFFFFF"/>
                </a:solidFill>
                <a:latin typeface="Consolas" pitchFamily="34" charset="0"/>
                <a:ea typeface="Consolas" pitchFamily="34" charset="-122"/>
                <a:cs typeface="Consolas" pitchFamily="34" charset="-120"/>
              </a:rPr>
              <a:t>Icons</a:t>
            </a:r>
            <a:r>
              <a:rPr lang="en-US" dirty="0" err="1">
                <a:solidFill>
                  <a:srgbClr val="F8F8F2"/>
                </a:solidFill>
                <a:latin typeface="Consolas" pitchFamily="34" charset="0"/>
                <a:ea typeface="Consolas" pitchFamily="34" charset="-122"/>
                <a:cs typeface="Consolas" pitchFamily="34" charset="-120"/>
              </a:rPr>
              <a:t>.</a:t>
            </a:r>
            <a:r>
              <a:rPr lang="en-US" dirty="0" err="1">
                <a:solidFill>
                  <a:srgbClr val="FFFFFF"/>
                </a:solidFill>
                <a:latin typeface="Consolas" pitchFamily="34" charset="0"/>
                <a:ea typeface="Consolas" pitchFamily="34" charset="-122"/>
                <a:cs typeface="Consolas" pitchFamily="34" charset="-120"/>
              </a:rPr>
              <a:t>traffic</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3 </a:t>
            </a:r>
            <a:r>
              <a:rPr lang="en-US" dirty="0">
                <a:solidFill>
                  <a:srgbClr val="FFFFFF"/>
                </a:solidFill>
                <a:latin typeface="Consolas" pitchFamily="34" charset="0"/>
                <a:ea typeface="Consolas" pitchFamily="34" charset="-122"/>
                <a:cs typeface="Consolas" pitchFamily="34" charset="-120"/>
              </a:rPr>
              <a:t>  title</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Text</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'My Cool App'</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4 </a:t>
            </a:r>
            <a:r>
              <a:rPr lang="en-US" dirty="0">
                <a:solidFill>
                  <a:srgbClr val="F8F8F2"/>
                </a:solidFill>
                <a:latin typeface="Consolas" pitchFamily="34" charset="0"/>
                <a:ea typeface="Consolas" pitchFamily="34" charset="-122"/>
                <a:cs typeface="Consolas" pitchFamily="34" charset="-120"/>
              </a:rPr>
              <a:t>),</a:t>
            </a:r>
            <a:endParaRPr lang="en-US" dirty="0"/>
          </a:p>
          <a:p>
            <a:endParaRPr lang="en-US" dirty="0"/>
          </a:p>
        </p:txBody>
      </p:sp>
      <p:sp>
        <p:nvSpPr>
          <p:cNvPr id="9" name="Text 7"/>
          <p:cNvSpPr/>
          <p:nvPr/>
        </p:nvSpPr>
        <p:spPr>
          <a:xfrm>
            <a:off x="950975" y="3293811"/>
            <a:ext cx="3710671" cy="434251"/>
          </a:xfrm>
          <a:prstGeom prst="rect">
            <a:avLst/>
          </a:prstGeom>
          <a:noFill/>
          <a:ln/>
        </p:spPr>
        <p:txBody>
          <a:bodyPr wrap="square" lIns="0" tIns="0" rIns="0" bIns="0" rtlCol="0" anchor="ctr"/>
          <a:lstStyle/>
          <a:p>
            <a:pPr marL="0" indent="0">
              <a:buNone/>
            </a:pPr>
            <a:r>
              <a:rPr lang="en-US" sz="1600" b="1" dirty="0">
                <a:solidFill>
                  <a:srgbClr val="93C5FD"/>
                </a:solidFill>
              </a:rPr>
              <a:t>Minimal AppBar</a:t>
            </a:r>
            <a:endParaRPr lang="en-US" sz="1600" dirty="0"/>
          </a:p>
        </p:txBody>
      </p:sp>
      <p:sp>
        <p:nvSpPr>
          <p:cNvPr id="10" name="Text 8"/>
          <p:cNvSpPr/>
          <p:nvPr/>
        </p:nvSpPr>
        <p:spPr>
          <a:xfrm>
            <a:off x="950976" y="5788152"/>
            <a:ext cx="3401568" cy="182880"/>
          </a:xfrm>
          <a:prstGeom prst="rect">
            <a:avLst/>
          </a:prstGeom>
          <a:noFill/>
          <a:ln/>
        </p:spPr>
        <p:txBody>
          <a:bodyPr wrap="square" lIns="254" tIns="254" rIns="254" bIns="254" rtlCol="0" anchor="ctr">
            <a:noAutofit/>
          </a:bodyPr>
          <a:lstStyle/>
          <a:p>
            <a:pPr marL="0" indent="0">
              <a:buNone/>
            </a:pPr>
            <a:endParaRPr lang="en-US" dirty="0"/>
          </a:p>
        </p:txBody>
      </p:sp>
      <p:sp>
        <p:nvSpPr>
          <p:cNvPr id="11" name="Shape 9"/>
          <p:cNvSpPr/>
          <p:nvPr/>
        </p:nvSpPr>
        <p:spPr>
          <a:xfrm>
            <a:off x="6995160" y="1143000"/>
            <a:ext cx="4526280" cy="5303520"/>
          </a:xfrm>
          <a:prstGeom prst="roundRect">
            <a:avLst>
              <a:gd name="adj" fmla="val 1616"/>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12" name="Image 0" descr="/mnt/data/ch11_12_assets/page-206.png"/>
          <p:cNvPicPr>
            <a:picLocks noChangeAspect="1"/>
          </p:cNvPicPr>
          <p:nvPr/>
        </p:nvPicPr>
        <p:blipFill>
          <a:blip r:embed="rId3"/>
          <a:stretch>
            <a:fillRect/>
          </a:stretch>
        </p:blipFill>
        <p:spPr>
          <a:xfrm>
            <a:off x="7556567" y="1216152"/>
            <a:ext cx="3403465" cy="5157216"/>
          </a:xfrm>
          <a:prstGeom prst="rect">
            <a:avLst/>
          </a:prstGeom>
        </p:spPr>
      </p:pic>
      <p:sp>
        <p:nvSpPr>
          <p:cNvPr id="13"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dirty="0"/>
          </a:p>
        </p:txBody>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SafeArea: protect content from notches and status bars</a:t>
            </a:r>
            <a:endParaRPr lang="en-US" sz="2800" dirty="0"/>
          </a:p>
        </p:txBody>
      </p:sp>
      <p:sp>
        <p:nvSpPr>
          <p:cNvPr id="6" name="Text 4"/>
          <p:cNvSpPr/>
          <p:nvPr/>
        </p:nvSpPr>
        <p:spPr>
          <a:xfrm>
            <a:off x="530352" y="982172"/>
            <a:ext cx="5760720" cy="206548"/>
          </a:xfrm>
          <a:prstGeom prst="rect">
            <a:avLst/>
          </a:prstGeom>
          <a:noFill/>
          <a:ln/>
        </p:spPr>
        <p:txBody>
          <a:bodyPr wrap="square" lIns="0" tIns="0" rIns="0" bIns="0" rtlCol="0" anchor="ctr"/>
          <a:lstStyle/>
          <a:p>
            <a:pPr marL="0" indent="0">
              <a:buNone/>
            </a:pPr>
            <a:r>
              <a:rPr lang="en-US" sz="1400" dirty="0">
                <a:solidFill>
                  <a:srgbClr val="CBD5E1"/>
                </a:solidFill>
              </a:rPr>
              <a:t>Physical screens are not perfect rectangles</a:t>
            </a:r>
            <a:endParaRPr lang="en-US" sz="1400" dirty="0"/>
          </a:p>
        </p:txBody>
      </p:sp>
      <p:sp>
        <p:nvSpPr>
          <p:cNvPr id="7" name="Text 5"/>
          <p:cNvSpPr/>
          <p:nvPr/>
        </p:nvSpPr>
        <p:spPr>
          <a:xfrm>
            <a:off x="731520" y="1325880"/>
            <a:ext cx="5760720" cy="3383280"/>
          </a:xfrm>
          <a:prstGeom prst="rect">
            <a:avLst/>
          </a:prstGeom>
          <a:noFill/>
          <a:ln/>
        </p:spPr>
        <p:txBody>
          <a:bodyPr wrap="square" lIns="508" tIns="508" rIns="508" bIns="508" rtlCol="0" anchor="t">
            <a:normAutofit/>
          </a:bodyPr>
          <a:lstStyle/>
          <a:p>
            <a:pPr marL="205740" indent="-205740">
              <a:buSzPct val="100000"/>
              <a:buChar char="•"/>
            </a:pPr>
            <a:r>
              <a:rPr lang="en-US" sz="1800" dirty="0">
                <a:solidFill>
                  <a:srgbClr val="E2E8F0"/>
                </a:solidFill>
              </a:rPr>
              <a:t>Rounded corners, camera cutouts, and system status bars can overlap your body content if you ignore them.</a:t>
            </a:r>
            <a:endParaRPr lang="en-US" sz="1800" dirty="0"/>
          </a:p>
          <a:p>
            <a:pPr marL="205740" indent="-205740">
              <a:buSzPct val="100000"/>
              <a:buChar char="•"/>
            </a:pPr>
            <a:r>
              <a:rPr lang="en-US" sz="1800" dirty="0">
                <a:solidFill>
                  <a:srgbClr val="E2E8F0"/>
                </a:solidFill>
              </a:rPr>
              <a:t>SafeArea adds padding based on the device's unsafe regions, so the body stays visible and tappable.</a:t>
            </a:r>
            <a:endParaRPr lang="en-US" sz="1800" dirty="0"/>
          </a:p>
          <a:p>
            <a:pPr marL="205740" indent="-205740">
              <a:buSzPct val="100000"/>
              <a:buChar char="•"/>
            </a:pPr>
            <a:r>
              <a:rPr lang="en-US" sz="1800" dirty="0">
                <a:solidFill>
                  <a:srgbClr val="E2E8F0"/>
                </a:solidFill>
              </a:rPr>
              <a:t>The recommended pattern in the chapter is Scaffold → body → SafeArea → actual scene body.</a:t>
            </a:r>
            <a:endParaRPr lang="en-US" sz="1800" dirty="0"/>
          </a:p>
        </p:txBody>
      </p:sp>
      <p:sp>
        <p:nvSpPr>
          <p:cNvPr id="8" name="Shape 6"/>
          <p:cNvSpPr/>
          <p:nvPr/>
        </p:nvSpPr>
        <p:spPr>
          <a:xfrm>
            <a:off x="777240" y="3478486"/>
            <a:ext cx="4933278" cy="1812125"/>
          </a:xfrm>
          <a:prstGeom prst="roundRect">
            <a:avLst>
              <a:gd name="adj" fmla="val 4118"/>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9" name="Text 7"/>
          <p:cNvSpPr/>
          <p:nvPr/>
        </p:nvSpPr>
        <p:spPr>
          <a:xfrm>
            <a:off x="941832" y="3121871"/>
            <a:ext cx="4462272" cy="257644"/>
          </a:xfrm>
          <a:prstGeom prst="rect">
            <a:avLst/>
          </a:prstGeom>
          <a:noFill/>
          <a:ln/>
        </p:spPr>
        <p:txBody>
          <a:bodyPr wrap="square" lIns="0" tIns="0" rIns="0" bIns="0" rtlCol="0" anchor="ctr"/>
          <a:lstStyle/>
          <a:p>
            <a:pPr marL="0" indent="0">
              <a:buNone/>
            </a:pPr>
            <a:r>
              <a:rPr lang="en-US" sz="1400" b="1" dirty="0">
                <a:solidFill>
                  <a:srgbClr val="93C5FD"/>
                </a:solidFill>
              </a:rPr>
              <a:t>SafeArea inside Scaffold</a:t>
            </a:r>
            <a:endParaRPr lang="en-US" sz="1400" dirty="0"/>
          </a:p>
        </p:txBody>
      </p:sp>
      <p:sp>
        <p:nvSpPr>
          <p:cNvPr id="10" name="Text 8"/>
          <p:cNvSpPr/>
          <p:nvPr/>
        </p:nvSpPr>
        <p:spPr>
          <a:xfrm>
            <a:off x="905256" y="3738282"/>
            <a:ext cx="4933278" cy="2443062"/>
          </a:xfrm>
          <a:prstGeom prst="rect">
            <a:avLst/>
          </a:prstGeom>
          <a:noFill/>
          <a:ln/>
        </p:spPr>
        <p:txBody>
          <a:bodyPr wrap="square" lIns="254" tIns="254" rIns="254" bIns="254" rtlCol="0" anchor="ctr">
            <a:noAutofit/>
          </a:bodyPr>
          <a:lstStyle/>
          <a:p>
            <a:pPr marL="0" indent="0">
              <a:buNone/>
            </a:pPr>
            <a:r>
              <a:rPr lang="en-US" dirty="0">
                <a:solidFill>
                  <a:srgbClr val="8292A2"/>
                </a:solidFill>
                <a:latin typeface="Consolas" pitchFamily="34" charset="0"/>
                <a:ea typeface="Consolas" pitchFamily="34" charset="-122"/>
                <a:cs typeface="Consolas" pitchFamily="34" charset="-120"/>
              </a:rPr>
              <a:t> 1 </a:t>
            </a:r>
            <a:r>
              <a:rPr lang="en-US" dirty="0">
                <a:solidFill>
                  <a:srgbClr val="66D9EF"/>
                </a:solidFill>
                <a:latin typeface="Consolas" pitchFamily="34" charset="0"/>
                <a:ea typeface="Consolas" pitchFamily="34" charset="-122"/>
                <a:cs typeface="Consolas" pitchFamily="34" charset="-120"/>
              </a:rPr>
              <a:t>return</a:t>
            </a:r>
            <a:r>
              <a:rPr lang="en-US" dirty="0">
                <a:solidFill>
                  <a:srgbClr val="FFFFFF"/>
                </a:solidFill>
                <a:latin typeface="Consolas" pitchFamily="34" charset="0"/>
                <a:ea typeface="Consolas" pitchFamily="34" charset="-122"/>
                <a:cs typeface="Consolas" pitchFamily="34" charset="-120"/>
              </a:rPr>
              <a:t> Scaffold</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2 </a:t>
            </a:r>
            <a:r>
              <a:rPr lang="en-US" dirty="0">
                <a:solidFill>
                  <a:srgbClr val="FFFFFF"/>
                </a:solidFill>
                <a:latin typeface="Consolas" pitchFamily="34" charset="0"/>
                <a:ea typeface="Consolas" pitchFamily="34" charset="-122"/>
                <a:cs typeface="Consolas" pitchFamily="34" charset="-120"/>
              </a:rPr>
              <a:t>  drawer</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LayoutDrawer</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3 </a:t>
            </a:r>
            <a:r>
              <a:rPr lang="en-US" dirty="0">
                <a:solidFill>
                  <a:srgbClr val="FFFFFF"/>
                </a:solidFill>
                <a:latin typeface="Consolas" pitchFamily="34" charset="0"/>
                <a:ea typeface="Consolas" pitchFamily="34" charset="-122"/>
                <a:cs typeface="Consolas" pitchFamily="34" charset="-120"/>
              </a:rPr>
              <a:t>  body</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SafeArea</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4 </a:t>
            </a:r>
            <a:r>
              <a:rPr lang="en-US" dirty="0">
                <a:solidFill>
                  <a:srgbClr val="FFFFFF"/>
                </a:solidFill>
                <a:latin typeface="Consolas" pitchFamily="34" charset="0"/>
                <a:ea typeface="Consolas" pitchFamily="34" charset="-122"/>
                <a:cs typeface="Consolas" pitchFamily="34" charset="-120"/>
              </a:rPr>
              <a:t>    child</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MyNormalBody</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5 </a:t>
            </a:r>
            <a:r>
              <a:rPr lang="en-US" dirty="0">
                <a:solidFill>
                  <a:srgbClr val="FFFFFF"/>
                </a:solidFill>
                <a:latin typeface="Consolas" pitchFamily="34" charset="0"/>
                <a:ea typeface="Consolas" pitchFamily="34" charset="-122"/>
                <a:cs typeface="Consolas" pitchFamily="34" charset="-120"/>
              </a:rPr>
              <a:t>  </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6 </a:t>
            </a:r>
            <a:r>
              <a:rPr lang="en-US" dirty="0">
                <a:solidFill>
                  <a:srgbClr val="FFFFFF"/>
                </a:solidFill>
                <a:latin typeface="Consolas" pitchFamily="34" charset="0"/>
                <a:ea typeface="Consolas" pitchFamily="34" charset="-122"/>
                <a:cs typeface="Consolas" pitchFamily="34" charset="-120"/>
              </a:rPr>
              <a:t>  </a:t>
            </a:r>
            <a:r>
              <a:rPr lang="en-US" dirty="0" err="1">
                <a:solidFill>
                  <a:srgbClr val="FFFFFF"/>
                </a:solidFill>
                <a:latin typeface="Consolas" pitchFamily="34" charset="0"/>
                <a:ea typeface="Consolas" pitchFamily="34" charset="-122"/>
                <a:cs typeface="Consolas" pitchFamily="34" charset="-120"/>
              </a:rPr>
              <a:t>floatingActionButton</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7 </a:t>
            </a:r>
            <a:r>
              <a:rPr lang="en-US" dirty="0">
                <a:solidFill>
                  <a:srgbClr val="FFFFFF"/>
                </a:solidFill>
                <a:latin typeface="Consolas" pitchFamily="34" charset="0"/>
                <a:ea typeface="Consolas" pitchFamily="34" charset="-122"/>
                <a:cs typeface="Consolas" pitchFamily="34" charset="-120"/>
              </a:rPr>
              <a:t>    FloatingActionButton</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8 </a:t>
            </a:r>
            <a:r>
              <a:rPr lang="en-US" dirty="0">
                <a:solidFill>
                  <a:srgbClr val="FFFFFF"/>
                </a:solidFill>
                <a:latin typeface="Consolas" pitchFamily="34" charset="0"/>
                <a:ea typeface="Consolas" pitchFamily="34" charset="-122"/>
                <a:cs typeface="Consolas" pitchFamily="34" charset="-120"/>
              </a:rPr>
              <a:t>      onPressed</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 9 </a:t>
            </a:r>
            <a:r>
              <a:rPr lang="en-US" dirty="0">
                <a:solidFill>
                  <a:srgbClr val="FFFFFF"/>
                </a:solidFill>
                <a:latin typeface="Consolas" pitchFamily="34" charset="0"/>
                <a:ea typeface="Consolas" pitchFamily="34" charset="-122"/>
                <a:cs typeface="Consolas" pitchFamily="34" charset="-120"/>
              </a:rPr>
              <a:t>      child</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Icon</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Icons</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next</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10 </a:t>
            </a:r>
            <a:r>
              <a:rPr lang="en-US" dirty="0">
                <a:solidFill>
                  <a:srgbClr val="FFFFFF"/>
                </a:solidFill>
                <a:latin typeface="Consolas" pitchFamily="34" charset="0"/>
                <a:ea typeface="Consolas" pitchFamily="34" charset="-122"/>
                <a:cs typeface="Consolas" pitchFamily="34" charset="-120"/>
              </a:rPr>
              <a:t>    </a:t>
            </a:r>
            <a:r>
              <a:rPr lang="en-US" dirty="0">
                <a:solidFill>
                  <a:srgbClr val="F8F8F2"/>
                </a:solidFill>
                <a:latin typeface="Consolas" pitchFamily="34" charset="0"/>
                <a:ea typeface="Consolas" pitchFamily="34" charset="-122"/>
                <a:cs typeface="Consolas" pitchFamily="34" charset="-120"/>
              </a:rPr>
              <a:t>),</a:t>
            </a:r>
            <a:r>
              <a:rPr lang="en-US" dirty="0">
                <a:solidFill>
                  <a:srgbClr val="FFFFFF"/>
                </a:solidFill>
                <a:latin typeface="Consolas" pitchFamily="34" charset="0"/>
                <a:ea typeface="Consolas" pitchFamily="34" charset="-122"/>
                <a:cs typeface="Consolas" pitchFamily="34" charset="-120"/>
              </a:rPr>
              <a:t>
</a:t>
            </a:r>
            <a:r>
              <a:rPr lang="en-US" dirty="0">
                <a:solidFill>
                  <a:srgbClr val="8292A2"/>
                </a:solidFill>
                <a:latin typeface="Consolas" pitchFamily="34" charset="0"/>
                <a:ea typeface="Consolas" pitchFamily="34" charset="-122"/>
                <a:cs typeface="Consolas" pitchFamily="34" charset="-120"/>
              </a:rPr>
              <a:t>11 </a:t>
            </a:r>
            <a:r>
              <a:rPr lang="en-US" dirty="0">
                <a:solidFill>
                  <a:srgbClr val="F8F8F2"/>
                </a:solidFill>
                <a:latin typeface="Consolas" pitchFamily="34" charset="0"/>
                <a:ea typeface="Consolas" pitchFamily="34" charset="-122"/>
                <a:cs typeface="Consolas" pitchFamily="34" charset="-120"/>
              </a:rPr>
              <a:t>);</a:t>
            </a:r>
            <a:endParaRPr lang="en-US" dirty="0"/>
          </a:p>
        </p:txBody>
      </p:sp>
      <p:sp>
        <p:nvSpPr>
          <p:cNvPr id="11" name="Shape 9"/>
          <p:cNvSpPr/>
          <p:nvPr/>
        </p:nvSpPr>
        <p:spPr>
          <a:xfrm>
            <a:off x="6812280" y="1097280"/>
            <a:ext cx="4572000" cy="5394960"/>
          </a:xfrm>
          <a:prstGeom prst="roundRect">
            <a:avLst>
              <a:gd name="adj" fmla="val 1600"/>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12" name="Image 0" descr="/mnt/data/ch11_12_assets/page-206.png"/>
          <p:cNvPicPr>
            <a:picLocks noChangeAspect="1"/>
          </p:cNvPicPr>
          <p:nvPr/>
        </p:nvPicPr>
        <p:blipFill>
          <a:blip r:embed="rId3"/>
          <a:stretch>
            <a:fillRect/>
          </a:stretch>
        </p:blipFill>
        <p:spPr>
          <a:xfrm>
            <a:off x="7366375" y="1170432"/>
            <a:ext cx="3463810" cy="5248656"/>
          </a:xfrm>
          <a:prstGeom prst="rect">
            <a:avLst/>
          </a:prstGeom>
        </p:spPr>
      </p:pic>
      <p:sp>
        <p:nvSpPr>
          <p:cNvPr id="13"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A reliable scene-building checklist</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A practical pattern students can reuse in labs</a:t>
            </a:r>
            <a:endParaRPr lang="en-US" sz="1400" dirty="0"/>
          </a:p>
        </p:txBody>
      </p:sp>
      <p:sp>
        <p:nvSpPr>
          <p:cNvPr id="7" name="Shape 5"/>
          <p:cNvSpPr/>
          <p:nvPr/>
        </p:nvSpPr>
        <p:spPr>
          <a:xfrm>
            <a:off x="822960" y="1298448"/>
            <a:ext cx="9875520" cy="621792"/>
          </a:xfrm>
          <a:prstGeom prst="roundRect">
            <a:avLst>
              <a:gd name="adj" fmla="val 5882"/>
            </a:avLst>
          </a:prstGeom>
          <a:solidFill>
            <a:srgbClr val="0B1220"/>
          </a:solidFill>
          <a:ln w="12700">
            <a:solidFill>
              <a:srgbClr val="1E293B"/>
            </a:solidFill>
            <a:prstDash val="solid"/>
          </a:ln>
        </p:spPr>
      </p:sp>
      <p:sp>
        <p:nvSpPr>
          <p:cNvPr id="8" name="Text 6"/>
          <p:cNvSpPr/>
          <p:nvPr/>
        </p:nvSpPr>
        <p:spPr>
          <a:xfrm>
            <a:off x="1051560" y="1463040"/>
            <a:ext cx="9326880" cy="201168"/>
          </a:xfrm>
          <a:prstGeom prst="rect">
            <a:avLst/>
          </a:prstGeom>
          <a:noFill/>
          <a:ln/>
        </p:spPr>
        <p:txBody>
          <a:bodyPr wrap="square" lIns="0" tIns="0" rIns="0" bIns="0" rtlCol="0" anchor="ctr"/>
          <a:lstStyle/>
          <a:p>
            <a:pPr marL="0" indent="0">
              <a:buNone/>
            </a:pPr>
            <a:r>
              <a:rPr lang="en-US" sz="1700" dirty="0">
                <a:solidFill>
                  <a:srgbClr val="E2E8F0"/>
                </a:solidFill>
              </a:rPr>
              <a:t>1. Start with MaterialApp at the root.</a:t>
            </a:r>
            <a:endParaRPr lang="en-US" sz="1700" dirty="0"/>
          </a:p>
        </p:txBody>
      </p:sp>
      <p:sp>
        <p:nvSpPr>
          <p:cNvPr id="9" name="Shape 7"/>
          <p:cNvSpPr/>
          <p:nvPr/>
        </p:nvSpPr>
        <p:spPr>
          <a:xfrm>
            <a:off x="822960" y="2157984"/>
            <a:ext cx="9875520" cy="621792"/>
          </a:xfrm>
          <a:prstGeom prst="roundRect">
            <a:avLst>
              <a:gd name="adj" fmla="val 5882"/>
            </a:avLst>
          </a:prstGeom>
          <a:solidFill>
            <a:srgbClr val="111827"/>
          </a:solidFill>
          <a:ln w="12700">
            <a:solidFill>
              <a:srgbClr val="1E293B"/>
            </a:solidFill>
            <a:prstDash val="solid"/>
          </a:ln>
        </p:spPr>
      </p:sp>
      <p:sp>
        <p:nvSpPr>
          <p:cNvPr id="10" name="Text 8"/>
          <p:cNvSpPr/>
          <p:nvPr/>
        </p:nvSpPr>
        <p:spPr>
          <a:xfrm>
            <a:off x="1051560" y="2322576"/>
            <a:ext cx="9326880" cy="201168"/>
          </a:xfrm>
          <a:prstGeom prst="rect">
            <a:avLst/>
          </a:prstGeom>
          <a:noFill/>
          <a:ln/>
        </p:spPr>
        <p:txBody>
          <a:bodyPr wrap="square" lIns="0" tIns="0" rIns="0" bIns="0" rtlCol="0" anchor="ctr"/>
          <a:lstStyle/>
          <a:p>
            <a:pPr marL="0" indent="0">
              <a:buNone/>
            </a:pPr>
            <a:r>
              <a:rPr lang="en-US" sz="1700" dirty="0">
                <a:solidFill>
                  <a:srgbClr val="E2E8F0"/>
                </a:solidFill>
              </a:rPr>
              <a:t>2. Put one Scaffold per major scene.</a:t>
            </a:r>
            <a:endParaRPr lang="en-US" sz="1700" dirty="0"/>
          </a:p>
        </p:txBody>
      </p:sp>
      <p:sp>
        <p:nvSpPr>
          <p:cNvPr id="11" name="Shape 9"/>
          <p:cNvSpPr/>
          <p:nvPr/>
        </p:nvSpPr>
        <p:spPr>
          <a:xfrm>
            <a:off x="822960" y="3017520"/>
            <a:ext cx="9875520" cy="621792"/>
          </a:xfrm>
          <a:prstGeom prst="roundRect">
            <a:avLst>
              <a:gd name="adj" fmla="val 5882"/>
            </a:avLst>
          </a:prstGeom>
          <a:solidFill>
            <a:srgbClr val="0B1220"/>
          </a:solidFill>
          <a:ln w="12700">
            <a:solidFill>
              <a:srgbClr val="1E293B"/>
            </a:solidFill>
            <a:prstDash val="solid"/>
          </a:ln>
        </p:spPr>
      </p:sp>
      <p:sp>
        <p:nvSpPr>
          <p:cNvPr id="12" name="Text 10"/>
          <p:cNvSpPr/>
          <p:nvPr/>
        </p:nvSpPr>
        <p:spPr>
          <a:xfrm>
            <a:off x="1051560" y="3182112"/>
            <a:ext cx="9326880" cy="201168"/>
          </a:xfrm>
          <a:prstGeom prst="rect">
            <a:avLst/>
          </a:prstGeom>
          <a:noFill/>
          <a:ln/>
        </p:spPr>
        <p:txBody>
          <a:bodyPr wrap="square" lIns="0" tIns="0" rIns="0" bIns="0" rtlCol="0" anchor="ctr"/>
          <a:lstStyle/>
          <a:p>
            <a:pPr marL="0" indent="0">
              <a:buNone/>
            </a:pPr>
            <a:r>
              <a:rPr lang="en-US" sz="1700" dirty="0">
                <a:solidFill>
                  <a:srgbClr val="E2E8F0"/>
                </a:solidFill>
              </a:rPr>
              <a:t>3. Add AppBar only if the scene benefits from title/actions.</a:t>
            </a:r>
            <a:endParaRPr lang="en-US" sz="1700" dirty="0"/>
          </a:p>
        </p:txBody>
      </p:sp>
      <p:sp>
        <p:nvSpPr>
          <p:cNvPr id="13" name="Shape 11"/>
          <p:cNvSpPr/>
          <p:nvPr/>
        </p:nvSpPr>
        <p:spPr>
          <a:xfrm>
            <a:off x="822960" y="3877056"/>
            <a:ext cx="9875520" cy="621792"/>
          </a:xfrm>
          <a:prstGeom prst="roundRect">
            <a:avLst>
              <a:gd name="adj" fmla="val 5882"/>
            </a:avLst>
          </a:prstGeom>
          <a:solidFill>
            <a:srgbClr val="111827"/>
          </a:solidFill>
          <a:ln w="12700">
            <a:solidFill>
              <a:srgbClr val="1E293B"/>
            </a:solidFill>
            <a:prstDash val="solid"/>
          </a:ln>
        </p:spPr>
      </p:sp>
      <p:sp>
        <p:nvSpPr>
          <p:cNvPr id="14" name="Text 12"/>
          <p:cNvSpPr/>
          <p:nvPr/>
        </p:nvSpPr>
        <p:spPr>
          <a:xfrm>
            <a:off x="1051560" y="4041648"/>
            <a:ext cx="9326880" cy="201168"/>
          </a:xfrm>
          <a:prstGeom prst="rect">
            <a:avLst/>
          </a:prstGeom>
          <a:noFill/>
          <a:ln/>
        </p:spPr>
        <p:txBody>
          <a:bodyPr wrap="square" lIns="0" tIns="0" rIns="0" bIns="0" rtlCol="0" anchor="ctr"/>
          <a:lstStyle/>
          <a:p>
            <a:pPr marL="0" indent="0">
              <a:buNone/>
            </a:pPr>
            <a:r>
              <a:rPr lang="en-US" sz="1700" dirty="0">
                <a:solidFill>
                  <a:srgbClr val="E2E8F0"/>
                </a:solidFill>
              </a:rPr>
              <a:t>4. Wrap body content in SafeArea when edges can clash with hardware or system UI.</a:t>
            </a:r>
            <a:endParaRPr lang="en-US" sz="1700" dirty="0"/>
          </a:p>
        </p:txBody>
      </p:sp>
      <p:sp>
        <p:nvSpPr>
          <p:cNvPr id="15" name="Shape 13"/>
          <p:cNvSpPr/>
          <p:nvPr/>
        </p:nvSpPr>
        <p:spPr>
          <a:xfrm>
            <a:off x="822960" y="4736592"/>
            <a:ext cx="9875520" cy="621792"/>
          </a:xfrm>
          <a:prstGeom prst="roundRect">
            <a:avLst>
              <a:gd name="adj" fmla="val 5882"/>
            </a:avLst>
          </a:prstGeom>
          <a:solidFill>
            <a:srgbClr val="0B1220"/>
          </a:solidFill>
          <a:ln w="12700">
            <a:solidFill>
              <a:srgbClr val="1E293B"/>
            </a:solidFill>
            <a:prstDash val="solid"/>
          </a:ln>
        </p:spPr>
      </p:sp>
      <p:sp>
        <p:nvSpPr>
          <p:cNvPr id="16" name="Text 14"/>
          <p:cNvSpPr/>
          <p:nvPr/>
        </p:nvSpPr>
        <p:spPr>
          <a:xfrm>
            <a:off x="1051560" y="4901184"/>
            <a:ext cx="9326880" cy="201168"/>
          </a:xfrm>
          <a:prstGeom prst="rect">
            <a:avLst/>
          </a:prstGeom>
          <a:noFill/>
          <a:ln/>
        </p:spPr>
        <p:txBody>
          <a:bodyPr wrap="square" lIns="0" tIns="0" rIns="0" bIns="0" rtlCol="0" anchor="ctr"/>
          <a:lstStyle/>
          <a:p>
            <a:pPr marL="0" indent="0">
              <a:buNone/>
            </a:pPr>
            <a:r>
              <a:rPr lang="en-US" sz="1700" dirty="0">
                <a:solidFill>
                  <a:srgbClr val="E2E8F0"/>
                </a:solidFill>
              </a:rPr>
              <a:t>5. Only after the outer shell is stable should you start positioning inner widgets with Row/Column/Flex.</a:t>
            </a:r>
            <a:endParaRPr lang="en-US" sz="1700" dirty="0"/>
          </a:p>
        </p:txBody>
      </p:sp>
      <p:sp>
        <p:nvSpPr>
          <p:cNvPr id="17" name="Text 15"/>
          <p:cNvSpPr/>
          <p:nvPr/>
        </p:nvSpPr>
        <p:spPr>
          <a:xfrm>
            <a:off x="868680" y="5989320"/>
            <a:ext cx="9875520" cy="228600"/>
          </a:xfrm>
          <a:prstGeom prst="rect">
            <a:avLst/>
          </a:prstGeom>
          <a:noFill/>
          <a:ln/>
        </p:spPr>
        <p:txBody>
          <a:bodyPr wrap="square" lIns="0" tIns="0" rIns="0" bIns="0" rtlCol="0" anchor="ctr"/>
          <a:lstStyle/>
          <a:p>
            <a:pPr marL="0" indent="0">
              <a:buNone/>
            </a:pPr>
            <a:r>
              <a:rPr lang="en-US" sz="1400" i="1" dirty="0">
                <a:solidFill>
                  <a:srgbClr val="CBD5E1"/>
                </a:solidFill>
              </a:rPr>
              <a:t>Why this matters: if the shell is weak, inner layout becomes fragile and debugging explodes in complexity.</a:t>
            </a:r>
            <a:endParaRPr lang="en-US" sz="1400" dirty="0"/>
          </a:p>
        </p:txBody>
      </p:sp>
      <p:sp>
        <p:nvSpPr>
          <p:cNvPr id="18" name="Text 16"/>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Flutter’s layout algorithm</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The chapter’s key conceptual leap</a:t>
            </a:r>
            <a:endParaRPr lang="en-US" sz="1400" dirty="0"/>
          </a:p>
        </p:txBody>
      </p:sp>
      <p:sp>
        <p:nvSpPr>
          <p:cNvPr id="7" name="Text 5"/>
          <p:cNvSpPr/>
          <p:nvPr/>
        </p:nvSpPr>
        <p:spPr>
          <a:xfrm>
            <a:off x="731520" y="1298448"/>
            <a:ext cx="5669280" cy="4206240"/>
          </a:xfrm>
          <a:prstGeom prst="rect">
            <a:avLst/>
          </a:prstGeom>
          <a:noFill/>
          <a:ln/>
        </p:spPr>
        <p:txBody>
          <a:bodyPr wrap="square" lIns="508" tIns="508" rIns="508" bIns="508" rtlCol="0" anchor="t">
            <a:normAutofit/>
          </a:bodyPr>
          <a:lstStyle/>
          <a:p>
            <a:pPr marL="205740" indent="-205740">
              <a:buSzPct val="100000"/>
              <a:buChar char="•"/>
            </a:pPr>
            <a:r>
              <a:rPr lang="en-US" sz="2000" dirty="0">
                <a:solidFill>
                  <a:srgbClr val="E2E8F0"/>
                </a:solidFill>
              </a:rPr>
              <a:t>Flutter layout is not random. It is a negotiation between what a child wants and what its parent allows.</a:t>
            </a:r>
            <a:endParaRPr lang="en-US" sz="2000" dirty="0"/>
          </a:p>
          <a:p>
            <a:pPr marL="205740" indent="-205740">
              <a:buSzPct val="100000"/>
              <a:buChar char="•"/>
            </a:pPr>
            <a:r>
              <a:rPr lang="en-US" sz="2000" dirty="0">
                <a:solidFill>
                  <a:srgbClr val="E2E8F0"/>
                </a:solidFill>
              </a:rPr>
              <a:t>The framework traverses the widget tree from the top, passing BoxConstraints down.</a:t>
            </a:r>
            <a:endParaRPr lang="en-US" sz="2000" dirty="0"/>
          </a:p>
          <a:p>
            <a:pPr marL="205740" indent="-205740">
              <a:buSzPct val="100000"/>
              <a:buChar char="•"/>
            </a:pPr>
            <a:r>
              <a:rPr lang="en-US" sz="2000" dirty="0">
                <a:solidFill>
                  <a:srgbClr val="E2E8F0"/>
                </a:solidFill>
              </a:rPr>
              <a:t>At the leaves, widgets express the size they would prefer (their RenderBox behavior).</a:t>
            </a:r>
            <a:endParaRPr lang="en-US" sz="2000" dirty="0"/>
          </a:p>
          <a:p>
            <a:pPr marL="205740" indent="-205740">
              <a:buSzPct val="100000"/>
              <a:buChar char="•"/>
            </a:pPr>
            <a:r>
              <a:rPr lang="en-US" sz="2000" dirty="0">
                <a:solidFill>
                  <a:srgbClr val="E2E8F0"/>
                </a:solidFill>
              </a:rPr>
              <a:t>While going back up the tree, Flutter reconciles those preferred sizes with the constraints of parents and ancestors.</a:t>
            </a:r>
            <a:endParaRPr lang="en-US" sz="2000" dirty="0"/>
          </a:p>
        </p:txBody>
      </p:sp>
      <p:sp>
        <p:nvSpPr>
          <p:cNvPr id="8" name="Shape 6"/>
          <p:cNvSpPr/>
          <p:nvPr/>
        </p:nvSpPr>
        <p:spPr>
          <a:xfrm>
            <a:off x="6720840" y="1325880"/>
            <a:ext cx="4663440" cy="4297680"/>
          </a:xfrm>
          <a:prstGeom prst="roundRect">
            <a:avLst>
              <a:gd name="adj" fmla="val 1064"/>
            </a:avLst>
          </a:prstGeom>
          <a:solidFill>
            <a:srgbClr val="0B1220"/>
          </a:solidFill>
          <a:ln w="12700">
            <a:solidFill>
              <a:srgbClr val="1E293B"/>
            </a:solidFill>
            <a:prstDash val="solid"/>
          </a:ln>
        </p:spPr>
      </p:sp>
      <p:sp>
        <p:nvSpPr>
          <p:cNvPr id="9" name="Text 7"/>
          <p:cNvSpPr/>
          <p:nvPr/>
        </p:nvSpPr>
        <p:spPr>
          <a:xfrm>
            <a:off x="6995160" y="1572768"/>
            <a:ext cx="2011680" cy="228600"/>
          </a:xfrm>
          <a:prstGeom prst="rect">
            <a:avLst/>
          </a:prstGeom>
          <a:noFill/>
          <a:ln/>
        </p:spPr>
        <p:txBody>
          <a:bodyPr wrap="square" lIns="0" tIns="0" rIns="0" bIns="0" rtlCol="0" anchor="ctr"/>
          <a:lstStyle/>
          <a:p>
            <a:pPr marL="0" indent="0">
              <a:buNone/>
            </a:pPr>
            <a:r>
              <a:rPr lang="en-US" sz="2000" b="1" dirty="0">
                <a:solidFill>
                  <a:srgbClr val="F8FAFC"/>
                </a:solidFill>
              </a:rPr>
              <a:t>Mental model</a:t>
            </a:r>
            <a:endParaRPr lang="en-US" sz="2000" dirty="0"/>
          </a:p>
        </p:txBody>
      </p:sp>
      <p:sp>
        <p:nvSpPr>
          <p:cNvPr id="10" name="Text 8"/>
          <p:cNvSpPr/>
          <p:nvPr/>
        </p:nvSpPr>
        <p:spPr>
          <a:xfrm>
            <a:off x="6903720" y="1965960"/>
            <a:ext cx="3749040" cy="2103120"/>
          </a:xfrm>
          <a:prstGeom prst="rect">
            <a:avLst/>
          </a:prstGeom>
          <a:noFill/>
          <a:ln/>
        </p:spPr>
        <p:txBody>
          <a:bodyPr wrap="square" lIns="508" tIns="508" rIns="508" bIns="508" rtlCol="0" anchor="t">
            <a:normAutofit/>
          </a:bodyPr>
          <a:lstStyle/>
          <a:p>
            <a:pPr marL="205740" indent="-205740">
              <a:buSzPct val="100000"/>
              <a:buChar char="•"/>
            </a:pPr>
            <a:r>
              <a:rPr lang="en-US" sz="2000" dirty="0">
                <a:solidFill>
                  <a:srgbClr val="E2E8F0"/>
                </a:solidFill>
              </a:rPr>
              <a:t>Constraints go down.</a:t>
            </a:r>
            <a:endParaRPr lang="en-US" sz="2000" dirty="0"/>
          </a:p>
          <a:p>
            <a:pPr marL="205740" indent="-205740">
              <a:buSzPct val="100000"/>
              <a:buChar char="•"/>
            </a:pPr>
            <a:r>
              <a:rPr lang="en-US" sz="2000" dirty="0">
                <a:solidFill>
                  <a:srgbClr val="E2E8F0"/>
                </a:solidFill>
              </a:rPr>
              <a:t>Preferred sizes come up.</a:t>
            </a:r>
            <a:endParaRPr lang="en-US" sz="2000" dirty="0"/>
          </a:p>
          <a:p>
            <a:pPr marL="205740" indent="-205740">
              <a:buSzPct val="100000"/>
              <a:buChar char="•"/>
            </a:pPr>
            <a:r>
              <a:rPr lang="en-US" sz="2000" dirty="0">
                <a:solidFill>
                  <a:srgbClr val="E2E8F0"/>
                </a:solidFill>
              </a:rPr>
              <a:t>Final layout is the intersection of both.</a:t>
            </a:r>
            <a:endParaRPr lang="en-US" sz="2000" dirty="0"/>
          </a:p>
        </p:txBody>
      </p:sp>
      <p:sp>
        <p:nvSpPr>
          <p:cNvPr id="11" name="Text 9"/>
          <p:cNvSpPr/>
          <p:nvPr/>
        </p:nvSpPr>
        <p:spPr>
          <a:xfrm>
            <a:off x="6903720" y="4709160"/>
            <a:ext cx="3931920" cy="502920"/>
          </a:xfrm>
          <a:prstGeom prst="rect">
            <a:avLst/>
          </a:prstGeom>
          <a:noFill/>
          <a:ln/>
        </p:spPr>
        <p:txBody>
          <a:bodyPr wrap="square" lIns="0" tIns="0" rIns="0" bIns="0" rtlCol="0" anchor="ctr"/>
          <a:lstStyle/>
          <a:p>
            <a:pPr marL="0" indent="0">
              <a:buNone/>
            </a:pPr>
            <a:r>
              <a:rPr lang="en-US" sz="1400" i="1" dirty="0">
                <a:solidFill>
                  <a:srgbClr val="CBD5E1"/>
                </a:solidFill>
              </a:rPr>
              <a:t>Once students internalize this, many “mysterious” layout bugs suddenly become explainable.</a:t>
            </a:r>
            <a:endParaRPr lang="en-US" sz="1400" dirty="0"/>
          </a:p>
        </p:txBody>
      </p:sp>
      <p:sp>
        <p:nvSpPr>
          <p:cNvPr id="12"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How constraint negotiation works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Top-down constraints, bottom-up sizing</a:t>
            </a:r>
            <a:endParaRPr lang="en-US" sz="1400" dirty="0"/>
          </a:p>
        </p:txBody>
      </p:sp>
      <p:sp>
        <p:nvSpPr>
          <p:cNvPr id="7" name="Shape 5"/>
          <p:cNvSpPr/>
          <p:nvPr/>
        </p:nvSpPr>
        <p:spPr>
          <a:xfrm>
            <a:off x="822960" y="1417320"/>
            <a:ext cx="1737360" cy="713232"/>
          </a:xfrm>
          <a:prstGeom prst="roundRect">
            <a:avLst>
              <a:gd name="adj" fmla="val 6410"/>
            </a:avLst>
          </a:prstGeom>
          <a:solidFill>
            <a:srgbClr val="0B1220"/>
          </a:solidFill>
          <a:ln w="12700">
            <a:solidFill>
              <a:srgbClr val="22D3EE"/>
            </a:solidFill>
            <a:prstDash val="solid"/>
          </a:ln>
        </p:spPr>
      </p:sp>
      <p:sp>
        <p:nvSpPr>
          <p:cNvPr id="8" name="Text 6"/>
          <p:cNvSpPr/>
          <p:nvPr/>
        </p:nvSpPr>
        <p:spPr>
          <a:xfrm>
            <a:off x="896112" y="1545336"/>
            <a:ext cx="1591056" cy="411480"/>
          </a:xfrm>
          <a:prstGeom prst="rect">
            <a:avLst/>
          </a:prstGeom>
          <a:noFill/>
          <a:ln/>
        </p:spPr>
        <p:txBody>
          <a:bodyPr wrap="square" lIns="0" tIns="0" rIns="0" bIns="0" rtlCol="0" anchor="ctr"/>
          <a:lstStyle/>
          <a:p>
            <a:pPr marL="0" indent="0" algn="ctr">
              <a:buNone/>
            </a:pPr>
            <a:r>
              <a:rPr lang="en-US" sz="1400" b="1" dirty="0">
                <a:solidFill>
                  <a:srgbClr val="F8FAFC"/>
                </a:solidFill>
              </a:rPr>
              <a:t>Root widget</a:t>
            </a:r>
            <a:endParaRPr lang="en-US" sz="1400" dirty="0"/>
          </a:p>
          <a:p>
            <a:pPr marL="0" indent="0" algn="ctr">
              <a:buNone/>
            </a:pPr>
            <a:r>
              <a:rPr lang="en-US" sz="1400" b="1" dirty="0">
                <a:solidFill>
                  <a:srgbClr val="F8FAFC"/>
                </a:solidFill>
              </a:rPr>
              <a:t>(BoxConstraints)</a:t>
            </a:r>
            <a:endParaRPr lang="en-US" sz="1400" dirty="0"/>
          </a:p>
        </p:txBody>
      </p:sp>
      <p:sp>
        <p:nvSpPr>
          <p:cNvPr id="9" name="Shape 7"/>
          <p:cNvSpPr/>
          <p:nvPr/>
        </p:nvSpPr>
        <p:spPr>
          <a:xfrm>
            <a:off x="3657600" y="1417320"/>
            <a:ext cx="1737360" cy="713232"/>
          </a:xfrm>
          <a:prstGeom prst="roundRect">
            <a:avLst>
              <a:gd name="adj" fmla="val 6410"/>
            </a:avLst>
          </a:prstGeom>
          <a:solidFill>
            <a:srgbClr val="0B1220"/>
          </a:solidFill>
          <a:ln w="12700">
            <a:solidFill>
              <a:srgbClr val="22D3EE"/>
            </a:solidFill>
            <a:prstDash val="solid"/>
          </a:ln>
        </p:spPr>
      </p:sp>
      <p:sp>
        <p:nvSpPr>
          <p:cNvPr id="10" name="Text 8"/>
          <p:cNvSpPr/>
          <p:nvPr/>
        </p:nvSpPr>
        <p:spPr>
          <a:xfrm>
            <a:off x="3730752" y="1545336"/>
            <a:ext cx="1591056" cy="411480"/>
          </a:xfrm>
          <a:prstGeom prst="rect">
            <a:avLst/>
          </a:prstGeom>
          <a:noFill/>
          <a:ln/>
        </p:spPr>
        <p:txBody>
          <a:bodyPr wrap="square" lIns="0" tIns="0" rIns="0" bIns="0" rtlCol="0" anchor="ctr"/>
          <a:lstStyle/>
          <a:p>
            <a:pPr marL="0" indent="0" algn="ctr">
              <a:buNone/>
            </a:pPr>
            <a:r>
              <a:rPr lang="en-US" sz="1400" b="1" dirty="0">
                <a:solidFill>
                  <a:srgbClr val="F8FAFC"/>
                </a:solidFill>
              </a:rPr>
              <a:t>Parent widget</a:t>
            </a:r>
            <a:endParaRPr lang="en-US" sz="1400" dirty="0"/>
          </a:p>
        </p:txBody>
      </p:sp>
      <p:sp>
        <p:nvSpPr>
          <p:cNvPr id="11" name="Shape 9"/>
          <p:cNvSpPr/>
          <p:nvPr/>
        </p:nvSpPr>
        <p:spPr>
          <a:xfrm>
            <a:off x="6492240" y="1417320"/>
            <a:ext cx="1737360" cy="713232"/>
          </a:xfrm>
          <a:prstGeom prst="roundRect">
            <a:avLst>
              <a:gd name="adj" fmla="val 6410"/>
            </a:avLst>
          </a:prstGeom>
          <a:solidFill>
            <a:srgbClr val="0B1220"/>
          </a:solidFill>
          <a:ln w="12700">
            <a:solidFill>
              <a:srgbClr val="22D3EE"/>
            </a:solidFill>
            <a:prstDash val="solid"/>
          </a:ln>
        </p:spPr>
      </p:sp>
      <p:sp>
        <p:nvSpPr>
          <p:cNvPr id="12" name="Text 10"/>
          <p:cNvSpPr/>
          <p:nvPr/>
        </p:nvSpPr>
        <p:spPr>
          <a:xfrm>
            <a:off x="6565392" y="1545336"/>
            <a:ext cx="1591056" cy="411480"/>
          </a:xfrm>
          <a:prstGeom prst="rect">
            <a:avLst/>
          </a:prstGeom>
          <a:noFill/>
          <a:ln/>
        </p:spPr>
        <p:txBody>
          <a:bodyPr wrap="square" lIns="0" tIns="0" rIns="0" bIns="0" rtlCol="0" anchor="ctr"/>
          <a:lstStyle/>
          <a:p>
            <a:pPr marL="0" indent="0" algn="ctr">
              <a:buNone/>
            </a:pPr>
            <a:r>
              <a:rPr lang="en-US" sz="1400" b="1" dirty="0">
                <a:solidFill>
                  <a:srgbClr val="F8FAFC"/>
                </a:solidFill>
              </a:rPr>
              <a:t>Child widget</a:t>
            </a:r>
            <a:endParaRPr lang="en-US" sz="1400" dirty="0"/>
          </a:p>
        </p:txBody>
      </p:sp>
      <p:sp>
        <p:nvSpPr>
          <p:cNvPr id="13" name="Shape 11"/>
          <p:cNvSpPr/>
          <p:nvPr/>
        </p:nvSpPr>
        <p:spPr>
          <a:xfrm>
            <a:off x="9326880" y="1417320"/>
            <a:ext cx="1737360" cy="713232"/>
          </a:xfrm>
          <a:prstGeom prst="roundRect">
            <a:avLst>
              <a:gd name="adj" fmla="val 6410"/>
            </a:avLst>
          </a:prstGeom>
          <a:solidFill>
            <a:srgbClr val="0B1220"/>
          </a:solidFill>
          <a:ln w="12700">
            <a:solidFill>
              <a:srgbClr val="22D3EE"/>
            </a:solidFill>
            <a:prstDash val="solid"/>
          </a:ln>
        </p:spPr>
      </p:sp>
      <p:sp>
        <p:nvSpPr>
          <p:cNvPr id="14" name="Text 12"/>
          <p:cNvSpPr/>
          <p:nvPr/>
        </p:nvSpPr>
        <p:spPr>
          <a:xfrm>
            <a:off x="9400032" y="1545336"/>
            <a:ext cx="1591056" cy="411480"/>
          </a:xfrm>
          <a:prstGeom prst="rect">
            <a:avLst/>
          </a:prstGeom>
          <a:noFill/>
          <a:ln/>
        </p:spPr>
        <p:txBody>
          <a:bodyPr wrap="square" lIns="0" tIns="0" rIns="0" bIns="0" rtlCol="0" anchor="ctr"/>
          <a:lstStyle/>
          <a:p>
            <a:pPr marL="0" indent="0" algn="ctr">
              <a:buNone/>
            </a:pPr>
            <a:r>
              <a:rPr lang="en-US" sz="1400" b="1" dirty="0">
                <a:solidFill>
                  <a:srgbClr val="F8FAFC"/>
                </a:solidFill>
              </a:rPr>
              <a:t>Leaf widget</a:t>
            </a:r>
            <a:endParaRPr lang="en-US" sz="1400" dirty="0"/>
          </a:p>
        </p:txBody>
      </p:sp>
      <p:sp>
        <p:nvSpPr>
          <p:cNvPr id="15" name="Shape 13"/>
          <p:cNvSpPr/>
          <p:nvPr/>
        </p:nvSpPr>
        <p:spPr>
          <a:xfrm>
            <a:off x="2606040" y="1783080"/>
            <a:ext cx="457200" cy="164592"/>
          </a:xfrm>
          <a:prstGeom prst="chevron">
            <a:avLst/>
          </a:prstGeom>
          <a:solidFill>
            <a:srgbClr val="22D3EE"/>
          </a:solidFill>
          <a:ln w="12700">
            <a:solidFill>
              <a:srgbClr val="22D3EE"/>
            </a:solidFill>
            <a:prstDash val="solid"/>
          </a:ln>
        </p:spPr>
      </p:sp>
      <p:sp>
        <p:nvSpPr>
          <p:cNvPr id="16" name="Shape 14"/>
          <p:cNvSpPr/>
          <p:nvPr/>
        </p:nvSpPr>
        <p:spPr>
          <a:xfrm>
            <a:off x="5440680" y="1783080"/>
            <a:ext cx="457200" cy="164592"/>
          </a:xfrm>
          <a:prstGeom prst="chevron">
            <a:avLst/>
          </a:prstGeom>
          <a:solidFill>
            <a:srgbClr val="22D3EE"/>
          </a:solidFill>
          <a:ln w="12700">
            <a:solidFill>
              <a:srgbClr val="22D3EE"/>
            </a:solidFill>
            <a:prstDash val="solid"/>
          </a:ln>
        </p:spPr>
      </p:sp>
      <p:sp>
        <p:nvSpPr>
          <p:cNvPr id="17" name="Shape 15"/>
          <p:cNvSpPr/>
          <p:nvPr/>
        </p:nvSpPr>
        <p:spPr>
          <a:xfrm>
            <a:off x="8275320" y="1783080"/>
            <a:ext cx="457200" cy="164592"/>
          </a:xfrm>
          <a:prstGeom prst="chevron">
            <a:avLst/>
          </a:prstGeom>
          <a:solidFill>
            <a:srgbClr val="22D3EE"/>
          </a:solidFill>
          <a:ln w="12700">
            <a:solidFill>
              <a:srgbClr val="22D3EE"/>
            </a:solidFill>
            <a:prstDash val="solid"/>
          </a:ln>
        </p:spPr>
      </p:sp>
      <p:sp>
        <p:nvSpPr>
          <p:cNvPr id="18" name="Text 16"/>
          <p:cNvSpPr/>
          <p:nvPr/>
        </p:nvSpPr>
        <p:spPr>
          <a:xfrm>
            <a:off x="1143000" y="2606040"/>
            <a:ext cx="4663440" cy="228600"/>
          </a:xfrm>
          <a:prstGeom prst="rect">
            <a:avLst/>
          </a:prstGeom>
          <a:noFill/>
          <a:ln/>
        </p:spPr>
        <p:txBody>
          <a:bodyPr wrap="square" lIns="0" tIns="0" rIns="0" bIns="0" rtlCol="0" anchor="ctr"/>
          <a:lstStyle/>
          <a:p>
            <a:pPr marL="0" indent="0">
              <a:buNone/>
            </a:pPr>
            <a:r>
              <a:rPr lang="en-US" dirty="0">
                <a:solidFill>
                  <a:srgbClr val="E2E8F0"/>
                </a:solidFill>
              </a:rPr>
              <a:t>1) Pass max width / max height down the tree</a:t>
            </a:r>
            <a:endParaRPr lang="en-US" dirty="0"/>
          </a:p>
        </p:txBody>
      </p:sp>
      <p:sp>
        <p:nvSpPr>
          <p:cNvPr id="19" name="Text 17"/>
          <p:cNvSpPr/>
          <p:nvPr/>
        </p:nvSpPr>
        <p:spPr>
          <a:xfrm>
            <a:off x="1143000" y="3154680"/>
            <a:ext cx="4663440" cy="228600"/>
          </a:xfrm>
          <a:prstGeom prst="rect">
            <a:avLst/>
          </a:prstGeom>
          <a:noFill/>
          <a:ln/>
        </p:spPr>
        <p:txBody>
          <a:bodyPr wrap="square" lIns="0" tIns="0" rIns="0" bIns="0" rtlCol="0" anchor="ctr"/>
          <a:lstStyle/>
          <a:p>
            <a:pPr marL="0" indent="0">
              <a:buNone/>
            </a:pPr>
            <a:r>
              <a:rPr lang="en-US" dirty="0">
                <a:solidFill>
                  <a:srgbClr val="E2E8F0"/>
                </a:solidFill>
              </a:rPr>
              <a:t>2) Ask leaves how large they prefer to be</a:t>
            </a:r>
            <a:endParaRPr lang="en-US" dirty="0"/>
          </a:p>
        </p:txBody>
      </p:sp>
      <p:sp>
        <p:nvSpPr>
          <p:cNvPr id="20" name="Text 18"/>
          <p:cNvSpPr/>
          <p:nvPr/>
        </p:nvSpPr>
        <p:spPr>
          <a:xfrm>
            <a:off x="1143000" y="3703320"/>
            <a:ext cx="4663440" cy="228600"/>
          </a:xfrm>
          <a:prstGeom prst="rect">
            <a:avLst/>
          </a:prstGeom>
          <a:noFill/>
          <a:ln/>
        </p:spPr>
        <p:txBody>
          <a:bodyPr wrap="square" lIns="0" tIns="0" rIns="0" bIns="0" rtlCol="0" anchor="ctr"/>
          <a:lstStyle/>
          <a:p>
            <a:pPr marL="0" indent="0">
              <a:buNone/>
            </a:pPr>
            <a:r>
              <a:rPr lang="en-US" dirty="0">
                <a:solidFill>
                  <a:srgbClr val="E2E8F0"/>
                </a:solidFill>
              </a:rPr>
              <a:t>3) Reconcile size on the way back up</a:t>
            </a:r>
            <a:endParaRPr lang="en-US" dirty="0"/>
          </a:p>
        </p:txBody>
      </p:sp>
      <p:sp>
        <p:nvSpPr>
          <p:cNvPr id="21" name="Text 19"/>
          <p:cNvSpPr/>
          <p:nvPr/>
        </p:nvSpPr>
        <p:spPr>
          <a:xfrm>
            <a:off x="1143000" y="4315968"/>
            <a:ext cx="5212080" cy="502920"/>
          </a:xfrm>
          <a:prstGeom prst="rect">
            <a:avLst/>
          </a:prstGeom>
          <a:noFill/>
          <a:ln/>
        </p:spPr>
        <p:txBody>
          <a:bodyPr wrap="square" lIns="0" tIns="0" rIns="0" bIns="0" rtlCol="0" anchor="ctr"/>
          <a:lstStyle/>
          <a:p>
            <a:pPr marL="0" indent="0">
              <a:buNone/>
            </a:pPr>
            <a:r>
              <a:rPr lang="en-US" dirty="0">
                <a:solidFill>
                  <a:srgbClr val="CBD5E1"/>
                </a:solidFill>
              </a:rPr>
              <a:t>If the preferred size is too large, Flutter clips or throws; if too small, extra space may remain.</a:t>
            </a:r>
            <a:endParaRPr lang="en-US" dirty="0"/>
          </a:p>
        </p:txBody>
      </p:sp>
      <p:sp>
        <p:nvSpPr>
          <p:cNvPr id="22" name="Shape 20"/>
          <p:cNvSpPr/>
          <p:nvPr/>
        </p:nvSpPr>
        <p:spPr>
          <a:xfrm>
            <a:off x="6583680" y="2468880"/>
            <a:ext cx="4754880" cy="3474720"/>
          </a:xfrm>
          <a:prstGeom prst="roundRect">
            <a:avLst>
              <a:gd name="adj" fmla="val 2105"/>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23" name="Image 0" descr="/mnt/data/ch11_12_assets/page-212.png"/>
          <p:cNvPicPr>
            <a:picLocks noChangeAspect="1"/>
          </p:cNvPicPr>
          <p:nvPr/>
        </p:nvPicPr>
        <p:blipFill>
          <a:blip r:embed="rId3"/>
          <a:stretch>
            <a:fillRect/>
          </a:stretch>
        </p:blipFill>
        <p:spPr>
          <a:xfrm>
            <a:off x="7862839" y="2542032"/>
            <a:ext cx="2196563" cy="3328416"/>
          </a:xfrm>
          <a:prstGeom prst="rect">
            <a:avLst/>
          </a:prstGeom>
        </p:spPr>
      </p:pic>
      <p:sp>
        <p:nvSpPr>
          <p:cNvPr id="24" name="Text 21"/>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The widget tree is the layout conversation</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Chapter 11 Figure 11-10 in context</a:t>
            </a:r>
            <a:endParaRPr lang="en-US" sz="1400" dirty="0"/>
          </a:p>
        </p:txBody>
      </p:sp>
      <p:sp>
        <p:nvSpPr>
          <p:cNvPr id="7" name="Shape 5"/>
          <p:cNvSpPr/>
          <p:nvPr/>
        </p:nvSpPr>
        <p:spPr>
          <a:xfrm>
            <a:off x="777240" y="1143000"/>
            <a:ext cx="4754880" cy="5394960"/>
          </a:xfrm>
          <a:prstGeom prst="roundRect">
            <a:avLst>
              <a:gd name="adj" fmla="val 1538"/>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8" name="Image 0" descr="/mnt/data/ch11_12_assets/page-212.png"/>
          <p:cNvPicPr>
            <a:picLocks noChangeAspect="1"/>
          </p:cNvPicPr>
          <p:nvPr/>
        </p:nvPicPr>
        <p:blipFill>
          <a:blip r:embed="rId3"/>
          <a:stretch>
            <a:fillRect/>
          </a:stretch>
        </p:blipFill>
        <p:spPr>
          <a:xfrm>
            <a:off x="1422775" y="1216152"/>
            <a:ext cx="3463810" cy="5248656"/>
          </a:xfrm>
          <a:prstGeom prst="rect">
            <a:avLst/>
          </a:prstGeom>
        </p:spPr>
      </p:pic>
      <p:sp>
        <p:nvSpPr>
          <p:cNvPr id="9" name="Text 6"/>
          <p:cNvSpPr/>
          <p:nvPr/>
        </p:nvSpPr>
        <p:spPr>
          <a:xfrm>
            <a:off x="5897880" y="1325880"/>
            <a:ext cx="5303520" cy="4023360"/>
          </a:xfrm>
          <a:prstGeom prst="rect">
            <a:avLst/>
          </a:prstGeom>
          <a:noFill/>
          <a:ln/>
        </p:spPr>
        <p:txBody>
          <a:bodyPr wrap="square" lIns="508" tIns="508" rIns="508" bIns="508" rtlCol="0" anchor="t">
            <a:normAutofit/>
          </a:bodyPr>
          <a:lstStyle/>
          <a:p>
            <a:pPr marL="205740" indent="-205740">
              <a:buSzPct val="100000"/>
              <a:buChar char="•"/>
            </a:pPr>
            <a:r>
              <a:rPr lang="en-US" sz="2000" dirty="0">
                <a:solidFill>
                  <a:srgbClr val="E2E8F0"/>
                </a:solidFill>
              </a:rPr>
              <a:t>Every scene ultimately becomes a tree of layout decisions.</a:t>
            </a:r>
            <a:endParaRPr lang="en-US" sz="2000" dirty="0"/>
          </a:p>
          <a:p>
            <a:pPr marL="205740" indent="-205740">
              <a:buSzPct val="100000"/>
              <a:buChar char="•"/>
            </a:pPr>
            <a:r>
              <a:rPr lang="en-US" sz="2000" dirty="0">
                <a:solidFill>
                  <a:srgbClr val="E2E8F0"/>
                </a:solidFill>
              </a:rPr>
              <a:t>High-level widgets such as MaterialApp and Scaffold constrain major regions first.</a:t>
            </a:r>
            <a:endParaRPr lang="en-US" sz="2000" dirty="0"/>
          </a:p>
          <a:p>
            <a:pPr marL="205740" indent="-205740">
              <a:buSzPct val="100000"/>
              <a:buChar char="•"/>
            </a:pPr>
            <a:r>
              <a:rPr lang="en-US" sz="2000" dirty="0">
                <a:solidFill>
                  <a:srgbClr val="E2E8F0"/>
                </a:solidFill>
              </a:rPr>
              <a:t>Lower-level widgets—ListView, Row, Column, Padding, Image, Text—must fit inside those constraints.</a:t>
            </a:r>
            <a:endParaRPr lang="en-US" sz="2000" dirty="0"/>
          </a:p>
          <a:p>
            <a:pPr marL="205740" indent="-205740">
              <a:buSzPct val="100000"/>
              <a:buChar char="•"/>
            </a:pPr>
            <a:r>
              <a:rPr lang="en-US" sz="2000" dirty="0">
                <a:solidFill>
                  <a:srgbClr val="E2E8F0"/>
                </a:solidFill>
              </a:rPr>
              <a:t>No parent has a final size until all of its children have negotiated their own size.</a:t>
            </a:r>
            <a:endParaRPr lang="en-US" sz="2000" dirty="0"/>
          </a:p>
        </p:txBody>
      </p:sp>
      <p:sp>
        <p:nvSpPr>
          <p:cNvPr id="10" name="Text 7"/>
          <p:cNvSpPr/>
          <p:nvPr/>
        </p:nvSpPr>
        <p:spPr>
          <a:xfrm>
            <a:off x="5925312" y="5440680"/>
            <a:ext cx="5029200" cy="502920"/>
          </a:xfrm>
          <a:prstGeom prst="rect">
            <a:avLst/>
          </a:prstGeom>
          <a:noFill/>
          <a:ln/>
        </p:spPr>
        <p:txBody>
          <a:bodyPr wrap="square" lIns="0" tIns="0" rIns="0" bIns="0" rtlCol="0" anchor="ctr"/>
          <a:lstStyle/>
          <a:p>
            <a:pPr marL="0" indent="0">
              <a:buNone/>
            </a:pPr>
            <a:r>
              <a:rPr lang="en-US" sz="1500" i="1" dirty="0">
                <a:solidFill>
                  <a:srgbClr val="CBD5E1"/>
                </a:solidFill>
              </a:rPr>
              <a:t>That last sentence is crucial: Flutter layout is recursive, not a single one-pass placement algorithm.</a:t>
            </a:r>
            <a:endParaRPr lang="en-US" sz="1500" dirty="0"/>
          </a:p>
        </p:txBody>
      </p:sp>
      <p:sp>
        <p:nvSpPr>
          <p:cNvPr id="11" name="Text 8"/>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Greedy vs non-greedy widgets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Why some widgets cause far more trouble than others</a:t>
            </a:r>
            <a:endParaRPr lang="en-US" sz="1400" dirty="0"/>
          </a:p>
        </p:txBody>
      </p:sp>
      <p:sp>
        <p:nvSpPr>
          <p:cNvPr id="7" name="Shape 5"/>
          <p:cNvSpPr/>
          <p:nvPr/>
        </p:nvSpPr>
        <p:spPr>
          <a:xfrm>
            <a:off x="777240" y="1325880"/>
            <a:ext cx="5212080" cy="4480560"/>
          </a:xfrm>
          <a:prstGeom prst="roundRect">
            <a:avLst>
              <a:gd name="adj" fmla="val 1020"/>
            </a:avLst>
          </a:prstGeom>
          <a:solidFill>
            <a:srgbClr val="0B1220"/>
          </a:solidFill>
          <a:ln w="12700">
            <a:solidFill>
              <a:srgbClr val="1E293B"/>
            </a:solidFill>
            <a:prstDash val="solid"/>
          </a:ln>
        </p:spPr>
      </p:sp>
      <p:sp>
        <p:nvSpPr>
          <p:cNvPr id="8" name="Text 6"/>
          <p:cNvSpPr/>
          <p:nvPr/>
        </p:nvSpPr>
        <p:spPr>
          <a:xfrm>
            <a:off x="1051560" y="1572768"/>
            <a:ext cx="2377440" cy="228600"/>
          </a:xfrm>
          <a:prstGeom prst="rect">
            <a:avLst/>
          </a:prstGeom>
          <a:noFill/>
          <a:ln/>
        </p:spPr>
        <p:txBody>
          <a:bodyPr wrap="square" lIns="0" tIns="0" rIns="0" bIns="0" rtlCol="0" anchor="ctr"/>
          <a:lstStyle/>
          <a:p>
            <a:pPr marL="0" indent="0">
              <a:buNone/>
            </a:pPr>
            <a:r>
              <a:rPr lang="en-US" sz="2000" b="1" dirty="0">
                <a:solidFill>
                  <a:srgbClr val="22C55E"/>
                </a:solidFill>
              </a:rPr>
              <a:t>Non-greedy behavior</a:t>
            </a:r>
            <a:endParaRPr lang="en-US" sz="2000" dirty="0"/>
          </a:p>
        </p:txBody>
      </p:sp>
      <p:sp>
        <p:nvSpPr>
          <p:cNvPr id="9" name="Text 7"/>
          <p:cNvSpPr/>
          <p:nvPr/>
        </p:nvSpPr>
        <p:spPr>
          <a:xfrm>
            <a:off x="987552" y="1901952"/>
            <a:ext cx="4480560" cy="2377440"/>
          </a:xfrm>
          <a:prstGeom prst="rect">
            <a:avLst/>
          </a:prstGeom>
          <a:noFill/>
          <a:ln/>
        </p:spPr>
        <p:txBody>
          <a:bodyPr wrap="square" lIns="508" tIns="508" rIns="508" bIns="508" rtlCol="0" anchor="t">
            <a:normAutofit/>
          </a:bodyPr>
          <a:lstStyle/>
          <a:p>
            <a:pPr marL="194310" indent="-194310">
              <a:buSzPct val="100000"/>
              <a:buChar char="•"/>
            </a:pPr>
            <a:r>
              <a:rPr lang="en-US" sz="2000" dirty="0">
                <a:solidFill>
                  <a:srgbClr val="E2E8F0"/>
                </a:solidFill>
              </a:rPr>
              <a:t>A typical Column is happy to size only as much as its children require.</a:t>
            </a:r>
            <a:endParaRPr lang="en-US" sz="2000" dirty="0"/>
          </a:p>
          <a:p>
            <a:pPr marL="194310" indent="-194310">
              <a:buSzPct val="100000"/>
              <a:buChar char="•"/>
            </a:pPr>
            <a:r>
              <a:rPr lang="en-US" sz="2000" dirty="0">
                <a:solidFill>
                  <a:srgbClr val="E2E8F0"/>
                </a:solidFill>
              </a:rPr>
              <a:t>Text often sizes itself to its content.</a:t>
            </a:r>
            <a:endParaRPr lang="en-US" sz="2000" dirty="0"/>
          </a:p>
          <a:p>
            <a:pPr marL="194310" indent="-194310">
              <a:buSzPct val="100000"/>
              <a:buChar char="•"/>
            </a:pPr>
            <a:r>
              <a:rPr lang="en-US" sz="2000" dirty="0">
                <a:solidFill>
                  <a:srgbClr val="E2E8F0"/>
                </a:solidFill>
              </a:rPr>
              <a:t>These widgets rarely demand all available space by default.</a:t>
            </a:r>
            <a:endParaRPr lang="en-US" sz="2000" dirty="0"/>
          </a:p>
        </p:txBody>
      </p:sp>
      <p:sp>
        <p:nvSpPr>
          <p:cNvPr id="10" name="Shape 8"/>
          <p:cNvSpPr/>
          <p:nvPr/>
        </p:nvSpPr>
        <p:spPr>
          <a:xfrm>
            <a:off x="6263640" y="1325880"/>
            <a:ext cx="5120640" cy="4480560"/>
          </a:xfrm>
          <a:prstGeom prst="roundRect">
            <a:avLst>
              <a:gd name="adj" fmla="val 1020"/>
            </a:avLst>
          </a:prstGeom>
          <a:solidFill>
            <a:srgbClr val="0B1220"/>
          </a:solidFill>
          <a:ln w="12700">
            <a:solidFill>
              <a:srgbClr val="1E293B"/>
            </a:solidFill>
            <a:prstDash val="solid"/>
          </a:ln>
        </p:spPr>
      </p:sp>
      <p:sp>
        <p:nvSpPr>
          <p:cNvPr id="11" name="Text 9"/>
          <p:cNvSpPr/>
          <p:nvPr/>
        </p:nvSpPr>
        <p:spPr>
          <a:xfrm>
            <a:off x="6537960" y="1572768"/>
            <a:ext cx="2011680" cy="228600"/>
          </a:xfrm>
          <a:prstGeom prst="rect">
            <a:avLst/>
          </a:prstGeom>
          <a:noFill/>
          <a:ln/>
        </p:spPr>
        <p:txBody>
          <a:bodyPr wrap="square" lIns="0" tIns="0" rIns="0" bIns="0" rtlCol="0" anchor="ctr"/>
          <a:lstStyle/>
          <a:p>
            <a:pPr marL="0" indent="0">
              <a:buNone/>
            </a:pPr>
            <a:r>
              <a:rPr lang="en-US" sz="2000" b="1" dirty="0">
                <a:solidFill>
                  <a:srgbClr val="FB7185"/>
                </a:solidFill>
              </a:rPr>
              <a:t>Greedy behavior</a:t>
            </a:r>
            <a:endParaRPr lang="en-US" sz="2000" dirty="0"/>
          </a:p>
        </p:txBody>
      </p:sp>
      <p:sp>
        <p:nvSpPr>
          <p:cNvPr id="12" name="Text 10"/>
          <p:cNvSpPr/>
          <p:nvPr/>
        </p:nvSpPr>
        <p:spPr>
          <a:xfrm>
            <a:off x="6473952" y="1901952"/>
            <a:ext cx="4389120" cy="2377440"/>
          </a:xfrm>
          <a:prstGeom prst="rect">
            <a:avLst/>
          </a:prstGeom>
          <a:noFill/>
          <a:ln/>
        </p:spPr>
        <p:txBody>
          <a:bodyPr wrap="square" lIns="508" tIns="508" rIns="508" bIns="508" rtlCol="0" anchor="t">
            <a:normAutofit/>
          </a:bodyPr>
          <a:lstStyle/>
          <a:p>
            <a:pPr marL="194310" indent="-194310">
              <a:buSzPct val="100000"/>
              <a:buChar char="•"/>
            </a:pPr>
            <a:r>
              <a:rPr lang="en-US" sz="2000" dirty="0">
                <a:solidFill>
                  <a:srgbClr val="E2E8F0"/>
                </a:solidFill>
              </a:rPr>
              <a:t>Scrollable widgets such as ListView want to expand in the scrolling direction.</a:t>
            </a:r>
            <a:endParaRPr lang="en-US" sz="2000" dirty="0"/>
          </a:p>
          <a:p>
            <a:pPr marL="194310" indent="-194310">
              <a:buSzPct val="100000"/>
              <a:buChar char="•"/>
            </a:pPr>
            <a:r>
              <a:rPr lang="en-US" sz="2000" dirty="0">
                <a:solidFill>
                  <a:srgbClr val="E2E8F0"/>
                </a:solidFill>
              </a:rPr>
              <a:t>If their parent does not limit them, they may ask for “infinite” room.</a:t>
            </a:r>
            <a:endParaRPr lang="en-US" sz="2000" dirty="0"/>
          </a:p>
          <a:p>
            <a:pPr marL="194310" indent="-194310">
              <a:buSzPct val="100000"/>
              <a:buChar char="•"/>
            </a:pPr>
            <a:r>
              <a:rPr lang="en-US" sz="2000" dirty="0">
                <a:solidFill>
                  <a:srgbClr val="E2E8F0"/>
                </a:solidFill>
              </a:rPr>
              <a:t>That is the conceptual root of the unbounded-height problem.</a:t>
            </a:r>
            <a:endParaRPr lang="en-US" sz="2000" dirty="0"/>
          </a:p>
        </p:txBody>
      </p:sp>
      <p:sp>
        <p:nvSpPr>
          <p:cNvPr id="13" name="Text 11"/>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The dreaded “unbounded height” error</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One of the most important Flutter layout bugs to understand</a:t>
            </a:r>
            <a:endParaRPr lang="en-US" sz="1400" dirty="0"/>
          </a:p>
        </p:txBody>
      </p:sp>
      <p:sp>
        <p:nvSpPr>
          <p:cNvPr id="7" name="Shape 5"/>
          <p:cNvSpPr/>
          <p:nvPr/>
        </p:nvSpPr>
        <p:spPr>
          <a:xfrm>
            <a:off x="731520" y="1143000"/>
            <a:ext cx="4206240" cy="5303520"/>
          </a:xfrm>
          <a:prstGeom prst="roundRect">
            <a:avLst>
              <a:gd name="adj" fmla="val 1739"/>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8" name="Image 0" descr="/mnt/data/ch11_12_assets/page-208.png"/>
          <p:cNvPicPr>
            <a:picLocks noChangeAspect="1"/>
          </p:cNvPicPr>
          <p:nvPr/>
        </p:nvPicPr>
        <p:blipFill>
          <a:blip r:embed="rId3"/>
          <a:stretch>
            <a:fillRect/>
          </a:stretch>
        </p:blipFill>
        <p:spPr>
          <a:xfrm>
            <a:off x="1132907" y="1216152"/>
            <a:ext cx="3403465" cy="5157216"/>
          </a:xfrm>
          <a:prstGeom prst="rect">
            <a:avLst/>
          </a:prstGeom>
        </p:spPr>
      </p:pic>
      <p:sp>
        <p:nvSpPr>
          <p:cNvPr id="9" name="Text 6"/>
          <p:cNvSpPr/>
          <p:nvPr/>
        </p:nvSpPr>
        <p:spPr>
          <a:xfrm>
            <a:off x="5303520" y="1325880"/>
            <a:ext cx="5486400" cy="4389120"/>
          </a:xfrm>
          <a:prstGeom prst="rect">
            <a:avLst/>
          </a:prstGeom>
          <a:noFill/>
          <a:ln/>
        </p:spPr>
        <p:txBody>
          <a:bodyPr wrap="square" lIns="508" tIns="508" rIns="508" bIns="508" rtlCol="0" anchor="t">
            <a:normAutofit/>
          </a:bodyPr>
          <a:lstStyle/>
          <a:p>
            <a:pPr marL="205740" indent="-205740">
              <a:buSzPct val="100000"/>
              <a:buChar char="•"/>
            </a:pPr>
            <a:r>
              <a:rPr lang="en-US" sz="2000" dirty="0">
                <a:solidFill>
                  <a:srgbClr val="E2E8F0"/>
                </a:solidFill>
              </a:rPr>
              <a:t>The core message is not that Flutter is broken—it is that a child wants more space than any ancestor is willing to bound.</a:t>
            </a:r>
            <a:endParaRPr lang="en-US" sz="2000" dirty="0"/>
          </a:p>
          <a:p>
            <a:pPr marL="205740" indent="-205740">
              <a:buSzPct val="100000"/>
              <a:buChar char="•"/>
            </a:pPr>
            <a:r>
              <a:rPr lang="en-US" sz="2000" dirty="0">
                <a:solidFill>
                  <a:srgbClr val="E2E8F0"/>
                </a:solidFill>
              </a:rPr>
              <a:t>A vertical viewport such as ListView expands in the scroll direction.</a:t>
            </a:r>
            <a:endParaRPr lang="en-US" sz="2000" dirty="0"/>
          </a:p>
          <a:p>
            <a:pPr marL="205740" indent="-205740">
              <a:buSzPct val="100000"/>
              <a:buChar char="•"/>
            </a:pPr>
            <a:r>
              <a:rPr lang="en-US" sz="2000" dirty="0">
                <a:solidFill>
                  <a:srgbClr val="E2E8F0"/>
                </a:solidFill>
              </a:rPr>
              <a:t>If you place it inside a parent that says “be as big as you want,” the result becomes logically infinite height.</a:t>
            </a:r>
            <a:endParaRPr lang="en-US" sz="2000" dirty="0"/>
          </a:p>
          <a:p>
            <a:pPr marL="205740" indent="-205740">
              <a:buSzPct val="100000"/>
              <a:buChar char="•"/>
            </a:pPr>
            <a:r>
              <a:rPr lang="en-US" sz="2000" dirty="0">
                <a:solidFill>
                  <a:srgbClr val="E2E8F0"/>
                </a:solidFill>
              </a:rPr>
              <a:t>The framework then throws because it cannot produce a valid finite layout.</a:t>
            </a:r>
            <a:endParaRPr lang="en-US" sz="2000" dirty="0"/>
          </a:p>
        </p:txBody>
      </p:sp>
      <p:sp>
        <p:nvSpPr>
          <p:cNvPr id="10" name="Text 7"/>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Overflow is different from unbounded height</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Too many children can overflow even without a runtime exception</a:t>
            </a:r>
            <a:endParaRPr lang="en-US" sz="1400" dirty="0"/>
          </a:p>
        </p:txBody>
      </p:sp>
      <p:sp>
        <p:nvSpPr>
          <p:cNvPr id="7" name="Shape 5"/>
          <p:cNvSpPr/>
          <p:nvPr/>
        </p:nvSpPr>
        <p:spPr>
          <a:xfrm>
            <a:off x="777240" y="1143000"/>
            <a:ext cx="4572000" cy="5349240"/>
          </a:xfrm>
          <a:prstGeom prst="roundRect">
            <a:avLst>
              <a:gd name="adj" fmla="val 1600"/>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8" name="Image 0" descr="/mnt/data/ch11_12_assets/page-210.png"/>
          <p:cNvPicPr>
            <a:picLocks noChangeAspect="1"/>
          </p:cNvPicPr>
          <p:nvPr/>
        </p:nvPicPr>
        <p:blipFill>
          <a:blip r:embed="rId3"/>
          <a:stretch>
            <a:fillRect/>
          </a:stretch>
        </p:blipFill>
        <p:spPr>
          <a:xfrm>
            <a:off x="1346421" y="1216152"/>
            <a:ext cx="3433638" cy="5202936"/>
          </a:xfrm>
          <a:prstGeom prst="rect">
            <a:avLst/>
          </a:prstGeom>
        </p:spPr>
      </p:pic>
      <p:sp>
        <p:nvSpPr>
          <p:cNvPr id="9" name="Text 6"/>
          <p:cNvSpPr/>
          <p:nvPr/>
        </p:nvSpPr>
        <p:spPr>
          <a:xfrm>
            <a:off x="5669279" y="1325880"/>
            <a:ext cx="6235849" cy="4480560"/>
          </a:xfrm>
          <a:prstGeom prst="rect">
            <a:avLst/>
          </a:prstGeom>
          <a:noFill/>
          <a:ln/>
        </p:spPr>
        <p:txBody>
          <a:bodyPr wrap="square" lIns="508" tIns="508" rIns="508" bIns="508" rtlCol="0" anchor="t">
            <a:normAutofit/>
          </a:bodyPr>
          <a:lstStyle/>
          <a:p>
            <a:pPr marL="194310" indent="-194310">
              <a:buSzPct val="100000"/>
              <a:buChar char="•"/>
            </a:pPr>
            <a:r>
              <a:rPr lang="en-US" sz="2400" dirty="0">
                <a:solidFill>
                  <a:srgbClr val="E2E8F0"/>
                </a:solidFill>
              </a:rPr>
              <a:t>A Column with a few Text widgets is fine.</a:t>
            </a:r>
            <a:endParaRPr lang="en-US" sz="2400" dirty="0"/>
          </a:p>
          <a:p>
            <a:pPr marL="194310" indent="-194310">
              <a:buSzPct val="100000"/>
              <a:buChar char="•"/>
            </a:pPr>
            <a:r>
              <a:rPr lang="en-US" sz="2400" dirty="0">
                <a:solidFill>
                  <a:srgbClr val="E2E8F0"/>
                </a:solidFill>
              </a:rPr>
              <a:t>A Column with 80 generated Text widgets can draw past the bottom of the screen.</a:t>
            </a:r>
            <a:endParaRPr lang="en-US" sz="2400" dirty="0"/>
          </a:p>
          <a:p>
            <a:pPr marL="194310" indent="-194310">
              <a:buSzPct val="100000"/>
              <a:buChar char="•"/>
            </a:pPr>
            <a:r>
              <a:rPr lang="en-US" sz="2400" dirty="0">
                <a:solidFill>
                  <a:srgbClr val="E2E8F0"/>
                </a:solidFill>
              </a:rPr>
              <a:t>That visual overflow is ugly, but it is still not the same bug as infinite height.</a:t>
            </a:r>
            <a:endParaRPr lang="en-US" sz="2400" dirty="0"/>
          </a:p>
          <a:p>
            <a:pPr marL="194310" indent="-194310">
              <a:buSzPct val="100000"/>
              <a:buChar char="•"/>
            </a:pPr>
            <a:r>
              <a:rPr lang="en-US" sz="2400" dirty="0">
                <a:solidFill>
                  <a:srgbClr val="E2E8F0"/>
                </a:solidFill>
              </a:rPr>
              <a:t>Students should distinguish: overflow = content exceeds viewport; unbounded height = parent failed to impose constraints on a greedy child.</a:t>
            </a:r>
            <a:endParaRPr lang="en-US" sz="2400" dirty="0"/>
          </a:p>
        </p:txBody>
      </p:sp>
      <p:sp>
        <p:nvSpPr>
          <p:cNvPr id="10" name="Text 7"/>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Why “just use ListView” can backfire</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The classic bad fix from the chapter</a:t>
            </a:r>
            <a:endParaRPr lang="en-US" sz="1400" dirty="0"/>
          </a:p>
        </p:txBody>
      </p:sp>
      <p:sp>
        <p:nvSpPr>
          <p:cNvPr id="7" name="Shape 5"/>
          <p:cNvSpPr/>
          <p:nvPr/>
        </p:nvSpPr>
        <p:spPr>
          <a:xfrm>
            <a:off x="777240" y="1299882"/>
            <a:ext cx="5120640" cy="3291840"/>
          </a:xfrm>
          <a:prstGeom prst="roundRect">
            <a:avLst>
              <a:gd name="adj" fmla="val 1944"/>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8" name="Text 6"/>
          <p:cNvSpPr/>
          <p:nvPr/>
        </p:nvSpPr>
        <p:spPr>
          <a:xfrm>
            <a:off x="923544" y="1399032"/>
            <a:ext cx="4828032" cy="164592"/>
          </a:xfrm>
          <a:prstGeom prst="rect">
            <a:avLst/>
          </a:prstGeom>
          <a:noFill/>
          <a:ln/>
        </p:spPr>
        <p:txBody>
          <a:bodyPr wrap="square" lIns="0" tIns="0" rIns="0" bIns="0" rtlCol="0" anchor="ctr"/>
          <a:lstStyle/>
          <a:p>
            <a:pPr marL="0" indent="0">
              <a:buNone/>
            </a:pPr>
            <a:r>
              <a:rPr lang="en-US" sz="1100" b="1" dirty="0">
                <a:solidFill>
                  <a:srgbClr val="93C5FD"/>
                </a:solidFill>
              </a:rPr>
              <a:t>Naive replacement</a:t>
            </a:r>
            <a:endParaRPr lang="en-US" sz="1100" dirty="0"/>
          </a:p>
        </p:txBody>
      </p:sp>
      <p:sp>
        <p:nvSpPr>
          <p:cNvPr id="9" name="Text 7"/>
          <p:cNvSpPr/>
          <p:nvPr/>
        </p:nvSpPr>
        <p:spPr>
          <a:xfrm>
            <a:off x="905256" y="1627632"/>
            <a:ext cx="4864608" cy="2907792"/>
          </a:xfrm>
          <a:prstGeom prst="rect">
            <a:avLst/>
          </a:prstGeom>
          <a:noFill/>
          <a:ln/>
        </p:spPr>
        <p:txBody>
          <a:bodyPr wrap="square" lIns="254" tIns="254" rIns="254" bIns="25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Column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crossAxisAlignment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CrossAxisAlignment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center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'Some random strings for you'</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style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big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ListView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randomTexts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9 </a:t>
            </a:r>
            <a:r>
              <a:rPr lang="en-US" sz="1400" dirty="0">
                <a:solidFill>
                  <a:srgbClr val="F8F8F2"/>
                </a:solidFill>
                <a:latin typeface="Consolas" pitchFamily="34" charset="0"/>
                <a:ea typeface="Consolas" pitchFamily="34" charset="-122"/>
                <a:cs typeface="Consolas" pitchFamily="34" charset="-120"/>
              </a:rPr>
              <a:t>);</a:t>
            </a:r>
            <a:endParaRPr lang="en-US" sz="1100" dirty="0"/>
          </a:p>
        </p:txBody>
      </p:sp>
      <p:sp>
        <p:nvSpPr>
          <p:cNvPr id="10" name="Text 8"/>
          <p:cNvSpPr/>
          <p:nvPr/>
        </p:nvSpPr>
        <p:spPr>
          <a:xfrm>
            <a:off x="868680" y="4591722"/>
            <a:ext cx="4846320" cy="1470750"/>
          </a:xfrm>
          <a:prstGeom prst="rect">
            <a:avLst/>
          </a:prstGeom>
          <a:noFill/>
          <a:ln/>
        </p:spPr>
        <p:txBody>
          <a:bodyPr wrap="square" lIns="508" tIns="508" rIns="508" bIns="508" rtlCol="0" anchor="t">
            <a:noAutofit/>
          </a:bodyPr>
          <a:lstStyle/>
          <a:p>
            <a:pPr marL="171450" indent="-171450">
              <a:buSzPct val="100000"/>
              <a:buChar char="•"/>
            </a:pPr>
            <a:r>
              <a:rPr lang="en-US" dirty="0">
                <a:solidFill>
                  <a:srgbClr val="E2E8F0"/>
                </a:solidFill>
              </a:rPr>
              <a:t>The intention is reasonable: make the list scrollable.</a:t>
            </a:r>
            <a:endParaRPr lang="en-US" dirty="0"/>
          </a:p>
          <a:p>
            <a:pPr marL="171450" indent="-171450">
              <a:buSzPct val="100000"/>
              <a:buChar char="•"/>
            </a:pPr>
            <a:r>
              <a:rPr lang="en-US" dirty="0">
                <a:solidFill>
                  <a:srgbClr val="E2E8F0"/>
                </a:solidFill>
              </a:rPr>
              <a:t>But Column does not limit the child's height.</a:t>
            </a:r>
            <a:endParaRPr lang="en-US" dirty="0"/>
          </a:p>
          <a:p>
            <a:pPr marL="171450" indent="-171450">
              <a:buSzPct val="100000"/>
              <a:buChar char="•"/>
            </a:pPr>
            <a:r>
              <a:rPr lang="en-US" dirty="0">
                <a:solidFill>
                  <a:srgbClr val="E2E8F0"/>
                </a:solidFill>
              </a:rPr>
              <a:t>ListView is greedy and tries to grow vertically as far as it can.</a:t>
            </a:r>
            <a:endParaRPr lang="en-US" dirty="0"/>
          </a:p>
          <a:p>
            <a:pPr marL="171450" indent="-171450">
              <a:buSzPct val="100000"/>
              <a:buChar char="•"/>
            </a:pPr>
            <a:r>
              <a:rPr lang="en-US" dirty="0">
                <a:solidFill>
                  <a:srgbClr val="E2E8F0"/>
                </a:solidFill>
              </a:rPr>
              <a:t>Therefore the fix causes a harder error than the original overflow.</a:t>
            </a:r>
            <a:endParaRPr lang="en-US" dirty="0"/>
          </a:p>
        </p:txBody>
      </p:sp>
      <p:sp>
        <p:nvSpPr>
          <p:cNvPr id="11" name="Shape 9"/>
          <p:cNvSpPr/>
          <p:nvPr/>
        </p:nvSpPr>
        <p:spPr>
          <a:xfrm>
            <a:off x="6263640" y="1143000"/>
            <a:ext cx="4892040" cy="5394960"/>
          </a:xfrm>
          <a:prstGeom prst="roundRect">
            <a:avLst>
              <a:gd name="adj" fmla="val 1495"/>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12" name="Image 0" descr="/mnt/data/ch11_12_assets/page-211.png"/>
          <p:cNvPicPr>
            <a:picLocks noChangeAspect="1"/>
          </p:cNvPicPr>
          <p:nvPr/>
        </p:nvPicPr>
        <p:blipFill>
          <a:blip r:embed="rId3"/>
          <a:stretch>
            <a:fillRect/>
          </a:stretch>
        </p:blipFill>
        <p:spPr>
          <a:xfrm>
            <a:off x="6977755" y="1216152"/>
            <a:ext cx="3463810" cy="5248656"/>
          </a:xfrm>
          <a:prstGeom prst="rect">
            <a:avLst/>
          </a:prstGeom>
        </p:spPr>
      </p:pic>
      <p:sp>
        <p:nvSpPr>
          <p:cNvPr id="13"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Practical fixes for the problem</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What the parent must do: stop the child from growing forever</a:t>
            </a:r>
            <a:endParaRPr lang="en-US" sz="1400" dirty="0"/>
          </a:p>
        </p:txBody>
      </p:sp>
      <p:sp>
        <p:nvSpPr>
          <p:cNvPr id="7" name="Shape 5"/>
          <p:cNvSpPr/>
          <p:nvPr/>
        </p:nvSpPr>
        <p:spPr>
          <a:xfrm>
            <a:off x="822960" y="1325880"/>
            <a:ext cx="10515600" cy="804672"/>
          </a:xfrm>
          <a:prstGeom prst="roundRect">
            <a:avLst>
              <a:gd name="adj" fmla="val 5682"/>
            </a:avLst>
          </a:prstGeom>
          <a:solidFill>
            <a:srgbClr val="0B1220"/>
          </a:solidFill>
          <a:ln w="12700">
            <a:solidFill>
              <a:srgbClr val="22C55E"/>
            </a:solidFill>
            <a:prstDash val="solid"/>
          </a:ln>
        </p:spPr>
      </p:sp>
      <p:sp>
        <p:nvSpPr>
          <p:cNvPr id="8" name="Text 6"/>
          <p:cNvSpPr/>
          <p:nvPr/>
        </p:nvSpPr>
        <p:spPr>
          <a:xfrm>
            <a:off x="1078992" y="1435608"/>
            <a:ext cx="2468880" cy="256032"/>
          </a:xfrm>
          <a:prstGeom prst="rect">
            <a:avLst/>
          </a:prstGeom>
          <a:noFill/>
          <a:ln/>
        </p:spPr>
        <p:txBody>
          <a:bodyPr wrap="square" lIns="0" tIns="0" rIns="0" bIns="0" rtlCol="0" anchor="ctr"/>
          <a:lstStyle/>
          <a:p>
            <a:pPr marL="0" indent="0">
              <a:buNone/>
            </a:pPr>
            <a:r>
              <a:rPr lang="en-US" sz="1700" b="1" dirty="0">
                <a:solidFill>
                  <a:srgbClr val="F8FAFC"/>
                </a:solidFill>
              </a:rPr>
              <a:t>Wrap ListView in Expanded</a:t>
            </a:r>
            <a:endParaRPr lang="en-US" sz="1700" dirty="0"/>
          </a:p>
        </p:txBody>
      </p:sp>
      <p:sp>
        <p:nvSpPr>
          <p:cNvPr id="9" name="Text 7"/>
          <p:cNvSpPr/>
          <p:nvPr/>
        </p:nvSpPr>
        <p:spPr>
          <a:xfrm>
            <a:off x="3703320" y="1435608"/>
            <a:ext cx="6903720" cy="420624"/>
          </a:xfrm>
          <a:prstGeom prst="rect">
            <a:avLst/>
          </a:prstGeom>
          <a:noFill/>
          <a:ln/>
        </p:spPr>
        <p:txBody>
          <a:bodyPr wrap="square" lIns="0" tIns="0" rIns="0" bIns="0" rtlCol="0" anchor="ctr"/>
          <a:lstStyle/>
          <a:p>
            <a:pPr marL="0" indent="0">
              <a:buNone/>
            </a:pPr>
            <a:r>
              <a:rPr lang="en-US" sz="1500" dirty="0">
                <a:solidFill>
                  <a:srgbClr val="E2E8F0"/>
                </a:solidFill>
              </a:rPr>
              <a:t>Lets the parent allocate the remaining finite space in a Flex layout.</a:t>
            </a:r>
            <a:endParaRPr lang="en-US" sz="1500" dirty="0"/>
          </a:p>
        </p:txBody>
      </p:sp>
      <p:sp>
        <p:nvSpPr>
          <p:cNvPr id="10" name="Shape 8"/>
          <p:cNvSpPr/>
          <p:nvPr/>
        </p:nvSpPr>
        <p:spPr>
          <a:xfrm>
            <a:off x="822960" y="2423160"/>
            <a:ext cx="10515600" cy="804672"/>
          </a:xfrm>
          <a:prstGeom prst="roundRect">
            <a:avLst>
              <a:gd name="adj" fmla="val 5682"/>
            </a:avLst>
          </a:prstGeom>
          <a:solidFill>
            <a:srgbClr val="0B1220"/>
          </a:solidFill>
          <a:ln w="12700">
            <a:solidFill>
              <a:srgbClr val="1E293B"/>
            </a:solidFill>
            <a:prstDash val="solid"/>
          </a:ln>
        </p:spPr>
      </p:sp>
      <p:sp>
        <p:nvSpPr>
          <p:cNvPr id="11" name="Text 9"/>
          <p:cNvSpPr/>
          <p:nvPr/>
        </p:nvSpPr>
        <p:spPr>
          <a:xfrm>
            <a:off x="1078992" y="2532888"/>
            <a:ext cx="2468880" cy="256032"/>
          </a:xfrm>
          <a:prstGeom prst="rect">
            <a:avLst/>
          </a:prstGeom>
          <a:noFill/>
          <a:ln/>
        </p:spPr>
        <p:txBody>
          <a:bodyPr wrap="square" lIns="0" tIns="0" rIns="0" bIns="0" rtlCol="0" anchor="ctr"/>
          <a:lstStyle/>
          <a:p>
            <a:pPr marL="0" indent="0">
              <a:buNone/>
            </a:pPr>
            <a:r>
              <a:rPr lang="en-US" sz="1700" b="1" dirty="0">
                <a:solidFill>
                  <a:srgbClr val="F8FAFC"/>
                </a:solidFill>
              </a:rPr>
              <a:t>Wrap it in SizedBox</a:t>
            </a:r>
            <a:endParaRPr lang="en-US" sz="1700" dirty="0"/>
          </a:p>
        </p:txBody>
      </p:sp>
      <p:sp>
        <p:nvSpPr>
          <p:cNvPr id="12" name="Text 10"/>
          <p:cNvSpPr/>
          <p:nvPr/>
        </p:nvSpPr>
        <p:spPr>
          <a:xfrm>
            <a:off x="3703320" y="2532888"/>
            <a:ext cx="6903720" cy="420624"/>
          </a:xfrm>
          <a:prstGeom prst="rect">
            <a:avLst/>
          </a:prstGeom>
          <a:noFill/>
          <a:ln/>
        </p:spPr>
        <p:txBody>
          <a:bodyPr wrap="square" lIns="0" tIns="0" rIns="0" bIns="0" rtlCol="0" anchor="ctr"/>
          <a:lstStyle/>
          <a:p>
            <a:pPr marL="0" indent="0">
              <a:buNone/>
            </a:pPr>
            <a:r>
              <a:rPr lang="en-US" sz="1500" dirty="0">
                <a:solidFill>
                  <a:srgbClr val="E2E8F0"/>
                </a:solidFill>
              </a:rPr>
              <a:t>Locks the height to an explicit finite value.</a:t>
            </a:r>
            <a:endParaRPr lang="en-US" sz="1500" dirty="0"/>
          </a:p>
        </p:txBody>
      </p:sp>
      <p:sp>
        <p:nvSpPr>
          <p:cNvPr id="13" name="Shape 11"/>
          <p:cNvSpPr/>
          <p:nvPr/>
        </p:nvSpPr>
        <p:spPr>
          <a:xfrm>
            <a:off x="822960" y="3520440"/>
            <a:ext cx="10515600" cy="804672"/>
          </a:xfrm>
          <a:prstGeom prst="roundRect">
            <a:avLst>
              <a:gd name="adj" fmla="val 5682"/>
            </a:avLst>
          </a:prstGeom>
          <a:solidFill>
            <a:srgbClr val="0B1220"/>
          </a:solidFill>
          <a:ln w="12700">
            <a:solidFill>
              <a:srgbClr val="1E293B"/>
            </a:solidFill>
            <a:prstDash val="solid"/>
          </a:ln>
        </p:spPr>
      </p:sp>
      <p:sp>
        <p:nvSpPr>
          <p:cNvPr id="14" name="Text 12"/>
          <p:cNvSpPr/>
          <p:nvPr/>
        </p:nvSpPr>
        <p:spPr>
          <a:xfrm>
            <a:off x="1078992" y="3630168"/>
            <a:ext cx="2468880" cy="256032"/>
          </a:xfrm>
          <a:prstGeom prst="rect">
            <a:avLst/>
          </a:prstGeom>
          <a:noFill/>
          <a:ln/>
        </p:spPr>
        <p:txBody>
          <a:bodyPr wrap="square" lIns="0" tIns="0" rIns="0" bIns="0" rtlCol="0" anchor="ctr"/>
          <a:lstStyle/>
          <a:p>
            <a:pPr marL="0" indent="0">
              <a:buNone/>
            </a:pPr>
            <a:r>
              <a:rPr lang="en-US" sz="1700" b="1" dirty="0">
                <a:solidFill>
                  <a:srgbClr val="F8FAFC"/>
                </a:solidFill>
              </a:rPr>
              <a:t>Use LimitedBox</a:t>
            </a:r>
            <a:endParaRPr lang="en-US" sz="1700" dirty="0"/>
          </a:p>
        </p:txBody>
      </p:sp>
      <p:sp>
        <p:nvSpPr>
          <p:cNvPr id="15" name="Text 13"/>
          <p:cNvSpPr/>
          <p:nvPr/>
        </p:nvSpPr>
        <p:spPr>
          <a:xfrm>
            <a:off x="3703320" y="3630168"/>
            <a:ext cx="6903720" cy="420624"/>
          </a:xfrm>
          <a:prstGeom prst="rect">
            <a:avLst/>
          </a:prstGeom>
          <a:noFill/>
          <a:ln/>
        </p:spPr>
        <p:txBody>
          <a:bodyPr wrap="square" lIns="0" tIns="0" rIns="0" bIns="0" rtlCol="0" anchor="ctr"/>
          <a:lstStyle/>
          <a:p>
            <a:pPr marL="0" indent="0">
              <a:buNone/>
            </a:pPr>
            <a:r>
              <a:rPr lang="en-US" sz="1500" dirty="0">
                <a:solidFill>
                  <a:srgbClr val="E2E8F0"/>
                </a:solidFill>
              </a:rPr>
              <a:t>Provides maxWidth / maxHeight without hard-coding one exact size.</a:t>
            </a:r>
            <a:endParaRPr lang="en-US" sz="1500" dirty="0"/>
          </a:p>
        </p:txBody>
      </p:sp>
      <p:sp>
        <p:nvSpPr>
          <p:cNvPr id="16" name="Shape 14"/>
          <p:cNvSpPr/>
          <p:nvPr/>
        </p:nvSpPr>
        <p:spPr>
          <a:xfrm>
            <a:off x="822960" y="4617720"/>
            <a:ext cx="10515600" cy="804672"/>
          </a:xfrm>
          <a:prstGeom prst="roundRect">
            <a:avLst>
              <a:gd name="adj" fmla="val 5682"/>
            </a:avLst>
          </a:prstGeom>
          <a:solidFill>
            <a:srgbClr val="0B1220"/>
          </a:solidFill>
          <a:ln w="12700">
            <a:solidFill>
              <a:srgbClr val="1E293B"/>
            </a:solidFill>
            <a:prstDash val="solid"/>
          </a:ln>
        </p:spPr>
      </p:sp>
      <p:sp>
        <p:nvSpPr>
          <p:cNvPr id="17" name="Text 15"/>
          <p:cNvSpPr/>
          <p:nvPr/>
        </p:nvSpPr>
        <p:spPr>
          <a:xfrm>
            <a:off x="1078992" y="4727448"/>
            <a:ext cx="2468880" cy="256032"/>
          </a:xfrm>
          <a:prstGeom prst="rect">
            <a:avLst/>
          </a:prstGeom>
          <a:noFill/>
          <a:ln/>
        </p:spPr>
        <p:txBody>
          <a:bodyPr wrap="square" lIns="0" tIns="0" rIns="0" bIns="0" rtlCol="0" anchor="ctr"/>
          <a:lstStyle/>
          <a:p>
            <a:pPr marL="0" indent="0">
              <a:buNone/>
            </a:pPr>
            <a:r>
              <a:rPr lang="en-US" sz="1700" b="1" dirty="0">
                <a:solidFill>
                  <a:srgbClr val="F8FAFC"/>
                </a:solidFill>
              </a:rPr>
              <a:t>Swap parent/child roles when appropriate</a:t>
            </a:r>
            <a:endParaRPr lang="en-US" sz="1700" dirty="0"/>
          </a:p>
        </p:txBody>
      </p:sp>
      <p:sp>
        <p:nvSpPr>
          <p:cNvPr id="18" name="Text 16"/>
          <p:cNvSpPr/>
          <p:nvPr/>
        </p:nvSpPr>
        <p:spPr>
          <a:xfrm>
            <a:off x="3703320" y="4727448"/>
            <a:ext cx="6903720" cy="420624"/>
          </a:xfrm>
          <a:prstGeom prst="rect">
            <a:avLst/>
          </a:prstGeom>
          <a:noFill/>
          <a:ln/>
        </p:spPr>
        <p:txBody>
          <a:bodyPr wrap="square" lIns="0" tIns="0" rIns="0" bIns="0" rtlCol="0" anchor="ctr"/>
          <a:lstStyle/>
          <a:p>
            <a:pPr marL="0" indent="0">
              <a:buNone/>
            </a:pPr>
            <a:r>
              <a:rPr lang="en-US" sz="1500" dirty="0">
                <a:solidFill>
                  <a:srgbClr val="E2E8F0"/>
                </a:solidFill>
              </a:rPr>
              <a:t>A Column can live inside a ListView more safely than the reverse.</a:t>
            </a:r>
            <a:endParaRPr lang="en-US" sz="1500" dirty="0"/>
          </a:p>
        </p:txBody>
      </p:sp>
      <p:sp>
        <p:nvSpPr>
          <p:cNvPr id="19" name="Text 17"/>
          <p:cNvSpPr/>
          <p:nvPr/>
        </p:nvSpPr>
        <p:spPr>
          <a:xfrm>
            <a:off x="868680" y="5989320"/>
            <a:ext cx="5943600" cy="228600"/>
          </a:xfrm>
          <a:prstGeom prst="rect">
            <a:avLst/>
          </a:prstGeom>
          <a:noFill/>
          <a:ln/>
        </p:spPr>
        <p:txBody>
          <a:bodyPr wrap="square" lIns="0" tIns="0" rIns="0" bIns="0" rtlCol="0" anchor="ctr"/>
          <a:lstStyle/>
          <a:p>
            <a:pPr marL="0" indent="0">
              <a:buNone/>
            </a:pPr>
            <a:r>
              <a:rPr lang="en-US" sz="1500" i="1" dirty="0">
                <a:solidFill>
                  <a:srgbClr val="CBD5E1"/>
                </a:solidFill>
              </a:rPr>
              <a:t>Engineering lesson: fix the constraint system, not just the symptom.</a:t>
            </a:r>
            <a:endParaRPr lang="en-US" sz="1500" dirty="0"/>
          </a:p>
        </p:txBody>
      </p:sp>
      <p:sp>
        <p:nvSpPr>
          <p:cNvPr id="20" name="Text 18"/>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Chapter 11 recap</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What students should retain before moving to positioning</a:t>
            </a:r>
            <a:endParaRPr lang="en-US" sz="1400" dirty="0"/>
          </a:p>
        </p:txBody>
      </p:sp>
      <p:sp>
        <p:nvSpPr>
          <p:cNvPr id="7" name="Text 5"/>
          <p:cNvSpPr/>
          <p:nvPr/>
        </p:nvSpPr>
        <p:spPr>
          <a:xfrm>
            <a:off x="777240" y="1417320"/>
            <a:ext cx="10515600" cy="3840480"/>
          </a:xfrm>
          <a:prstGeom prst="rect">
            <a:avLst/>
          </a:prstGeom>
          <a:noFill/>
          <a:ln/>
        </p:spPr>
        <p:txBody>
          <a:bodyPr wrap="square" lIns="508" tIns="508" rIns="508" bIns="508" rtlCol="0" anchor="t">
            <a:normAutofit/>
          </a:bodyPr>
          <a:lstStyle/>
          <a:p>
            <a:pPr marL="228600" indent="-228600">
              <a:buSzPct val="100000"/>
              <a:buChar char="•"/>
            </a:pPr>
            <a:r>
              <a:rPr lang="en-US" sz="2400" dirty="0">
                <a:solidFill>
                  <a:srgbClr val="E2E8F0"/>
                </a:solidFill>
              </a:rPr>
              <a:t>MaterialApp defines the outer application framework, while Scaffold defines the visible shell of a scene.</a:t>
            </a:r>
            <a:endParaRPr lang="en-US" sz="2400" dirty="0"/>
          </a:p>
          <a:p>
            <a:pPr marL="228600" indent="-228600">
              <a:buSzPct val="100000"/>
              <a:buChar char="•"/>
            </a:pPr>
            <a:r>
              <a:rPr lang="en-US" sz="2400" dirty="0">
                <a:solidFill>
                  <a:srgbClr val="E2E8F0"/>
                </a:solidFill>
              </a:rPr>
              <a:t>AppBar and SafeArea are not cosmetic—they encode device and UX conventions.</a:t>
            </a:r>
            <a:endParaRPr lang="en-US" sz="2400" dirty="0"/>
          </a:p>
          <a:p>
            <a:pPr marL="228600" indent="-228600">
              <a:buSzPct val="100000"/>
              <a:buChar char="•"/>
            </a:pPr>
            <a:r>
              <a:rPr lang="en-US" sz="2400" dirty="0">
                <a:solidFill>
                  <a:srgbClr val="E2E8F0"/>
                </a:solidFill>
              </a:rPr>
              <a:t>Flutter layout is driven by constraints flowing down and preferred sizes flowing up.</a:t>
            </a:r>
            <a:endParaRPr lang="en-US" sz="2400" dirty="0"/>
          </a:p>
          <a:p>
            <a:pPr marL="228600" indent="-228600">
              <a:buSzPct val="100000"/>
              <a:buChar char="•"/>
            </a:pPr>
            <a:r>
              <a:rPr lang="en-US" sz="2400" dirty="0">
                <a:solidFill>
                  <a:srgbClr val="E2E8F0"/>
                </a:solidFill>
              </a:rPr>
              <a:t>Greedy widgets must be bounded by parents.</a:t>
            </a:r>
            <a:endParaRPr lang="en-US" sz="2400" dirty="0"/>
          </a:p>
          <a:p>
            <a:pPr marL="228600" indent="-228600">
              <a:buSzPct val="100000"/>
              <a:buChar char="•"/>
            </a:pPr>
            <a:r>
              <a:rPr lang="en-US" sz="2400" dirty="0">
                <a:solidFill>
                  <a:srgbClr val="E2E8F0"/>
                </a:solidFill>
              </a:rPr>
              <a:t>Understanding that mental model is the foundation for all later layout work.</a:t>
            </a:r>
            <a:endParaRPr lang="en-US" sz="2400" dirty="0"/>
          </a:p>
        </p:txBody>
      </p:sp>
      <p:sp>
        <p:nvSpPr>
          <p:cNvPr id="8" name="Text 6"/>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4160520" cy="6858000"/>
          </a:xfrm>
          <a:prstGeom prst="rect">
            <a:avLst/>
          </a:prstGeom>
          <a:solidFill>
            <a:srgbClr val="0B1220"/>
          </a:solidFill>
          <a:ln w="12700">
            <a:solidFill>
              <a:srgbClr val="0B1220"/>
            </a:solidFill>
            <a:prstDash val="solid"/>
          </a:ln>
        </p:spPr>
      </p:sp>
      <p:sp>
        <p:nvSpPr>
          <p:cNvPr id="4" name="Text 2"/>
          <p:cNvSpPr/>
          <p:nvPr/>
        </p:nvSpPr>
        <p:spPr>
          <a:xfrm>
            <a:off x="594360" y="914400"/>
            <a:ext cx="2743200" cy="201168"/>
          </a:xfrm>
          <a:prstGeom prst="rect">
            <a:avLst/>
          </a:prstGeom>
          <a:noFill/>
          <a:ln/>
        </p:spPr>
        <p:txBody>
          <a:bodyPr wrap="square" lIns="0" tIns="0" rIns="0" bIns="0" rtlCol="0" anchor="ctr"/>
          <a:lstStyle/>
          <a:p>
            <a:pPr marL="0" indent="0">
              <a:buNone/>
            </a:pPr>
            <a:r>
              <a:rPr lang="en-US" sz="1200" b="1" dirty="0">
                <a:solidFill>
                  <a:srgbClr val="22D3EE"/>
                </a:solidFill>
              </a:rPr>
              <a:t>CHAPTER 12</a:t>
            </a:r>
            <a:endParaRPr lang="en-US" sz="1200" dirty="0"/>
          </a:p>
        </p:txBody>
      </p:sp>
      <p:sp>
        <p:nvSpPr>
          <p:cNvPr id="5" name="Text 3"/>
          <p:cNvSpPr/>
          <p:nvPr/>
        </p:nvSpPr>
        <p:spPr>
          <a:xfrm>
            <a:off x="594360" y="1170431"/>
            <a:ext cx="3780416" cy="981097"/>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Layout —</a:t>
            </a:r>
            <a:endParaRPr lang="en-US" sz="2800" dirty="0">
              <a:latin typeface="Rockwell" panose="02060603020205020403" pitchFamily="18" charset="0"/>
            </a:endParaRPr>
          </a:p>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Positioning Widgets</a:t>
            </a:r>
            <a:endParaRPr lang="en-US" sz="2800" dirty="0">
              <a:latin typeface="Rockwell" panose="02060603020205020403" pitchFamily="18" charset="0"/>
            </a:endParaRPr>
          </a:p>
        </p:txBody>
      </p:sp>
      <p:sp>
        <p:nvSpPr>
          <p:cNvPr id="6" name="Text 4"/>
          <p:cNvSpPr/>
          <p:nvPr/>
        </p:nvSpPr>
        <p:spPr>
          <a:xfrm>
            <a:off x="621792" y="2240280"/>
            <a:ext cx="2926080" cy="2743200"/>
          </a:xfrm>
          <a:prstGeom prst="rect">
            <a:avLst/>
          </a:prstGeom>
          <a:noFill/>
          <a:ln/>
        </p:spPr>
        <p:txBody>
          <a:bodyPr wrap="square" lIns="0" tIns="0" rIns="0" bIns="0" rtlCol="0" anchor="ctr"/>
          <a:lstStyle/>
          <a:p>
            <a:pPr marL="0" indent="0">
              <a:buNone/>
            </a:pPr>
            <a:r>
              <a:rPr lang="en-US" sz="2000" dirty="0">
                <a:solidFill>
                  <a:srgbClr val="CBD5E1"/>
                </a:solidFill>
              </a:rPr>
              <a:t>After the outer shell is in place, the next question is spatial composition: which widgets sit side by side, which stack vertically, and how should the arrangement adapt to different devices and orientations?</a:t>
            </a:r>
            <a:endParaRPr lang="en-US" sz="2000" dirty="0"/>
          </a:p>
        </p:txBody>
      </p:sp>
      <p:sp>
        <p:nvSpPr>
          <p:cNvPr id="7" name="Shape 5"/>
          <p:cNvSpPr/>
          <p:nvPr/>
        </p:nvSpPr>
        <p:spPr>
          <a:xfrm>
            <a:off x="4572000" y="777240"/>
            <a:ext cx="6858000" cy="5120640"/>
          </a:xfrm>
          <a:prstGeom prst="roundRect">
            <a:avLst>
              <a:gd name="adj" fmla="val 1429"/>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8" name="Image 0" descr="/mnt/data/ch11_12_assets/page-216.png"/>
          <p:cNvPicPr>
            <a:picLocks noChangeAspect="1"/>
          </p:cNvPicPr>
          <p:nvPr/>
        </p:nvPicPr>
        <p:blipFill>
          <a:blip r:embed="rId3"/>
          <a:stretch>
            <a:fillRect/>
          </a:stretch>
        </p:blipFill>
        <p:spPr>
          <a:xfrm>
            <a:off x="6359612" y="850392"/>
            <a:ext cx="3282775" cy="497433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Row: placing widgets side by side</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100" dirty="0">
                <a:solidFill>
                  <a:srgbClr val="CBD5E1"/>
                </a:solidFill>
              </a:rPr>
              <a:t>Main axis = horizontal, cross axis = vertical</a:t>
            </a:r>
            <a:endParaRPr lang="en-US" sz="1100" dirty="0"/>
          </a:p>
        </p:txBody>
      </p:sp>
      <p:sp>
        <p:nvSpPr>
          <p:cNvPr id="7" name="Shape 5"/>
          <p:cNvSpPr/>
          <p:nvPr/>
        </p:nvSpPr>
        <p:spPr>
          <a:xfrm>
            <a:off x="777240" y="1143000"/>
            <a:ext cx="4389120" cy="4846320"/>
          </a:xfrm>
          <a:prstGeom prst="roundRect">
            <a:avLst>
              <a:gd name="adj" fmla="val 1667"/>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8" name="Image 0" descr="/mnt/data/ch11_12_assets/page-216.png"/>
          <p:cNvPicPr>
            <a:picLocks noChangeAspect="1"/>
          </p:cNvPicPr>
          <p:nvPr/>
        </p:nvPicPr>
        <p:blipFill>
          <a:blip r:embed="rId3"/>
          <a:stretch>
            <a:fillRect/>
          </a:stretch>
        </p:blipFill>
        <p:spPr>
          <a:xfrm>
            <a:off x="1420930" y="1216152"/>
            <a:ext cx="3101740" cy="4700016"/>
          </a:xfrm>
          <a:prstGeom prst="rect">
            <a:avLst/>
          </a:prstGeom>
        </p:spPr>
      </p:pic>
      <p:sp>
        <p:nvSpPr>
          <p:cNvPr id="9" name="Text 6"/>
          <p:cNvSpPr/>
          <p:nvPr/>
        </p:nvSpPr>
        <p:spPr>
          <a:xfrm>
            <a:off x="5577840" y="1325880"/>
            <a:ext cx="5303520" cy="3657600"/>
          </a:xfrm>
          <a:prstGeom prst="rect">
            <a:avLst/>
          </a:prstGeom>
          <a:noFill/>
          <a:ln/>
        </p:spPr>
        <p:txBody>
          <a:bodyPr wrap="square" lIns="508" tIns="508" rIns="508" bIns="508" rtlCol="0" anchor="t">
            <a:normAutofit/>
          </a:bodyPr>
          <a:lstStyle/>
          <a:p>
            <a:pPr marL="205740" indent="-205740">
              <a:buSzPct val="100000"/>
              <a:buChar char="•"/>
            </a:pPr>
            <a:r>
              <a:rPr lang="en-US" sz="1800" dirty="0">
                <a:solidFill>
                  <a:srgbClr val="E2E8F0"/>
                </a:solidFill>
              </a:rPr>
              <a:t>Row is the default choice when sibling widgets should appear left-to-right.</a:t>
            </a:r>
            <a:endParaRPr lang="en-US" sz="1800" dirty="0"/>
          </a:p>
          <a:p>
            <a:pPr marL="205740" indent="-205740">
              <a:buSzPct val="100000"/>
              <a:buChar char="•"/>
            </a:pPr>
            <a:r>
              <a:rPr lang="en-US" sz="1800" dirty="0">
                <a:solidFill>
                  <a:srgbClr val="E2E8F0"/>
                </a:solidFill>
              </a:rPr>
              <a:t>Children are rendered in the order listed in the children array.</a:t>
            </a:r>
            <a:endParaRPr lang="en-US" sz="1800" dirty="0"/>
          </a:p>
          <a:p>
            <a:pPr marL="205740" indent="-205740">
              <a:buSzPct val="100000"/>
              <a:buChar char="•"/>
            </a:pPr>
            <a:r>
              <a:rPr lang="en-US" sz="1800" dirty="0">
                <a:solidFill>
                  <a:srgbClr val="E2E8F0"/>
                </a:solidFill>
              </a:rPr>
              <a:t>This widget is ideal for media-plus-text cards, action bars, icon groups, and split regions.</a:t>
            </a:r>
            <a:endParaRPr lang="en-US" sz="1800" dirty="0"/>
          </a:p>
          <a:p>
            <a:pPr marL="205740" indent="-205740">
              <a:buSzPct val="100000"/>
              <a:buChar char="•"/>
            </a:pPr>
            <a:r>
              <a:rPr lang="en-US" sz="1800" dirty="0">
                <a:solidFill>
                  <a:srgbClr val="E2E8F0"/>
                </a:solidFill>
              </a:rPr>
              <a:t>In a Row, the main axis runs horizontally and the cross axis runs vertically.</a:t>
            </a:r>
            <a:endParaRPr lang="en-US" sz="1800" dirty="0"/>
          </a:p>
        </p:txBody>
      </p:sp>
      <p:sp>
        <p:nvSpPr>
          <p:cNvPr id="10" name="Shape 7"/>
          <p:cNvSpPr/>
          <p:nvPr/>
        </p:nvSpPr>
        <p:spPr>
          <a:xfrm>
            <a:off x="5715000" y="5074920"/>
            <a:ext cx="3383280" cy="914400"/>
          </a:xfrm>
          <a:prstGeom prst="roundRect">
            <a:avLst>
              <a:gd name="adj" fmla="val 7000"/>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11" name="Text 8"/>
          <p:cNvSpPr/>
          <p:nvPr/>
        </p:nvSpPr>
        <p:spPr>
          <a:xfrm>
            <a:off x="5861304" y="5148072"/>
            <a:ext cx="3090672" cy="164592"/>
          </a:xfrm>
          <a:prstGeom prst="rect">
            <a:avLst/>
          </a:prstGeom>
          <a:noFill/>
          <a:ln/>
        </p:spPr>
        <p:txBody>
          <a:bodyPr wrap="square" lIns="0" tIns="0" rIns="0" bIns="0" rtlCol="0" anchor="ctr"/>
          <a:lstStyle/>
          <a:p>
            <a:pPr marL="0" indent="0">
              <a:buNone/>
            </a:pPr>
            <a:r>
              <a:rPr lang="en-US" sz="1100" b="1" dirty="0">
                <a:solidFill>
                  <a:srgbClr val="93C5FD"/>
                </a:solidFill>
              </a:rPr>
              <a:t>Minimal Row</a:t>
            </a:r>
            <a:endParaRPr lang="en-US" sz="1100" dirty="0"/>
          </a:p>
        </p:txBody>
      </p:sp>
      <p:sp>
        <p:nvSpPr>
          <p:cNvPr id="12" name="Text 9"/>
          <p:cNvSpPr/>
          <p:nvPr/>
        </p:nvSpPr>
        <p:spPr>
          <a:xfrm>
            <a:off x="5843016" y="5376672"/>
            <a:ext cx="3127248" cy="530352"/>
          </a:xfrm>
          <a:prstGeom prst="rect">
            <a:avLst/>
          </a:prstGeom>
          <a:noFill/>
          <a:ln/>
        </p:spPr>
        <p:txBody>
          <a:bodyPr wrap="square" lIns="254" tIns="254" rIns="254" bIns="254" rtlCol="0" anchor="ctr">
            <a:normAutofit fontScale="40000" lnSpcReduction="20000"/>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Widget</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SomeWidget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SomeWidget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SomeWidget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endParaRPr lang="en-US" sz="1100" dirty="0"/>
          </a:p>
        </p:txBody>
      </p:sp>
      <p:sp>
        <p:nvSpPr>
          <p:cNvPr id="13"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Column: stacking widgets vertically</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Main axis = vertical, cross axis = horizontal</a:t>
            </a:r>
            <a:endParaRPr lang="en-US" sz="1400" dirty="0"/>
          </a:p>
        </p:txBody>
      </p:sp>
      <p:sp>
        <p:nvSpPr>
          <p:cNvPr id="7" name="Text 5"/>
          <p:cNvSpPr/>
          <p:nvPr/>
        </p:nvSpPr>
        <p:spPr>
          <a:xfrm>
            <a:off x="777240" y="1280160"/>
            <a:ext cx="5669280" cy="4297680"/>
          </a:xfrm>
          <a:prstGeom prst="rect">
            <a:avLst/>
          </a:prstGeom>
          <a:noFill/>
          <a:ln/>
        </p:spPr>
        <p:txBody>
          <a:bodyPr wrap="square" lIns="508" tIns="508" rIns="508" bIns="508" rtlCol="0" anchor="t">
            <a:normAutofit/>
          </a:bodyPr>
          <a:lstStyle/>
          <a:p>
            <a:pPr marL="205740" indent="-205740">
              <a:buSzPct val="100000"/>
              <a:buChar char="•"/>
            </a:pPr>
            <a:r>
              <a:rPr lang="en-US" sz="1800" dirty="0">
                <a:solidFill>
                  <a:srgbClr val="E2E8F0"/>
                </a:solidFill>
              </a:rPr>
              <a:t>Column is the default choice when elements should appear above and below each other.</a:t>
            </a:r>
            <a:endParaRPr lang="en-US" sz="1800" dirty="0"/>
          </a:p>
          <a:p>
            <a:pPr marL="205740" indent="-205740">
              <a:buSzPct val="100000"/>
              <a:buChar char="•"/>
            </a:pPr>
            <a:r>
              <a:rPr lang="en-US" sz="1800" dirty="0">
                <a:solidFill>
                  <a:srgbClr val="E2E8F0"/>
                </a:solidFill>
              </a:rPr>
              <a:t>It mirrors Row conceptually: same children property, same order, different main axis.</a:t>
            </a:r>
            <a:endParaRPr lang="en-US" sz="1800" dirty="0"/>
          </a:p>
          <a:p>
            <a:pPr marL="205740" indent="-205740">
              <a:buSzPct val="100000"/>
              <a:buChar char="•"/>
            </a:pPr>
            <a:r>
              <a:rPr lang="en-US" sz="1800" dirty="0">
                <a:solidFill>
                  <a:srgbClr val="E2E8F0"/>
                </a:solidFill>
              </a:rPr>
              <a:t>Most mobile screens are dominated by Columns because the viewport is naturally taller than it is wide.</a:t>
            </a:r>
            <a:endParaRPr lang="en-US" sz="1800" dirty="0"/>
          </a:p>
          <a:p>
            <a:pPr marL="205740" indent="-205740">
              <a:buSzPct val="100000"/>
              <a:buChar char="•"/>
            </a:pPr>
            <a:r>
              <a:rPr lang="en-US" sz="1800" dirty="0">
                <a:solidFill>
                  <a:srgbClr val="E2E8F0"/>
                </a:solidFill>
              </a:rPr>
              <a:t>However, Columns often need help when children become too tall or when one child is scrollable.</a:t>
            </a:r>
            <a:endParaRPr lang="en-US" sz="1800" dirty="0"/>
          </a:p>
        </p:txBody>
      </p:sp>
      <p:sp>
        <p:nvSpPr>
          <p:cNvPr id="8" name="Shape 6"/>
          <p:cNvSpPr/>
          <p:nvPr/>
        </p:nvSpPr>
        <p:spPr>
          <a:xfrm>
            <a:off x="6629400" y="1325880"/>
            <a:ext cx="4572000" cy="4297680"/>
          </a:xfrm>
          <a:prstGeom prst="roundRect">
            <a:avLst>
              <a:gd name="adj" fmla="val 1000"/>
            </a:avLst>
          </a:prstGeom>
          <a:solidFill>
            <a:srgbClr val="0B1220"/>
          </a:solidFill>
          <a:ln w="12700">
            <a:solidFill>
              <a:srgbClr val="1E293B"/>
            </a:solidFill>
            <a:prstDash val="solid"/>
          </a:ln>
        </p:spPr>
      </p:sp>
      <p:sp>
        <p:nvSpPr>
          <p:cNvPr id="9" name="Shape 7"/>
          <p:cNvSpPr/>
          <p:nvPr/>
        </p:nvSpPr>
        <p:spPr>
          <a:xfrm>
            <a:off x="8887968" y="1828800"/>
            <a:ext cx="0" cy="3200400"/>
          </a:xfrm>
          <a:prstGeom prst="line">
            <a:avLst/>
          </a:prstGeom>
          <a:noFill/>
          <a:ln w="12700">
            <a:solidFill>
              <a:srgbClr val="22D3EE"/>
            </a:solidFill>
            <a:prstDash val="solid"/>
            <a:headEnd type="none"/>
            <a:tailEnd type="triangle"/>
          </a:ln>
        </p:spPr>
      </p:sp>
      <p:sp>
        <p:nvSpPr>
          <p:cNvPr id="10" name="Text 8"/>
          <p:cNvSpPr/>
          <p:nvPr/>
        </p:nvSpPr>
        <p:spPr>
          <a:xfrm>
            <a:off x="8458200" y="1554480"/>
            <a:ext cx="1005840" cy="182880"/>
          </a:xfrm>
          <a:prstGeom prst="rect">
            <a:avLst/>
          </a:prstGeom>
          <a:noFill/>
          <a:ln/>
        </p:spPr>
        <p:txBody>
          <a:bodyPr wrap="square" lIns="0" tIns="0" rIns="0" bIns="0" rtlCol="0" anchor="ctr"/>
          <a:lstStyle/>
          <a:p>
            <a:pPr marL="0" indent="0">
              <a:buNone/>
            </a:pPr>
            <a:r>
              <a:rPr lang="en-US" sz="1300" dirty="0">
                <a:solidFill>
                  <a:srgbClr val="22D3EE"/>
                </a:solidFill>
              </a:rPr>
              <a:t>Main axis</a:t>
            </a:r>
            <a:endParaRPr lang="en-US" sz="1300" dirty="0"/>
          </a:p>
        </p:txBody>
      </p:sp>
      <p:sp>
        <p:nvSpPr>
          <p:cNvPr id="11" name="Shape 9"/>
          <p:cNvSpPr/>
          <p:nvPr/>
        </p:nvSpPr>
        <p:spPr>
          <a:xfrm>
            <a:off x="7360920" y="3429000"/>
            <a:ext cx="3017520" cy="0"/>
          </a:xfrm>
          <a:prstGeom prst="line">
            <a:avLst/>
          </a:prstGeom>
          <a:noFill/>
          <a:ln w="12700">
            <a:solidFill>
              <a:srgbClr val="CBD5E1"/>
            </a:solidFill>
            <a:prstDash val="solid"/>
            <a:headEnd type="none"/>
            <a:tailEnd type="triangle"/>
          </a:ln>
        </p:spPr>
      </p:sp>
      <p:sp>
        <p:nvSpPr>
          <p:cNvPr id="12" name="Text 10"/>
          <p:cNvSpPr/>
          <p:nvPr/>
        </p:nvSpPr>
        <p:spPr>
          <a:xfrm>
            <a:off x="9646920" y="3154680"/>
            <a:ext cx="914400" cy="182880"/>
          </a:xfrm>
          <a:prstGeom prst="rect">
            <a:avLst/>
          </a:prstGeom>
          <a:noFill/>
          <a:ln/>
        </p:spPr>
        <p:txBody>
          <a:bodyPr wrap="square" lIns="0" tIns="0" rIns="0" bIns="0" rtlCol="0" anchor="ctr"/>
          <a:lstStyle/>
          <a:p>
            <a:pPr marL="0" indent="0">
              <a:buNone/>
            </a:pPr>
            <a:r>
              <a:rPr lang="en-US" sz="1300" dirty="0">
                <a:solidFill>
                  <a:srgbClr val="CBD5E1"/>
                </a:solidFill>
              </a:rPr>
              <a:t>Cross axis</a:t>
            </a:r>
            <a:endParaRPr lang="en-US" sz="1300" dirty="0"/>
          </a:p>
        </p:txBody>
      </p:sp>
      <p:sp>
        <p:nvSpPr>
          <p:cNvPr id="13" name="Shape 11"/>
          <p:cNvSpPr/>
          <p:nvPr/>
        </p:nvSpPr>
        <p:spPr>
          <a:xfrm>
            <a:off x="8183880" y="2103120"/>
            <a:ext cx="1417320" cy="402336"/>
          </a:xfrm>
          <a:prstGeom prst="roundRect">
            <a:avLst>
              <a:gd name="adj" fmla="val 11364"/>
            </a:avLst>
          </a:prstGeom>
          <a:solidFill>
            <a:srgbClr val="3B82F6"/>
          </a:solidFill>
          <a:ln w="12700">
            <a:solidFill>
              <a:srgbClr val="3B82F6"/>
            </a:solidFill>
            <a:prstDash val="solid"/>
          </a:ln>
        </p:spPr>
      </p:sp>
      <p:sp>
        <p:nvSpPr>
          <p:cNvPr id="14" name="Shape 12"/>
          <p:cNvSpPr/>
          <p:nvPr/>
        </p:nvSpPr>
        <p:spPr>
          <a:xfrm>
            <a:off x="8183880" y="2834640"/>
            <a:ext cx="1417320" cy="402336"/>
          </a:xfrm>
          <a:prstGeom prst="roundRect">
            <a:avLst>
              <a:gd name="adj" fmla="val 11364"/>
            </a:avLst>
          </a:prstGeom>
          <a:solidFill>
            <a:srgbClr val="3B82F6"/>
          </a:solidFill>
          <a:ln w="12700">
            <a:solidFill>
              <a:srgbClr val="3B82F6"/>
            </a:solidFill>
            <a:prstDash val="solid"/>
          </a:ln>
        </p:spPr>
      </p:sp>
      <p:sp>
        <p:nvSpPr>
          <p:cNvPr id="15" name="Shape 13"/>
          <p:cNvSpPr/>
          <p:nvPr/>
        </p:nvSpPr>
        <p:spPr>
          <a:xfrm>
            <a:off x="8183880" y="3566160"/>
            <a:ext cx="1417320" cy="402336"/>
          </a:xfrm>
          <a:prstGeom prst="roundRect">
            <a:avLst>
              <a:gd name="adj" fmla="val 11364"/>
            </a:avLst>
          </a:prstGeom>
          <a:solidFill>
            <a:srgbClr val="3B82F6"/>
          </a:solidFill>
          <a:ln w="12700">
            <a:solidFill>
              <a:srgbClr val="3B82F6"/>
            </a:solidFill>
            <a:prstDash val="solid"/>
          </a:ln>
        </p:spPr>
      </p:sp>
      <p:sp>
        <p:nvSpPr>
          <p:cNvPr id="16" name="Shape 14"/>
          <p:cNvSpPr/>
          <p:nvPr/>
        </p:nvSpPr>
        <p:spPr>
          <a:xfrm>
            <a:off x="8183880" y="4297680"/>
            <a:ext cx="1417320" cy="402336"/>
          </a:xfrm>
          <a:prstGeom prst="roundRect">
            <a:avLst>
              <a:gd name="adj" fmla="val 11364"/>
            </a:avLst>
          </a:prstGeom>
          <a:solidFill>
            <a:srgbClr val="3B82F6"/>
          </a:solidFill>
          <a:ln w="12700">
            <a:solidFill>
              <a:srgbClr val="3B82F6"/>
            </a:solidFill>
            <a:prstDash val="solid"/>
          </a:ln>
        </p:spPr>
      </p:sp>
      <p:sp>
        <p:nvSpPr>
          <p:cNvPr id="17" name="Shape 15"/>
          <p:cNvSpPr/>
          <p:nvPr/>
        </p:nvSpPr>
        <p:spPr>
          <a:xfrm>
            <a:off x="1722480" y="3792071"/>
            <a:ext cx="4373520" cy="2142018"/>
          </a:xfrm>
          <a:prstGeom prst="roundRect">
            <a:avLst>
              <a:gd name="adj" fmla="val 8235"/>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18" name="Text 16"/>
          <p:cNvSpPr/>
          <p:nvPr/>
        </p:nvSpPr>
        <p:spPr>
          <a:xfrm>
            <a:off x="1463580" y="5852160"/>
            <a:ext cx="3456432" cy="164592"/>
          </a:xfrm>
          <a:prstGeom prst="rect">
            <a:avLst/>
          </a:prstGeom>
          <a:noFill/>
          <a:ln/>
        </p:spPr>
        <p:txBody>
          <a:bodyPr wrap="square" lIns="0" tIns="0" rIns="0" bIns="0" rtlCol="0" anchor="ctr"/>
          <a:lstStyle/>
          <a:p>
            <a:pPr marL="0" indent="0">
              <a:buNone/>
            </a:pPr>
            <a:r>
              <a:rPr lang="en-US" sz="1400" b="1" dirty="0">
                <a:solidFill>
                  <a:srgbClr val="93C5FD"/>
                </a:solidFill>
              </a:rPr>
              <a:t>Minimal Column</a:t>
            </a:r>
            <a:endParaRPr lang="en-US" sz="1400" dirty="0"/>
          </a:p>
        </p:txBody>
      </p:sp>
      <p:sp>
        <p:nvSpPr>
          <p:cNvPr id="19" name="Text 17"/>
          <p:cNvSpPr/>
          <p:nvPr/>
        </p:nvSpPr>
        <p:spPr>
          <a:xfrm>
            <a:off x="1798499" y="3720362"/>
            <a:ext cx="4572001" cy="2142018"/>
          </a:xfrm>
          <a:prstGeom prst="rect">
            <a:avLst/>
          </a:prstGeom>
          <a:noFill/>
          <a:ln/>
        </p:spPr>
        <p:txBody>
          <a:bodyPr wrap="square" lIns="254" tIns="254" rIns="254" bIns="25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Column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Widget</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SomeWidget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SomeWidget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SomeWidget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endParaRPr lang="en-US" sz="1100" dirty="0"/>
          </a:p>
        </p:txBody>
      </p:sp>
      <p:sp>
        <p:nvSpPr>
          <p:cNvPr id="20" name="Text 18"/>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Nested Rows and Columns build real screens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Simple primitives compose into rich interfaces</a:t>
            </a:r>
            <a:endParaRPr lang="en-US" sz="1400" dirty="0"/>
          </a:p>
        </p:txBody>
      </p:sp>
      <p:sp>
        <p:nvSpPr>
          <p:cNvPr id="7" name="Shape 5"/>
          <p:cNvSpPr/>
          <p:nvPr/>
        </p:nvSpPr>
        <p:spPr>
          <a:xfrm>
            <a:off x="822960" y="1325880"/>
            <a:ext cx="4023360" cy="4480560"/>
          </a:xfrm>
          <a:prstGeom prst="roundRect">
            <a:avLst>
              <a:gd name="adj" fmla="val 1136"/>
            </a:avLst>
          </a:prstGeom>
          <a:solidFill>
            <a:srgbClr val="0B1220"/>
          </a:solidFill>
          <a:ln w="12700">
            <a:solidFill>
              <a:srgbClr val="1E293B"/>
            </a:solidFill>
            <a:prstDash val="solid"/>
          </a:ln>
        </p:spPr>
      </p:sp>
      <p:sp>
        <p:nvSpPr>
          <p:cNvPr id="8" name="Text 6"/>
          <p:cNvSpPr/>
          <p:nvPr/>
        </p:nvSpPr>
        <p:spPr>
          <a:xfrm>
            <a:off x="1024128" y="1572768"/>
            <a:ext cx="2560320" cy="228600"/>
          </a:xfrm>
          <a:prstGeom prst="rect">
            <a:avLst/>
          </a:prstGeom>
          <a:noFill/>
          <a:ln/>
        </p:spPr>
        <p:txBody>
          <a:bodyPr wrap="square" lIns="0" tIns="0" rIns="0" bIns="0" rtlCol="0" anchor="ctr"/>
          <a:lstStyle/>
          <a:p>
            <a:pPr marL="0" indent="0">
              <a:buNone/>
            </a:pPr>
            <a:r>
              <a:rPr lang="en-US" sz="1800" b="1" dirty="0">
                <a:solidFill>
                  <a:srgbClr val="F8FAFC"/>
                </a:solidFill>
              </a:rPr>
              <a:t>PersonCard pattern from the chapter</a:t>
            </a:r>
            <a:endParaRPr lang="en-US" sz="1800" dirty="0"/>
          </a:p>
        </p:txBody>
      </p:sp>
      <p:sp>
        <p:nvSpPr>
          <p:cNvPr id="9" name="Shape 7"/>
          <p:cNvSpPr/>
          <p:nvPr/>
        </p:nvSpPr>
        <p:spPr>
          <a:xfrm>
            <a:off x="1097280" y="2011680"/>
            <a:ext cx="3246120" cy="2331720"/>
          </a:xfrm>
          <a:prstGeom prst="roundRect">
            <a:avLst>
              <a:gd name="adj" fmla="val 2353"/>
            </a:avLst>
          </a:prstGeom>
          <a:solidFill>
            <a:srgbClr val="E5E7EB"/>
          </a:solidFill>
          <a:ln w="12700">
            <a:solidFill>
              <a:srgbClr val="CBD5E1"/>
            </a:solidFill>
            <a:prstDash val="solid"/>
          </a:ln>
        </p:spPr>
      </p:sp>
      <p:sp>
        <p:nvSpPr>
          <p:cNvPr id="10" name="Shape 8"/>
          <p:cNvSpPr/>
          <p:nvPr/>
        </p:nvSpPr>
        <p:spPr>
          <a:xfrm>
            <a:off x="1325880" y="2331720"/>
            <a:ext cx="914400" cy="1600200"/>
          </a:xfrm>
          <a:prstGeom prst="roundRect">
            <a:avLst>
              <a:gd name="adj" fmla="val 8000"/>
            </a:avLst>
          </a:prstGeom>
          <a:solidFill>
            <a:srgbClr val="93C5FD"/>
          </a:solidFill>
          <a:ln w="12700">
            <a:solidFill>
              <a:srgbClr val="93C5FD"/>
            </a:solidFill>
            <a:prstDash val="solid"/>
          </a:ln>
        </p:spPr>
      </p:sp>
      <p:sp>
        <p:nvSpPr>
          <p:cNvPr id="11" name="Shape 9"/>
          <p:cNvSpPr/>
          <p:nvPr/>
        </p:nvSpPr>
        <p:spPr>
          <a:xfrm>
            <a:off x="2514600" y="2423160"/>
            <a:ext cx="1417320" cy="0"/>
          </a:xfrm>
          <a:prstGeom prst="line">
            <a:avLst/>
          </a:prstGeom>
          <a:noFill/>
          <a:ln w="12700">
            <a:solidFill>
              <a:srgbClr val="475569"/>
            </a:solidFill>
            <a:prstDash val="solid"/>
          </a:ln>
        </p:spPr>
      </p:sp>
      <p:sp>
        <p:nvSpPr>
          <p:cNvPr id="12" name="Shape 10"/>
          <p:cNvSpPr/>
          <p:nvPr/>
        </p:nvSpPr>
        <p:spPr>
          <a:xfrm>
            <a:off x="2514600" y="2788920"/>
            <a:ext cx="1280160" cy="0"/>
          </a:xfrm>
          <a:prstGeom prst="line">
            <a:avLst/>
          </a:prstGeom>
          <a:noFill/>
          <a:ln w="12700">
            <a:solidFill>
              <a:srgbClr val="475569"/>
            </a:solidFill>
            <a:prstDash val="solid"/>
          </a:ln>
        </p:spPr>
      </p:sp>
      <p:sp>
        <p:nvSpPr>
          <p:cNvPr id="13" name="Shape 11"/>
          <p:cNvSpPr/>
          <p:nvPr/>
        </p:nvSpPr>
        <p:spPr>
          <a:xfrm>
            <a:off x="2514600" y="3154680"/>
            <a:ext cx="1143000" cy="0"/>
          </a:xfrm>
          <a:prstGeom prst="line">
            <a:avLst/>
          </a:prstGeom>
          <a:noFill/>
          <a:ln w="12700">
            <a:solidFill>
              <a:srgbClr val="475569"/>
            </a:solidFill>
            <a:prstDash val="solid"/>
          </a:ln>
        </p:spPr>
      </p:sp>
      <p:sp>
        <p:nvSpPr>
          <p:cNvPr id="14" name="Shape 12"/>
          <p:cNvSpPr/>
          <p:nvPr/>
        </p:nvSpPr>
        <p:spPr>
          <a:xfrm>
            <a:off x="2514600" y="3520440"/>
            <a:ext cx="1005840" cy="0"/>
          </a:xfrm>
          <a:prstGeom prst="line">
            <a:avLst/>
          </a:prstGeom>
          <a:noFill/>
          <a:ln w="12700">
            <a:solidFill>
              <a:srgbClr val="475569"/>
            </a:solidFill>
            <a:prstDash val="solid"/>
          </a:ln>
        </p:spPr>
      </p:sp>
      <p:sp>
        <p:nvSpPr>
          <p:cNvPr id="15" name="Text 13"/>
          <p:cNvSpPr/>
          <p:nvPr/>
        </p:nvSpPr>
        <p:spPr>
          <a:xfrm>
            <a:off x="5486400" y="1086791"/>
            <a:ext cx="5303520" cy="1830145"/>
          </a:xfrm>
          <a:prstGeom prst="rect">
            <a:avLst/>
          </a:prstGeom>
          <a:noFill/>
          <a:ln/>
        </p:spPr>
        <p:txBody>
          <a:bodyPr wrap="square" lIns="508" tIns="508" rIns="508" bIns="508" rtlCol="0" anchor="t">
            <a:normAutofit/>
          </a:bodyPr>
          <a:lstStyle/>
          <a:p>
            <a:pPr marL="205740" indent="-205740">
              <a:buSzPct val="100000"/>
              <a:buChar char="•"/>
            </a:pPr>
            <a:r>
              <a:rPr lang="en-US" sz="1800" dirty="0">
                <a:solidFill>
                  <a:srgbClr val="E2E8F0"/>
                </a:solidFill>
              </a:rPr>
              <a:t>A Row can hold the image next to a text region.</a:t>
            </a:r>
            <a:endParaRPr lang="en-US" sz="1800" dirty="0"/>
          </a:p>
          <a:p>
            <a:pPr marL="205740" indent="-205740">
              <a:buSzPct val="100000"/>
              <a:buChar char="•"/>
            </a:pPr>
            <a:r>
              <a:rPr lang="en-US" sz="1800" dirty="0">
                <a:solidFill>
                  <a:srgbClr val="E2E8F0"/>
                </a:solidFill>
              </a:rPr>
              <a:t>Inside that Row, a Column can stack name, role, metadata, and action labels.</a:t>
            </a:r>
            <a:endParaRPr lang="en-US" sz="1800" dirty="0"/>
          </a:p>
          <a:p>
            <a:pPr marL="205740" indent="-205740">
              <a:buSzPct val="100000"/>
              <a:buChar char="•"/>
            </a:pPr>
            <a:r>
              <a:rPr lang="en-US" sz="1800" dirty="0">
                <a:solidFill>
                  <a:srgbClr val="E2E8F0"/>
                </a:solidFill>
              </a:rPr>
              <a:t>This composition pattern scales naturally: rows inside columns, columns inside rows, as many levels as needed.</a:t>
            </a:r>
            <a:endParaRPr lang="en-US" sz="1800" dirty="0"/>
          </a:p>
        </p:txBody>
      </p:sp>
      <p:sp>
        <p:nvSpPr>
          <p:cNvPr id="16" name="Shape 14"/>
          <p:cNvSpPr/>
          <p:nvPr/>
        </p:nvSpPr>
        <p:spPr>
          <a:xfrm>
            <a:off x="5577840" y="3429000"/>
            <a:ext cx="6103172" cy="2521682"/>
          </a:xfrm>
          <a:prstGeom prst="roundRect">
            <a:avLst>
              <a:gd name="adj" fmla="val 4930"/>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txBody>
          <a:bodyPr/>
          <a:lstStyle/>
          <a:p>
            <a:endParaRPr lang="en-US" dirty="0"/>
          </a:p>
        </p:txBody>
      </p:sp>
      <p:sp>
        <p:nvSpPr>
          <p:cNvPr id="17" name="Text 15"/>
          <p:cNvSpPr/>
          <p:nvPr/>
        </p:nvSpPr>
        <p:spPr>
          <a:xfrm>
            <a:off x="5724144" y="5687568"/>
            <a:ext cx="4645152" cy="327122"/>
          </a:xfrm>
          <a:prstGeom prst="rect">
            <a:avLst/>
          </a:prstGeom>
          <a:noFill/>
          <a:ln/>
        </p:spPr>
        <p:txBody>
          <a:bodyPr wrap="square" lIns="0" tIns="0" rIns="0" bIns="0" rtlCol="0" anchor="ctr"/>
          <a:lstStyle/>
          <a:p>
            <a:pPr marL="0" indent="0">
              <a:buNone/>
            </a:pPr>
            <a:r>
              <a:rPr lang="en-US" sz="1400" b="1" dirty="0">
                <a:solidFill>
                  <a:srgbClr val="93C5FD"/>
                </a:solidFill>
              </a:rPr>
              <a:t>Nested composition</a:t>
            </a:r>
            <a:endParaRPr lang="en-US" sz="1400" dirty="0"/>
          </a:p>
        </p:txBody>
      </p:sp>
      <p:sp>
        <p:nvSpPr>
          <p:cNvPr id="18" name="Text 16"/>
          <p:cNvSpPr/>
          <p:nvPr/>
        </p:nvSpPr>
        <p:spPr>
          <a:xfrm>
            <a:off x="5705856" y="3364992"/>
            <a:ext cx="4809744" cy="1874520"/>
          </a:xfrm>
          <a:prstGeom prst="rect">
            <a:avLst/>
          </a:prstGeom>
          <a:noFill/>
          <a:ln/>
        </p:spPr>
        <p:txBody>
          <a:bodyPr wrap="square" lIns="254" tIns="254" rIns="254" bIns="254" rtlCol="0" anchor="ctr">
            <a:no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Image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Column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role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email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8F8F2"/>
                </a:solidFill>
                <a:latin typeface="Consolas" pitchFamily="34" charset="0"/>
                <a:ea typeface="Consolas" pitchFamily="34" charset="-122"/>
                <a:cs typeface="Consolas" pitchFamily="34" charset="-120"/>
              </a:rPr>
              <a:t>)</a:t>
            </a:r>
            <a:endParaRPr lang="en-US" sz="1400" dirty="0"/>
          </a:p>
        </p:txBody>
      </p:sp>
      <p:sp>
        <p:nvSpPr>
          <p:cNvPr id="19" name="Text 17"/>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Ordering and composability</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Rows and Columns are small ideas with large consequences</a:t>
            </a:r>
            <a:endParaRPr lang="en-US" sz="1400" dirty="0"/>
          </a:p>
        </p:txBody>
      </p:sp>
      <p:sp>
        <p:nvSpPr>
          <p:cNvPr id="7" name="Text 5"/>
          <p:cNvSpPr/>
          <p:nvPr/>
        </p:nvSpPr>
        <p:spPr>
          <a:xfrm>
            <a:off x="777240" y="1417320"/>
            <a:ext cx="10424160" cy="3931920"/>
          </a:xfrm>
          <a:prstGeom prst="rect">
            <a:avLst/>
          </a:prstGeom>
          <a:noFill/>
          <a:ln/>
        </p:spPr>
        <p:txBody>
          <a:bodyPr wrap="square" lIns="508" tIns="508" rIns="508" bIns="508" rtlCol="0" anchor="t">
            <a:normAutofit/>
          </a:bodyPr>
          <a:lstStyle/>
          <a:p>
            <a:pPr marL="217170" indent="-217170">
              <a:buSzPct val="100000"/>
              <a:buChar char="•"/>
            </a:pPr>
            <a:r>
              <a:rPr lang="en-US" sz="2400" dirty="0">
                <a:solidFill>
                  <a:srgbClr val="E2E8F0"/>
                </a:solidFill>
              </a:rPr>
              <a:t>Children appear in exactly the order you add them. This makes the layout tree highly explicit.</a:t>
            </a:r>
            <a:endParaRPr lang="en-US" sz="2400" dirty="0"/>
          </a:p>
          <a:p>
            <a:pPr marL="217170" indent="-217170">
              <a:buSzPct val="100000"/>
              <a:buChar char="•"/>
            </a:pPr>
            <a:r>
              <a:rPr lang="en-US" sz="2400" dirty="0">
                <a:solidFill>
                  <a:srgbClr val="E2E8F0"/>
                </a:solidFill>
              </a:rPr>
              <a:t>Because both widgets accept arrays of children, they are easy to refactor and test.</a:t>
            </a:r>
            <a:endParaRPr lang="en-US" sz="2400" dirty="0"/>
          </a:p>
          <a:p>
            <a:pPr marL="217170" indent="-217170">
              <a:buSzPct val="100000"/>
              <a:buChar char="•"/>
            </a:pPr>
            <a:r>
              <a:rPr lang="en-US" sz="2400" dirty="0">
                <a:solidFill>
                  <a:srgbClr val="E2E8F0"/>
                </a:solidFill>
              </a:rPr>
              <a:t>You can quickly decompose one messy scene into reusable pieces such as PersonCard, ProfileHeader, or ActionBar.</a:t>
            </a:r>
            <a:endParaRPr lang="en-US" sz="2400" dirty="0"/>
          </a:p>
          <a:p>
            <a:pPr marL="217170" indent="-217170">
              <a:buSzPct val="100000"/>
              <a:buChar char="•"/>
            </a:pPr>
            <a:r>
              <a:rPr lang="en-US" sz="2400" dirty="0">
                <a:solidFill>
                  <a:srgbClr val="E2E8F0"/>
                </a:solidFill>
              </a:rPr>
              <a:t>In practice, Row and Column become the first layout tools you reach for before exploring more specialized widgets.</a:t>
            </a:r>
            <a:endParaRPr lang="en-US" sz="2400" dirty="0"/>
          </a:p>
        </p:txBody>
      </p:sp>
      <p:sp>
        <p:nvSpPr>
          <p:cNvPr id="8" name="Text 6"/>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Responsive design in Flutter</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A mobile interface should adapt, not merely stretch</a:t>
            </a:r>
            <a:endParaRPr lang="en-US" sz="1400" dirty="0"/>
          </a:p>
        </p:txBody>
      </p:sp>
      <p:sp>
        <p:nvSpPr>
          <p:cNvPr id="7" name="Text 5"/>
          <p:cNvSpPr/>
          <p:nvPr/>
        </p:nvSpPr>
        <p:spPr>
          <a:xfrm>
            <a:off x="777240" y="1325880"/>
            <a:ext cx="5760720" cy="4206240"/>
          </a:xfrm>
          <a:prstGeom prst="rect">
            <a:avLst/>
          </a:prstGeom>
          <a:noFill/>
          <a:ln/>
        </p:spPr>
        <p:txBody>
          <a:bodyPr wrap="square" lIns="508" tIns="508" rIns="508" bIns="508" rtlCol="0" anchor="t">
            <a:noAutofit/>
          </a:bodyPr>
          <a:lstStyle/>
          <a:p>
            <a:pPr marL="205740" indent="-205740">
              <a:buSzPct val="100000"/>
              <a:buChar char="•"/>
            </a:pPr>
            <a:r>
              <a:rPr lang="en-US" sz="2400" dirty="0">
                <a:solidFill>
                  <a:srgbClr val="E2E8F0"/>
                </a:solidFill>
              </a:rPr>
              <a:t>Responsive design was born from the need to support many screen sizes and orientations.</a:t>
            </a:r>
            <a:endParaRPr lang="en-US" sz="2400" dirty="0"/>
          </a:p>
          <a:p>
            <a:pPr marL="205740" indent="-205740">
              <a:buSzPct val="100000"/>
              <a:buChar char="•"/>
            </a:pPr>
            <a:r>
              <a:rPr lang="en-US" sz="2400" dirty="0">
                <a:solidFill>
                  <a:srgbClr val="E2E8F0"/>
                </a:solidFill>
              </a:rPr>
              <a:t>In Flutter, the same problem appears whenever a user rotates the device, uses a tablet, or has a display cutout.</a:t>
            </a:r>
            <a:endParaRPr lang="en-US" sz="2400" dirty="0"/>
          </a:p>
          <a:p>
            <a:pPr marL="205740" indent="-205740">
              <a:buSzPct val="100000"/>
              <a:buChar char="•"/>
            </a:pPr>
            <a:r>
              <a:rPr lang="en-US" sz="2400" dirty="0">
                <a:solidFill>
                  <a:srgbClr val="E2E8F0"/>
                </a:solidFill>
              </a:rPr>
              <a:t>A layout that works beautifully in portrait may become cramped, overflowed, or visually awkward in landscape.</a:t>
            </a:r>
            <a:endParaRPr lang="en-US" sz="2400" dirty="0"/>
          </a:p>
          <a:p>
            <a:pPr marL="205740" indent="-205740">
              <a:buSzPct val="100000"/>
              <a:buChar char="•"/>
            </a:pPr>
            <a:r>
              <a:rPr lang="en-US" sz="2400" dirty="0">
                <a:solidFill>
                  <a:srgbClr val="E2E8F0"/>
                </a:solidFill>
              </a:rPr>
              <a:t>The goal is not just “fit”; it is preserving readability, tapability, and information hierarchy.</a:t>
            </a:r>
            <a:endParaRPr lang="en-US" sz="2400" dirty="0"/>
          </a:p>
        </p:txBody>
      </p:sp>
      <p:sp>
        <p:nvSpPr>
          <p:cNvPr id="8" name="Shape 6"/>
          <p:cNvSpPr/>
          <p:nvPr/>
        </p:nvSpPr>
        <p:spPr>
          <a:xfrm>
            <a:off x="6812280" y="1143000"/>
            <a:ext cx="4526280" cy="5394960"/>
          </a:xfrm>
          <a:prstGeom prst="roundRect">
            <a:avLst>
              <a:gd name="adj" fmla="val 1616"/>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9" name="Image 0" descr="/mnt/data/ch11_12_assets/page-219.png"/>
          <p:cNvPicPr>
            <a:picLocks noChangeAspect="1"/>
          </p:cNvPicPr>
          <p:nvPr/>
        </p:nvPicPr>
        <p:blipFill>
          <a:blip r:embed="rId3"/>
          <a:stretch>
            <a:fillRect/>
          </a:stretch>
        </p:blipFill>
        <p:spPr>
          <a:xfrm>
            <a:off x="7343515" y="1216152"/>
            <a:ext cx="3463810" cy="5248656"/>
          </a:xfrm>
          <a:prstGeom prst="rect">
            <a:avLst/>
          </a:prstGeom>
        </p:spPr>
      </p:pic>
      <p:sp>
        <p:nvSpPr>
          <p:cNvPr id="10" name="Text 7"/>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Portrait vs landscape thinking</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Same data, different best arrangement</a:t>
            </a:r>
            <a:endParaRPr lang="en-US" sz="1400" dirty="0"/>
          </a:p>
        </p:txBody>
      </p:sp>
      <p:sp>
        <p:nvSpPr>
          <p:cNvPr id="7" name="Shape 5"/>
          <p:cNvSpPr/>
          <p:nvPr/>
        </p:nvSpPr>
        <p:spPr>
          <a:xfrm>
            <a:off x="914400" y="1554480"/>
            <a:ext cx="2743200" cy="4480560"/>
          </a:xfrm>
          <a:prstGeom prst="roundRect">
            <a:avLst>
              <a:gd name="adj" fmla="val 2000"/>
            </a:avLst>
          </a:prstGeom>
          <a:solidFill>
            <a:srgbClr val="0B1220"/>
          </a:solidFill>
          <a:ln w="12700">
            <a:solidFill>
              <a:srgbClr val="22D3EE"/>
            </a:solidFill>
            <a:prstDash val="solid"/>
          </a:ln>
        </p:spPr>
      </p:sp>
      <p:sp>
        <p:nvSpPr>
          <p:cNvPr id="8" name="Text 6"/>
          <p:cNvSpPr/>
          <p:nvPr/>
        </p:nvSpPr>
        <p:spPr>
          <a:xfrm>
            <a:off x="1783080" y="1810512"/>
            <a:ext cx="1005840" cy="201168"/>
          </a:xfrm>
          <a:prstGeom prst="rect">
            <a:avLst/>
          </a:prstGeom>
          <a:noFill/>
          <a:ln/>
        </p:spPr>
        <p:txBody>
          <a:bodyPr wrap="square" lIns="0" tIns="0" rIns="0" bIns="0" rtlCol="0" anchor="ctr"/>
          <a:lstStyle/>
          <a:p>
            <a:pPr marL="0" indent="0" algn="ctr">
              <a:buNone/>
            </a:pPr>
            <a:r>
              <a:rPr lang="en-US" sz="1900" b="1" dirty="0">
                <a:solidFill>
                  <a:srgbClr val="F8FAFC"/>
                </a:solidFill>
              </a:rPr>
              <a:t>Portrait</a:t>
            </a:r>
            <a:endParaRPr lang="en-US" sz="1900" dirty="0"/>
          </a:p>
        </p:txBody>
      </p:sp>
      <p:sp>
        <p:nvSpPr>
          <p:cNvPr id="9" name="Shape 7"/>
          <p:cNvSpPr/>
          <p:nvPr/>
        </p:nvSpPr>
        <p:spPr>
          <a:xfrm>
            <a:off x="1417320" y="2286000"/>
            <a:ext cx="1737360" cy="402336"/>
          </a:xfrm>
          <a:prstGeom prst="roundRect">
            <a:avLst>
              <a:gd name="adj" fmla="val 9091"/>
            </a:avLst>
          </a:prstGeom>
          <a:solidFill>
            <a:srgbClr val="3B82F6"/>
          </a:solidFill>
          <a:ln w="12700">
            <a:solidFill>
              <a:srgbClr val="3B82F6"/>
            </a:solidFill>
            <a:prstDash val="solid"/>
          </a:ln>
        </p:spPr>
      </p:sp>
      <p:sp>
        <p:nvSpPr>
          <p:cNvPr id="10" name="Shape 8"/>
          <p:cNvSpPr/>
          <p:nvPr/>
        </p:nvSpPr>
        <p:spPr>
          <a:xfrm>
            <a:off x="1417320" y="2926080"/>
            <a:ext cx="1737360" cy="402336"/>
          </a:xfrm>
          <a:prstGeom prst="roundRect">
            <a:avLst>
              <a:gd name="adj" fmla="val 9091"/>
            </a:avLst>
          </a:prstGeom>
          <a:solidFill>
            <a:srgbClr val="1E293B"/>
          </a:solidFill>
          <a:ln w="12700">
            <a:solidFill>
              <a:srgbClr val="475569"/>
            </a:solidFill>
            <a:prstDash val="solid"/>
          </a:ln>
        </p:spPr>
      </p:sp>
      <p:sp>
        <p:nvSpPr>
          <p:cNvPr id="11" name="Shape 9"/>
          <p:cNvSpPr/>
          <p:nvPr/>
        </p:nvSpPr>
        <p:spPr>
          <a:xfrm>
            <a:off x="1417320" y="3566160"/>
            <a:ext cx="1737360" cy="402336"/>
          </a:xfrm>
          <a:prstGeom prst="roundRect">
            <a:avLst>
              <a:gd name="adj" fmla="val 9091"/>
            </a:avLst>
          </a:prstGeom>
          <a:solidFill>
            <a:srgbClr val="1E293B"/>
          </a:solidFill>
          <a:ln w="12700">
            <a:solidFill>
              <a:srgbClr val="475569"/>
            </a:solidFill>
            <a:prstDash val="solid"/>
          </a:ln>
        </p:spPr>
      </p:sp>
      <p:sp>
        <p:nvSpPr>
          <p:cNvPr id="12" name="Shape 10"/>
          <p:cNvSpPr/>
          <p:nvPr/>
        </p:nvSpPr>
        <p:spPr>
          <a:xfrm>
            <a:off x="1417320" y="4206240"/>
            <a:ext cx="1737360" cy="402336"/>
          </a:xfrm>
          <a:prstGeom prst="roundRect">
            <a:avLst>
              <a:gd name="adj" fmla="val 9091"/>
            </a:avLst>
          </a:prstGeom>
          <a:solidFill>
            <a:srgbClr val="1E293B"/>
          </a:solidFill>
          <a:ln w="12700">
            <a:solidFill>
              <a:srgbClr val="475569"/>
            </a:solidFill>
            <a:prstDash val="solid"/>
          </a:ln>
        </p:spPr>
      </p:sp>
      <p:sp>
        <p:nvSpPr>
          <p:cNvPr id="13" name="Shape 11"/>
          <p:cNvSpPr/>
          <p:nvPr/>
        </p:nvSpPr>
        <p:spPr>
          <a:xfrm>
            <a:off x="1417320" y="4846320"/>
            <a:ext cx="1737360" cy="402336"/>
          </a:xfrm>
          <a:prstGeom prst="roundRect">
            <a:avLst>
              <a:gd name="adj" fmla="val 9091"/>
            </a:avLst>
          </a:prstGeom>
          <a:solidFill>
            <a:srgbClr val="1E293B"/>
          </a:solidFill>
          <a:ln w="12700">
            <a:solidFill>
              <a:srgbClr val="475569"/>
            </a:solidFill>
            <a:prstDash val="solid"/>
          </a:ln>
        </p:spPr>
      </p:sp>
      <p:sp>
        <p:nvSpPr>
          <p:cNvPr id="14" name="Shape 12"/>
          <p:cNvSpPr/>
          <p:nvPr/>
        </p:nvSpPr>
        <p:spPr>
          <a:xfrm>
            <a:off x="4617720" y="2057400"/>
            <a:ext cx="6217920" cy="3017520"/>
          </a:xfrm>
          <a:prstGeom prst="roundRect">
            <a:avLst>
              <a:gd name="adj" fmla="val 1818"/>
            </a:avLst>
          </a:prstGeom>
          <a:solidFill>
            <a:srgbClr val="0B1220"/>
          </a:solidFill>
          <a:ln w="12700">
            <a:solidFill>
              <a:srgbClr val="22C55E"/>
            </a:solidFill>
            <a:prstDash val="solid"/>
          </a:ln>
        </p:spPr>
      </p:sp>
      <p:sp>
        <p:nvSpPr>
          <p:cNvPr id="15" name="Text 13"/>
          <p:cNvSpPr/>
          <p:nvPr/>
        </p:nvSpPr>
        <p:spPr>
          <a:xfrm>
            <a:off x="6492240" y="2267712"/>
            <a:ext cx="2651760" cy="201168"/>
          </a:xfrm>
          <a:prstGeom prst="rect">
            <a:avLst/>
          </a:prstGeom>
          <a:noFill/>
          <a:ln/>
        </p:spPr>
        <p:txBody>
          <a:bodyPr wrap="square" lIns="0" tIns="0" rIns="0" bIns="0" rtlCol="0" anchor="ctr"/>
          <a:lstStyle/>
          <a:p>
            <a:pPr marL="0" indent="0">
              <a:buNone/>
            </a:pPr>
            <a:r>
              <a:rPr lang="en-US" sz="1900" b="1" dirty="0">
                <a:solidFill>
                  <a:srgbClr val="F8FAFC"/>
                </a:solidFill>
              </a:rPr>
              <a:t>Landscape / split view</a:t>
            </a:r>
            <a:endParaRPr lang="en-US" sz="1900" dirty="0"/>
          </a:p>
        </p:txBody>
      </p:sp>
      <p:sp>
        <p:nvSpPr>
          <p:cNvPr id="16" name="Shape 14"/>
          <p:cNvSpPr/>
          <p:nvPr/>
        </p:nvSpPr>
        <p:spPr>
          <a:xfrm>
            <a:off x="5074920" y="2834640"/>
            <a:ext cx="1828800" cy="1371600"/>
          </a:xfrm>
          <a:prstGeom prst="roundRect">
            <a:avLst>
              <a:gd name="adj" fmla="val 2667"/>
            </a:avLst>
          </a:prstGeom>
          <a:solidFill>
            <a:srgbClr val="3B82F6"/>
          </a:solidFill>
          <a:ln w="12700">
            <a:solidFill>
              <a:srgbClr val="3B82F6"/>
            </a:solidFill>
            <a:prstDash val="solid"/>
          </a:ln>
        </p:spPr>
      </p:sp>
      <p:sp>
        <p:nvSpPr>
          <p:cNvPr id="17" name="Shape 15"/>
          <p:cNvSpPr/>
          <p:nvPr/>
        </p:nvSpPr>
        <p:spPr>
          <a:xfrm>
            <a:off x="7178040" y="2834640"/>
            <a:ext cx="2926080" cy="320040"/>
          </a:xfrm>
          <a:prstGeom prst="roundRect">
            <a:avLst>
              <a:gd name="adj" fmla="val 8571"/>
            </a:avLst>
          </a:prstGeom>
          <a:solidFill>
            <a:srgbClr val="1E293B"/>
          </a:solidFill>
          <a:ln w="12700">
            <a:solidFill>
              <a:srgbClr val="475569"/>
            </a:solidFill>
            <a:prstDash val="solid"/>
          </a:ln>
        </p:spPr>
      </p:sp>
      <p:sp>
        <p:nvSpPr>
          <p:cNvPr id="18" name="Shape 16"/>
          <p:cNvSpPr/>
          <p:nvPr/>
        </p:nvSpPr>
        <p:spPr>
          <a:xfrm>
            <a:off x="7178040" y="3337560"/>
            <a:ext cx="2926080" cy="320040"/>
          </a:xfrm>
          <a:prstGeom prst="roundRect">
            <a:avLst>
              <a:gd name="adj" fmla="val 8571"/>
            </a:avLst>
          </a:prstGeom>
          <a:solidFill>
            <a:srgbClr val="1E293B"/>
          </a:solidFill>
          <a:ln w="12700">
            <a:solidFill>
              <a:srgbClr val="475569"/>
            </a:solidFill>
            <a:prstDash val="solid"/>
          </a:ln>
        </p:spPr>
      </p:sp>
      <p:sp>
        <p:nvSpPr>
          <p:cNvPr id="19" name="Shape 17"/>
          <p:cNvSpPr/>
          <p:nvPr/>
        </p:nvSpPr>
        <p:spPr>
          <a:xfrm>
            <a:off x="7178040" y="3840480"/>
            <a:ext cx="2468880" cy="320040"/>
          </a:xfrm>
          <a:prstGeom prst="roundRect">
            <a:avLst>
              <a:gd name="adj" fmla="val 8571"/>
            </a:avLst>
          </a:prstGeom>
          <a:solidFill>
            <a:srgbClr val="1E293B"/>
          </a:solidFill>
          <a:ln w="12700">
            <a:solidFill>
              <a:srgbClr val="475569"/>
            </a:solidFill>
            <a:prstDash val="solid"/>
          </a:ln>
        </p:spPr>
      </p:sp>
      <p:sp>
        <p:nvSpPr>
          <p:cNvPr id="20" name="Text 18"/>
          <p:cNvSpPr/>
          <p:nvPr/>
        </p:nvSpPr>
        <p:spPr>
          <a:xfrm>
            <a:off x="960120" y="6172200"/>
            <a:ext cx="9601200" cy="228600"/>
          </a:xfrm>
          <a:prstGeom prst="rect">
            <a:avLst/>
          </a:prstGeom>
          <a:noFill/>
          <a:ln/>
        </p:spPr>
        <p:txBody>
          <a:bodyPr wrap="square" lIns="0" tIns="0" rIns="0" bIns="0" rtlCol="0" anchor="ctr"/>
          <a:lstStyle/>
          <a:p>
            <a:pPr marL="0" indent="0">
              <a:buNone/>
            </a:pPr>
            <a:r>
              <a:rPr lang="en-US" sz="1500" i="1" dirty="0">
                <a:solidFill>
                  <a:srgbClr val="CBD5E1"/>
                </a:solidFill>
              </a:rPr>
              <a:t>A good responsive layout often changes structure, not just scale.</a:t>
            </a:r>
            <a:endParaRPr lang="en-US" sz="1500" dirty="0"/>
          </a:p>
        </p:txBody>
      </p:sp>
      <p:sp>
        <p:nvSpPr>
          <p:cNvPr id="21" name="Text 19"/>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Flex: the orientation can become dynamic</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latin typeface="Rockwell" panose="02060603020205020403" pitchFamily="18" charset="0"/>
              </a:rPr>
              <a:t>One widget that can behave like Row or Column</a:t>
            </a:r>
            <a:endParaRPr lang="en-US" sz="1400" dirty="0">
              <a:latin typeface="Rockwell" panose="02060603020205020403" pitchFamily="18" charset="0"/>
            </a:endParaRPr>
          </a:p>
        </p:txBody>
      </p:sp>
      <p:sp>
        <p:nvSpPr>
          <p:cNvPr id="7" name="Text 5"/>
          <p:cNvSpPr/>
          <p:nvPr/>
        </p:nvSpPr>
        <p:spPr>
          <a:xfrm>
            <a:off x="777240" y="1325880"/>
            <a:ext cx="5486400" cy="3840480"/>
          </a:xfrm>
          <a:prstGeom prst="rect">
            <a:avLst/>
          </a:prstGeom>
          <a:noFill/>
          <a:ln/>
        </p:spPr>
        <p:txBody>
          <a:bodyPr wrap="square" lIns="508" tIns="508" rIns="508" bIns="508" rtlCol="0" anchor="t">
            <a:normAutofit/>
          </a:bodyPr>
          <a:lstStyle/>
          <a:p>
            <a:pPr marL="205740" indent="-205740">
              <a:buSzPct val="100000"/>
              <a:buChar char="•"/>
            </a:pPr>
            <a:r>
              <a:rPr lang="en-US" sz="2400" dirty="0">
                <a:solidFill>
                  <a:srgbClr val="E2E8F0"/>
                </a:solidFill>
              </a:rPr>
              <a:t>Flex arranges children along a main axis, just like Row and Column.</a:t>
            </a:r>
            <a:endParaRPr lang="en-US" sz="2400" dirty="0"/>
          </a:p>
          <a:p>
            <a:pPr marL="205740" indent="-205740">
              <a:buSzPct val="100000"/>
              <a:buChar char="•"/>
            </a:pPr>
            <a:r>
              <a:rPr lang="en-US" sz="2400" dirty="0">
                <a:solidFill>
                  <a:srgbClr val="E2E8F0"/>
                </a:solidFill>
              </a:rPr>
              <a:t>If direction is horizontal, it behaves like a Row.</a:t>
            </a:r>
            <a:endParaRPr lang="en-US" sz="2400" dirty="0"/>
          </a:p>
          <a:p>
            <a:pPr marL="205740" indent="-205740">
              <a:buSzPct val="100000"/>
              <a:buChar char="•"/>
            </a:pPr>
            <a:r>
              <a:rPr lang="en-US" sz="2400" dirty="0">
                <a:solidFill>
                  <a:srgbClr val="E2E8F0"/>
                </a:solidFill>
              </a:rPr>
              <a:t>If direction is vertical, it behaves like a Column.</a:t>
            </a:r>
            <a:endParaRPr lang="en-US" sz="2400" dirty="0"/>
          </a:p>
          <a:p>
            <a:pPr marL="205740" indent="-205740">
              <a:buSzPct val="100000"/>
              <a:buChar char="•"/>
            </a:pPr>
            <a:r>
              <a:rPr lang="en-US" sz="2400" dirty="0">
                <a:solidFill>
                  <a:srgbClr val="E2E8F0"/>
                </a:solidFill>
              </a:rPr>
              <a:t>Its real value appears when direction becomes conditional based on device state.</a:t>
            </a:r>
            <a:endParaRPr lang="en-US" sz="2400" dirty="0"/>
          </a:p>
        </p:txBody>
      </p:sp>
      <p:sp>
        <p:nvSpPr>
          <p:cNvPr id="8" name="Shape 6"/>
          <p:cNvSpPr/>
          <p:nvPr/>
        </p:nvSpPr>
        <p:spPr>
          <a:xfrm>
            <a:off x="6583680" y="1417320"/>
            <a:ext cx="4754880" cy="4389120"/>
          </a:xfrm>
          <a:prstGeom prst="roundRect">
            <a:avLst>
              <a:gd name="adj" fmla="val 1042"/>
            </a:avLst>
          </a:prstGeom>
          <a:solidFill>
            <a:srgbClr val="0B1220"/>
          </a:solidFill>
          <a:ln w="12700">
            <a:solidFill>
              <a:srgbClr val="1E293B"/>
            </a:solidFill>
            <a:prstDash val="solid"/>
          </a:ln>
        </p:spPr>
      </p:sp>
      <p:sp>
        <p:nvSpPr>
          <p:cNvPr id="9" name="Text 7"/>
          <p:cNvSpPr/>
          <p:nvPr/>
        </p:nvSpPr>
        <p:spPr>
          <a:xfrm>
            <a:off x="7589520" y="1737360"/>
            <a:ext cx="2560320" cy="228600"/>
          </a:xfrm>
          <a:prstGeom prst="rect">
            <a:avLst/>
          </a:prstGeom>
          <a:noFill/>
          <a:ln/>
        </p:spPr>
        <p:txBody>
          <a:bodyPr wrap="square" lIns="0" tIns="0" rIns="0" bIns="0" rtlCol="0" anchor="ctr"/>
          <a:lstStyle/>
          <a:p>
            <a:pPr marL="0" indent="0" algn="ctr">
              <a:buNone/>
            </a:pPr>
            <a:r>
              <a:rPr lang="en-US" sz="2000" b="1" dirty="0">
                <a:solidFill>
                  <a:srgbClr val="F8FAFC"/>
                </a:solidFill>
              </a:rPr>
              <a:t>Flex(direction: ...)</a:t>
            </a:r>
            <a:endParaRPr lang="en-US" sz="2000" dirty="0"/>
          </a:p>
        </p:txBody>
      </p:sp>
      <p:sp>
        <p:nvSpPr>
          <p:cNvPr id="10" name="Shape 8"/>
          <p:cNvSpPr/>
          <p:nvPr/>
        </p:nvSpPr>
        <p:spPr>
          <a:xfrm>
            <a:off x="7611394" y="2267712"/>
            <a:ext cx="731520" cy="329184"/>
          </a:xfrm>
          <a:prstGeom prst="chevron">
            <a:avLst/>
          </a:prstGeom>
          <a:solidFill>
            <a:srgbClr val="22D3EE"/>
          </a:solidFill>
          <a:ln w="12700">
            <a:solidFill>
              <a:srgbClr val="22D3EE"/>
            </a:solidFill>
            <a:prstDash val="solid"/>
          </a:ln>
        </p:spPr>
      </p:sp>
      <p:sp>
        <p:nvSpPr>
          <p:cNvPr id="11" name="Text 9"/>
          <p:cNvSpPr/>
          <p:nvPr/>
        </p:nvSpPr>
        <p:spPr>
          <a:xfrm>
            <a:off x="8659906" y="2286000"/>
            <a:ext cx="1489934" cy="329184"/>
          </a:xfrm>
          <a:prstGeom prst="rect">
            <a:avLst/>
          </a:prstGeom>
          <a:noFill/>
          <a:ln/>
        </p:spPr>
        <p:txBody>
          <a:bodyPr wrap="square" lIns="0" tIns="0" rIns="0" bIns="0" rtlCol="0" anchor="ctr"/>
          <a:lstStyle/>
          <a:p>
            <a:pPr marL="0" indent="0">
              <a:buNone/>
            </a:pPr>
            <a:r>
              <a:rPr lang="en-US" sz="1600" dirty="0">
                <a:solidFill>
                  <a:srgbClr val="22D3EE"/>
                </a:solidFill>
              </a:rPr>
              <a:t>horizontal</a:t>
            </a:r>
            <a:endParaRPr lang="en-US" sz="1600" dirty="0"/>
          </a:p>
        </p:txBody>
      </p:sp>
      <p:sp>
        <p:nvSpPr>
          <p:cNvPr id="12" name="Shape 10"/>
          <p:cNvSpPr/>
          <p:nvPr/>
        </p:nvSpPr>
        <p:spPr>
          <a:xfrm rot="5400000">
            <a:off x="7605603" y="2994660"/>
            <a:ext cx="731520" cy="329184"/>
          </a:xfrm>
          <a:prstGeom prst="chevron">
            <a:avLst/>
          </a:prstGeom>
          <a:solidFill>
            <a:srgbClr val="22C55E"/>
          </a:solidFill>
          <a:ln w="12700">
            <a:solidFill>
              <a:srgbClr val="22C55E"/>
            </a:solidFill>
            <a:prstDash val="solid"/>
          </a:ln>
        </p:spPr>
      </p:sp>
      <p:sp>
        <p:nvSpPr>
          <p:cNvPr id="13" name="Text 11"/>
          <p:cNvSpPr/>
          <p:nvPr/>
        </p:nvSpPr>
        <p:spPr>
          <a:xfrm>
            <a:off x="8659906" y="2898648"/>
            <a:ext cx="1290918" cy="329184"/>
          </a:xfrm>
          <a:prstGeom prst="rect">
            <a:avLst/>
          </a:prstGeom>
          <a:noFill/>
          <a:ln/>
        </p:spPr>
        <p:txBody>
          <a:bodyPr wrap="square" lIns="0" tIns="0" rIns="0" bIns="0" rtlCol="0" anchor="ctr"/>
          <a:lstStyle/>
          <a:p>
            <a:pPr marL="0" indent="0">
              <a:buNone/>
            </a:pPr>
            <a:r>
              <a:rPr lang="en-US" sz="1600" dirty="0">
                <a:solidFill>
                  <a:srgbClr val="22C55E"/>
                </a:solidFill>
              </a:rPr>
              <a:t>vertical</a:t>
            </a:r>
            <a:endParaRPr lang="en-US" sz="1600" dirty="0"/>
          </a:p>
        </p:txBody>
      </p:sp>
      <p:sp>
        <p:nvSpPr>
          <p:cNvPr id="14" name="Text 12"/>
          <p:cNvSpPr/>
          <p:nvPr/>
        </p:nvSpPr>
        <p:spPr>
          <a:xfrm>
            <a:off x="7040880" y="3749040"/>
            <a:ext cx="3657600" cy="1371600"/>
          </a:xfrm>
          <a:prstGeom prst="rect">
            <a:avLst/>
          </a:prstGeom>
          <a:noFill/>
          <a:ln/>
        </p:spPr>
        <p:txBody>
          <a:bodyPr wrap="square" lIns="508" tIns="508" rIns="508" bIns="508" rtlCol="0" anchor="t">
            <a:normAutofit/>
          </a:bodyPr>
          <a:lstStyle/>
          <a:p>
            <a:pPr marL="171450" indent="-171450">
              <a:buSzPct val="100000"/>
              <a:buChar char="•"/>
            </a:pPr>
            <a:r>
              <a:rPr lang="en-US" dirty="0">
                <a:solidFill>
                  <a:srgbClr val="E2E8F0"/>
                </a:solidFill>
              </a:rPr>
              <a:t>Row equivalent</a:t>
            </a:r>
            <a:endParaRPr lang="en-US" dirty="0"/>
          </a:p>
          <a:p>
            <a:pPr marL="171450" indent="-171450">
              <a:buSzPct val="100000"/>
              <a:buChar char="•"/>
            </a:pPr>
            <a:r>
              <a:rPr lang="en-US" dirty="0">
                <a:solidFill>
                  <a:srgbClr val="E2E8F0"/>
                </a:solidFill>
              </a:rPr>
              <a:t>Column equivalent</a:t>
            </a:r>
            <a:endParaRPr lang="en-US" dirty="0"/>
          </a:p>
          <a:p>
            <a:pPr marL="171450" indent="-171450">
              <a:buSzPct val="100000"/>
              <a:buChar char="•"/>
            </a:pPr>
            <a:r>
              <a:rPr lang="en-US" dirty="0">
                <a:solidFill>
                  <a:srgbClr val="E2E8F0"/>
                </a:solidFill>
              </a:rPr>
              <a:t>Single abstraction for responsive switching</a:t>
            </a:r>
            <a:endParaRPr lang="en-US" dirty="0"/>
          </a:p>
        </p:txBody>
      </p:sp>
      <p:sp>
        <p:nvSpPr>
          <p:cNvPr id="15" name="Text 13"/>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MediaQuery: read the device context</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Ask the environment before deciding the layout</a:t>
            </a:r>
            <a:endParaRPr lang="en-US" sz="1400" dirty="0"/>
          </a:p>
        </p:txBody>
      </p:sp>
      <p:sp>
        <p:nvSpPr>
          <p:cNvPr id="7" name="Text 5"/>
          <p:cNvSpPr/>
          <p:nvPr/>
        </p:nvSpPr>
        <p:spPr>
          <a:xfrm>
            <a:off x="777240" y="1280160"/>
            <a:ext cx="5669280" cy="4389120"/>
          </a:xfrm>
          <a:prstGeom prst="rect">
            <a:avLst/>
          </a:prstGeom>
          <a:noFill/>
          <a:ln/>
        </p:spPr>
        <p:txBody>
          <a:bodyPr wrap="square" lIns="508" tIns="508" rIns="508" bIns="508" rtlCol="0" anchor="t">
            <a:normAutofit/>
          </a:bodyPr>
          <a:lstStyle/>
          <a:p>
            <a:pPr marL="205740" indent="-205740">
              <a:buSzPct val="100000"/>
              <a:buChar char="•"/>
            </a:pPr>
            <a:r>
              <a:rPr lang="en-US" sz="2400" dirty="0">
                <a:solidFill>
                  <a:srgbClr val="E2E8F0"/>
                </a:solidFill>
              </a:rPr>
              <a:t>MediaQuery.sizeOf(context) gives width and height.</a:t>
            </a:r>
            <a:endParaRPr lang="en-US" sz="2400" dirty="0"/>
          </a:p>
          <a:p>
            <a:pPr marL="205740" indent="-205740">
              <a:buSzPct val="100000"/>
              <a:buChar char="•"/>
            </a:pPr>
            <a:r>
              <a:rPr lang="en-US" sz="2400" dirty="0">
                <a:solidFill>
                  <a:srgbClr val="E2E8F0"/>
                </a:solidFill>
              </a:rPr>
              <a:t>MediaQuery.displayFeaturesOf(context) exposes cutouts such as notches or camera holes.</a:t>
            </a:r>
            <a:endParaRPr lang="en-US" sz="2400" dirty="0"/>
          </a:p>
          <a:p>
            <a:pPr marL="205740" indent="-205740">
              <a:buSzPct val="100000"/>
              <a:buChar char="•"/>
            </a:pPr>
            <a:r>
              <a:rPr lang="en-US" sz="2400" dirty="0">
                <a:solidFill>
                  <a:srgbClr val="E2E8F0"/>
                </a:solidFill>
              </a:rPr>
              <a:t>MediaQuery.orientationOf(context) tells you whether the device is in portrait or landscape.</a:t>
            </a:r>
            <a:endParaRPr lang="en-US" sz="2400" dirty="0"/>
          </a:p>
          <a:p>
            <a:pPr marL="205740" indent="-205740">
              <a:buSzPct val="100000"/>
              <a:buChar char="•"/>
            </a:pPr>
            <a:r>
              <a:rPr lang="en-US" sz="2400" dirty="0">
                <a:solidFill>
                  <a:srgbClr val="E2E8F0"/>
                </a:solidFill>
              </a:rPr>
              <a:t>The chapter emphasizes orientation as the trigger for conditional Flex direction.</a:t>
            </a:r>
            <a:endParaRPr lang="en-US" sz="2400" dirty="0"/>
          </a:p>
        </p:txBody>
      </p:sp>
      <p:sp>
        <p:nvSpPr>
          <p:cNvPr id="8" name="Shape 6"/>
          <p:cNvSpPr/>
          <p:nvPr/>
        </p:nvSpPr>
        <p:spPr>
          <a:xfrm>
            <a:off x="6720840" y="1417320"/>
            <a:ext cx="4343400" cy="1645920"/>
          </a:xfrm>
          <a:prstGeom prst="roundRect">
            <a:avLst>
              <a:gd name="adj" fmla="val 3889"/>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9" name="Text 7"/>
          <p:cNvSpPr/>
          <p:nvPr/>
        </p:nvSpPr>
        <p:spPr>
          <a:xfrm>
            <a:off x="6867144" y="1490472"/>
            <a:ext cx="4050792" cy="164592"/>
          </a:xfrm>
          <a:prstGeom prst="rect">
            <a:avLst/>
          </a:prstGeom>
          <a:noFill/>
          <a:ln/>
        </p:spPr>
        <p:txBody>
          <a:bodyPr wrap="square" lIns="0" tIns="0" rIns="0" bIns="0" rtlCol="0" anchor="ctr"/>
          <a:lstStyle/>
          <a:p>
            <a:pPr marL="0" indent="0">
              <a:buNone/>
            </a:pPr>
            <a:r>
              <a:rPr lang="en-US" sz="1600" b="1" dirty="0">
                <a:solidFill>
                  <a:srgbClr val="93C5FD"/>
                </a:solidFill>
              </a:rPr>
              <a:t>Read device state</a:t>
            </a:r>
            <a:endParaRPr lang="en-US" sz="1600" dirty="0"/>
          </a:p>
        </p:txBody>
      </p:sp>
      <p:sp>
        <p:nvSpPr>
          <p:cNvPr id="10" name="Text 8"/>
          <p:cNvSpPr/>
          <p:nvPr/>
        </p:nvSpPr>
        <p:spPr>
          <a:xfrm>
            <a:off x="6848856" y="1719072"/>
            <a:ext cx="4087368" cy="1261872"/>
          </a:xfrm>
          <a:prstGeom prst="rect">
            <a:avLst/>
          </a:prstGeom>
          <a:noFill/>
          <a:ln/>
        </p:spPr>
        <p:txBody>
          <a:bodyPr wrap="square" lIns="254" tIns="254" rIns="254" bIns="25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final</a:t>
            </a:r>
            <a:r>
              <a:rPr lang="en-US" sz="1400" dirty="0">
                <a:solidFill>
                  <a:srgbClr val="FFFFFF"/>
                </a:solidFill>
                <a:latin typeface="Consolas" pitchFamily="34" charset="0"/>
                <a:ea typeface="Consolas" pitchFamily="34" charset="-122"/>
                <a:cs typeface="Consolas" pitchFamily="34" charset="-120"/>
              </a:rPr>
              <a:t> orientation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MediaQuery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orientationOf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context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66D9EF"/>
                </a:solidFill>
                <a:latin typeface="Consolas" pitchFamily="34" charset="0"/>
                <a:ea typeface="Consolas" pitchFamily="34" charset="-122"/>
                <a:cs typeface="Consolas" pitchFamily="34" charset="-120"/>
              </a:rPr>
              <a:t>final</a:t>
            </a:r>
            <a:r>
              <a:rPr lang="en-US" sz="1400" dirty="0">
                <a:solidFill>
                  <a:srgbClr val="FFFFFF"/>
                </a:solidFill>
                <a:latin typeface="Consolas" pitchFamily="34" charset="0"/>
                <a:ea typeface="Consolas" pitchFamily="34" charset="-122"/>
                <a:cs typeface="Consolas" pitchFamily="34" charset="-120"/>
              </a:rPr>
              <a:t> isLandscape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orientation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Orientation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landscape</a:t>
            </a:r>
            <a:r>
              <a:rPr lang="en-US" sz="1400" dirty="0">
                <a:solidFill>
                  <a:srgbClr val="F8F8F2"/>
                </a:solidFill>
                <a:latin typeface="Consolas" pitchFamily="34" charset="0"/>
                <a:ea typeface="Consolas" pitchFamily="34" charset="-122"/>
                <a:cs typeface="Consolas" pitchFamily="34" charset="-120"/>
              </a:rPr>
              <a:t>;</a:t>
            </a:r>
            <a:endParaRPr lang="en-US" sz="1100" dirty="0"/>
          </a:p>
        </p:txBody>
      </p:sp>
      <p:sp>
        <p:nvSpPr>
          <p:cNvPr id="11" name="Shape 9"/>
          <p:cNvSpPr/>
          <p:nvPr/>
        </p:nvSpPr>
        <p:spPr>
          <a:xfrm>
            <a:off x="6903720" y="3383280"/>
            <a:ext cx="4297680" cy="2834640"/>
          </a:xfrm>
          <a:prstGeom prst="roundRect">
            <a:avLst>
              <a:gd name="adj" fmla="val 2581"/>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12" name="Image 0" descr="/mnt/data/ch11_12_assets/page-219.png"/>
          <p:cNvPicPr>
            <a:picLocks noChangeAspect="1"/>
          </p:cNvPicPr>
          <p:nvPr/>
        </p:nvPicPr>
        <p:blipFill>
          <a:blip r:embed="rId3"/>
          <a:stretch>
            <a:fillRect/>
          </a:stretch>
        </p:blipFill>
        <p:spPr>
          <a:xfrm>
            <a:off x="8165487" y="3456432"/>
            <a:ext cx="1774147" cy="2688336"/>
          </a:xfrm>
          <a:prstGeom prst="rect">
            <a:avLst/>
          </a:prstGeom>
        </p:spPr>
      </p:pic>
      <p:sp>
        <p:nvSpPr>
          <p:cNvPr id="13"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19" y="310896"/>
            <a:ext cx="9340327"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Responsive layout example with Flex + MediaQuery</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This is the central design pattern of Chapter 12</a:t>
            </a:r>
            <a:endParaRPr lang="en-US" sz="1400" dirty="0"/>
          </a:p>
        </p:txBody>
      </p:sp>
      <p:sp>
        <p:nvSpPr>
          <p:cNvPr id="7" name="Shape 5"/>
          <p:cNvSpPr/>
          <p:nvPr/>
        </p:nvSpPr>
        <p:spPr>
          <a:xfrm>
            <a:off x="822960" y="1325880"/>
            <a:ext cx="5303520" cy="4206240"/>
          </a:xfrm>
          <a:prstGeom prst="roundRect">
            <a:avLst>
              <a:gd name="adj" fmla="val 1522"/>
            </a:avLst>
          </a:prstGeom>
          <a:solidFill>
            <a:srgbClr val="0B1220"/>
          </a:solidFill>
          <a:ln w="12700">
            <a:solidFill>
              <a:srgbClr val="1E293B"/>
            </a:solidFill>
            <a:prstDash val="solid"/>
          </a:ln>
          <a:effectLst>
            <a:outerShdw blurRad="25400" dist="12700" dir="2700000" algn="bl" rotWithShape="0">
              <a:srgbClr val="000000">
                <a:alpha val="18000"/>
              </a:srgbClr>
            </a:outerShdw>
          </a:effectLst>
        </p:spPr>
      </p:sp>
      <p:sp>
        <p:nvSpPr>
          <p:cNvPr id="8" name="Text 6"/>
          <p:cNvSpPr/>
          <p:nvPr/>
        </p:nvSpPr>
        <p:spPr>
          <a:xfrm>
            <a:off x="969264" y="1399032"/>
            <a:ext cx="5010912" cy="164592"/>
          </a:xfrm>
          <a:prstGeom prst="rect">
            <a:avLst/>
          </a:prstGeom>
          <a:noFill/>
          <a:ln/>
        </p:spPr>
        <p:txBody>
          <a:bodyPr wrap="square" lIns="0" tIns="0" rIns="0" bIns="0" rtlCol="0" anchor="ctr"/>
          <a:lstStyle/>
          <a:p>
            <a:pPr marL="0" indent="0">
              <a:buNone/>
            </a:pPr>
            <a:r>
              <a:rPr lang="en-US" sz="1600" b="1" dirty="0">
                <a:solidFill>
                  <a:srgbClr val="93C5FD"/>
                </a:solidFill>
              </a:rPr>
              <a:t>Conditional orientation</a:t>
            </a:r>
            <a:endParaRPr lang="en-US" sz="1600" dirty="0"/>
          </a:p>
        </p:txBody>
      </p:sp>
      <p:sp>
        <p:nvSpPr>
          <p:cNvPr id="9" name="Text 7"/>
          <p:cNvSpPr/>
          <p:nvPr/>
        </p:nvSpPr>
        <p:spPr>
          <a:xfrm>
            <a:off x="950976" y="1627632"/>
            <a:ext cx="5047488" cy="3822192"/>
          </a:xfrm>
          <a:prstGeom prst="rect">
            <a:avLst/>
          </a:prstGeom>
          <a:noFill/>
          <a:ln/>
        </p:spPr>
        <p:txBody>
          <a:bodyPr wrap="square" lIns="254" tIns="254" rIns="254" bIns="25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66D9EF"/>
                </a:solidFill>
                <a:latin typeface="Consolas" pitchFamily="34" charset="0"/>
                <a:ea typeface="Consolas" pitchFamily="34" charset="-122"/>
                <a:cs typeface="Consolas" pitchFamily="34" charset="-120"/>
              </a:rPr>
              <a:t>final</a:t>
            </a:r>
            <a:r>
              <a:rPr lang="en-US" sz="1400" dirty="0">
                <a:solidFill>
                  <a:srgbClr val="FFFFFF"/>
                </a:solidFill>
                <a:latin typeface="Consolas" pitchFamily="34" charset="0"/>
                <a:ea typeface="Consolas" pitchFamily="34" charset="-122"/>
                <a:cs typeface="Consolas" pitchFamily="34" charset="-120"/>
              </a:rPr>
              <a:t> isLandscape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MediaQuery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orientationOf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context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Orientation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landscape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direction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isLandscape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Axis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horizontal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Axis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vertical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SidebarWidget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ContentWidget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13 </a:t>
            </a:r>
            <a:r>
              <a:rPr lang="en-US" sz="1400" dirty="0">
                <a:solidFill>
                  <a:srgbClr val="F8F8F2"/>
                </a:solidFill>
                <a:latin typeface="Consolas" pitchFamily="34" charset="0"/>
                <a:ea typeface="Consolas" pitchFamily="34" charset="-122"/>
                <a:cs typeface="Consolas" pitchFamily="34" charset="-120"/>
              </a:rPr>
              <a:t>);</a:t>
            </a:r>
            <a:endParaRPr lang="en-US" sz="1100" dirty="0"/>
          </a:p>
        </p:txBody>
      </p:sp>
      <p:sp>
        <p:nvSpPr>
          <p:cNvPr id="10" name="Text 8"/>
          <p:cNvSpPr/>
          <p:nvPr/>
        </p:nvSpPr>
        <p:spPr>
          <a:xfrm>
            <a:off x="6400800" y="1417320"/>
            <a:ext cx="4937760" cy="4023360"/>
          </a:xfrm>
          <a:prstGeom prst="rect">
            <a:avLst/>
          </a:prstGeom>
          <a:noFill/>
          <a:ln/>
        </p:spPr>
        <p:txBody>
          <a:bodyPr wrap="square" lIns="508" tIns="508" rIns="508" bIns="508" rtlCol="0" anchor="t">
            <a:normAutofit/>
          </a:bodyPr>
          <a:lstStyle/>
          <a:p>
            <a:pPr marL="205740" indent="-205740">
              <a:buSzPct val="100000"/>
              <a:buChar char="•"/>
            </a:pPr>
            <a:r>
              <a:rPr lang="en-US" sz="2400" dirty="0">
                <a:solidFill>
                  <a:srgbClr val="E2E8F0"/>
                </a:solidFill>
              </a:rPr>
              <a:t>In portrait, widgets stack vertically to respect narrow width.</a:t>
            </a:r>
            <a:endParaRPr lang="en-US" sz="2400" dirty="0"/>
          </a:p>
          <a:p>
            <a:pPr marL="205740" indent="-205740">
              <a:buSzPct val="100000"/>
              <a:buChar char="•"/>
            </a:pPr>
            <a:r>
              <a:rPr lang="en-US" sz="2400" dirty="0">
                <a:solidFill>
                  <a:srgbClr val="E2E8F0"/>
                </a:solidFill>
              </a:rPr>
              <a:t>In landscape, widgets sit side by side to exploit horizontal space.</a:t>
            </a:r>
            <a:endParaRPr lang="en-US" sz="2400" dirty="0"/>
          </a:p>
          <a:p>
            <a:pPr marL="205740" indent="-205740">
              <a:buSzPct val="100000"/>
              <a:buChar char="•"/>
            </a:pPr>
            <a:r>
              <a:rPr lang="en-US" sz="2400" dirty="0">
                <a:solidFill>
                  <a:srgbClr val="E2E8F0"/>
                </a:solidFill>
              </a:rPr>
              <a:t>This pattern is more robust than manually duplicating two unrelated screens.</a:t>
            </a:r>
            <a:endParaRPr lang="en-US" sz="2400" dirty="0"/>
          </a:p>
          <a:p>
            <a:pPr marL="205740" indent="-205740">
              <a:buSzPct val="100000"/>
              <a:buChar char="•"/>
            </a:pPr>
            <a:r>
              <a:rPr lang="en-US" sz="2400" dirty="0">
                <a:solidFill>
                  <a:srgbClr val="E2E8F0"/>
                </a:solidFill>
              </a:rPr>
              <a:t>Students can extend it with Expanded, Flexible, spacing, and breakpoint logic.</a:t>
            </a:r>
            <a:endParaRPr lang="en-US" sz="2400" dirty="0"/>
          </a:p>
        </p:txBody>
      </p:sp>
      <p:sp>
        <p:nvSpPr>
          <p:cNvPr id="11" name="Text 9"/>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Case study: list + details screen</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600" dirty="0">
                <a:solidFill>
                  <a:srgbClr val="CBD5E1"/>
                </a:solidFill>
                <a:latin typeface="Rockwell" panose="02060603020205020403" pitchFamily="18" charset="0"/>
              </a:rPr>
              <a:t>How students can apply the chapter beyond toy examples</a:t>
            </a:r>
            <a:endParaRPr lang="en-US" sz="1600" dirty="0">
              <a:latin typeface="Rockwell" panose="02060603020205020403" pitchFamily="18" charset="0"/>
            </a:endParaRPr>
          </a:p>
        </p:txBody>
      </p:sp>
      <p:sp>
        <p:nvSpPr>
          <p:cNvPr id="7" name="Shape 5"/>
          <p:cNvSpPr/>
          <p:nvPr/>
        </p:nvSpPr>
        <p:spPr>
          <a:xfrm>
            <a:off x="868680" y="1417320"/>
            <a:ext cx="4663440" cy="4389120"/>
          </a:xfrm>
          <a:prstGeom prst="roundRect">
            <a:avLst>
              <a:gd name="adj" fmla="val 1042"/>
            </a:avLst>
          </a:prstGeom>
          <a:solidFill>
            <a:srgbClr val="0B1220"/>
          </a:solidFill>
          <a:ln w="12700">
            <a:solidFill>
              <a:srgbClr val="22D3EE"/>
            </a:solidFill>
            <a:prstDash val="solid"/>
          </a:ln>
        </p:spPr>
      </p:sp>
      <p:sp>
        <p:nvSpPr>
          <p:cNvPr id="8" name="Text 6"/>
          <p:cNvSpPr/>
          <p:nvPr/>
        </p:nvSpPr>
        <p:spPr>
          <a:xfrm>
            <a:off x="1005840" y="1664208"/>
            <a:ext cx="1188720" cy="201168"/>
          </a:xfrm>
          <a:prstGeom prst="rect">
            <a:avLst/>
          </a:prstGeom>
          <a:noFill/>
          <a:ln/>
        </p:spPr>
        <p:txBody>
          <a:bodyPr wrap="square" lIns="0" tIns="0" rIns="0" bIns="0" rtlCol="0" anchor="ctr"/>
          <a:lstStyle/>
          <a:p>
            <a:pPr marL="0" indent="0">
              <a:buNone/>
            </a:pPr>
            <a:r>
              <a:rPr lang="en-US" sz="2800" b="1" dirty="0">
                <a:solidFill>
                  <a:srgbClr val="F8FAFC"/>
                </a:solidFill>
              </a:rPr>
              <a:t>Portrait</a:t>
            </a:r>
            <a:endParaRPr lang="en-US" sz="2800" dirty="0"/>
          </a:p>
        </p:txBody>
      </p:sp>
      <p:sp>
        <p:nvSpPr>
          <p:cNvPr id="9" name="Text 7"/>
          <p:cNvSpPr/>
          <p:nvPr/>
        </p:nvSpPr>
        <p:spPr>
          <a:xfrm>
            <a:off x="1051560" y="2011680"/>
            <a:ext cx="3840480" cy="2377440"/>
          </a:xfrm>
          <a:prstGeom prst="rect">
            <a:avLst/>
          </a:prstGeom>
          <a:noFill/>
          <a:ln/>
        </p:spPr>
        <p:txBody>
          <a:bodyPr wrap="square" lIns="508" tIns="508" rIns="508" bIns="508" rtlCol="0" anchor="t">
            <a:normAutofit/>
          </a:bodyPr>
          <a:lstStyle/>
          <a:p>
            <a:pPr marL="194310" indent="-194310">
              <a:buSzPct val="100000"/>
              <a:buChar char="•"/>
            </a:pPr>
            <a:r>
              <a:rPr lang="en-US" sz="2400" dirty="0">
                <a:solidFill>
                  <a:srgbClr val="E2E8F0"/>
                </a:solidFill>
              </a:rPr>
              <a:t>Top: search/filter</a:t>
            </a:r>
            <a:endParaRPr lang="en-US" sz="2400" dirty="0"/>
          </a:p>
          <a:p>
            <a:pPr marL="194310" indent="-194310">
              <a:buSzPct val="100000"/>
              <a:buChar char="•"/>
            </a:pPr>
            <a:r>
              <a:rPr lang="en-US" sz="2400" dirty="0">
                <a:solidFill>
                  <a:srgbClr val="E2E8F0"/>
                </a:solidFill>
              </a:rPr>
              <a:t>Middle: list of items</a:t>
            </a:r>
            <a:endParaRPr lang="en-US" sz="2400" dirty="0"/>
          </a:p>
          <a:p>
            <a:pPr marL="194310" indent="-194310">
              <a:buSzPct val="100000"/>
              <a:buChar char="•"/>
            </a:pPr>
            <a:r>
              <a:rPr lang="en-US" sz="2400" dirty="0">
                <a:solidFill>
                  <a:srgbClr val="E2E8F0"/>
                </a:solidFill>
              </a:rPr>
              <a:t>Bottom: details pushed to next route or modal</a:t>
            </a:r>
            <a:endParaRPr lang="en-US" sz="2400" dirty="0"/>
          </a:p>
        </p:txBody>
      </p:sp>
      <p:sp>
        <p:nvSpPr>
          <p:cNvPr id="10" name="Shape 8"/>
          <p:cNvSpPr/>
          <p:nvPr/>
        </p:nvSpPr>
        <p:spPr>
          <a:xfrm>
            <a:off x="6400800" y="1417320"/>
            <a:ext cx="4663440" cy="4389120"/>
          </a:xfrm>
          <a:prstGeom prst="roundRect">
            <a:avLst>
              <a:gd name="adj" fmla="val 1042"/>
            </a:avLst>
          </a:prstGeom>
          <a:solidFill>
            <a:srgbClr val="0B1220"/>
          </a:solidFill>
          <a:ln w="12700">
            <a:solidFill>
              <a:srgbClr val="22C55E"/>
            </a:solidFill>
            <a:prstDash val="solid"/>
          </a:ln>
        </p:spPr>
      </p:sp>
      <p:sp>
        <p:nvSpPr>
          <p:cNvPr id="11" name="Text 9"/>
          <p:cNvSpPr/>
          <p:nvPr/>
        </p:nvSpPr>
        <p:spPr>
          <a:xfrm>
            <a:off x="6537960" y="1664208"/>
            <a:ext cx="3341146" cy="201168"/>
          </a:xfrm>
          <a:prstGeom prst="rect">
            <a:avLst/>
          </a:prstGeom>
          <a:noFill/>
          <a:ln/>
        </p:spPr>
        <p:txBody>
          <a:bodyPr wrap="square" lIns="0" tIns="0" rIns="0" bIns="0" rtlCol="0" anchor="ctr"/>
          <a:lstStyle/>
          <a:p>
            <a:pPr marL="0" indent="0">
              <a:buNone/>
            </a:pPr>
            <a:r>
              <a:rPr lang="en-US" sz="2800" b="1" dirty="0">
                <a:solidFill>
                  <a:srgbClr val="F8FAFC"/>
                </a:solidFill>
              </a:rPr>
              <a:t>Landscape / tablet</a:t>
            </a:r>
            <a:endParaRPr lang="en-US" sz="2800" dirty="0"/>
          </a:p>
        </p:txBody>
      </p:sp>
      <p:sp>
        <p:nvSpPr>
          <p:cNvPr id="12" name="Text 10"/>
          <p:cNvSpPr/>
          <p:nvPr/>
        </p:nvSpPr>
        <p:spPr>
          <a:xfrm>
            <a:off x="6583680" y="2011680"/>
            <a:ext cx="3840480" cy="2377440"/>
          </a:xfrm>
          <a:prstGeom prst="rect">
            <a:avLst/>
          </a:prstGeom>
          <a:noFill/>
          <a:ln/>
        </p:spPr>
        <p:txBody>
          <a:bodyPr wrap="square" lIns="508" tIns="508" rIns="508" bIns="508" rtlCol="0" anchor="t">
            <a:normAutofit/>
          </a:bodyPr>
          <a:lstStyle/>
          <a:p>
            <a:pPr marL="194310" indent="-194310">
              <a:buSzPct val="100000"/>
              <a:buChar char="•"/>
            </a:pPr>
            <a:r>
              <a:rPr lang="en-US" sz="2400" dirty="0">
                <a:solidFill>
                  <a:srgbClr val="E2E8F0"/>
                </a:solidFill>
              </a:rPr>
              <a:t>Left pane: list of items</a:t>
            </a:r>
            <a:endParaRPr lang="en-US" sz="2400" dirty="0"/>
          </a:p>
          <a:p>
            <a:pPr marL="194310" indent="-194310">
              <a:buSzPct val="100000"/>
              <a:buChar char="•"/>
            </a:pPr>
            <a:r>
              <a:rPr lang="en-US" sz="2400" dirty="0">
                <a:solidFill>
                  <a:srgbClr val="E2E8F0"/>
                </a:solidFill>
              </a:rPr>
              <a:t>Right pane: live detail view</a:t>
            </a:r>
            <a:endParaRPr lang="en-US" sz="2400" dirty="0"/>
          </a:p>
          <a:p>
            <a:pPr marL="194310" indent="-194310">
              <a:buSzPct val="100000"/>
              <a:buChar char="•"/>
            </a:pPr>
            <a:r>
              <a:rPr lang="en-US" sz="2400" dirty="0">
                <a:solidFill>
                  <a:srgbClr val="E2E8F0"/>
                </a:solidFill>
              </a:rPr>
              <a:t>Same content, better use of horizontal real estate</a:t>
            </a:r>
            <a:endParaRPr lang="en-US" sz="2400" dirty="0"/>
          </a:p>
        </p:txBody>
      </p:sp>
      <p:sp>
        <p:nvSpPr>
          <p:cNvPr id="13" name="Text 11"/>
          <p:cNvSpPr/>
          <p:nvPr/>
        </p:nvSpPr>
        <p:spPr>
          <a:xfrm>
            <a:off x="914400" y="6080760"/>
            <a:ext cx="10241280" cy="320040"/>
          </a:xfrm>
          <a:prstGeom prst="rect">
            <a:avLst/>
          </a:prstGeom>
          <a:noFill/>
          <a:ln/>
        </p:spPr>
        <p:txBody>
          <a:bodyPr wrap="square" lIns="0" tIns="0" rIns="0" bIns="0" rtlCol="0" anchor="ctr"/>
          <a:lstStyle/>
          <a:p>
            <a:pPr marL="0" indent="0">
              <a:buNone/>
            </a:pPr>
            <a:r>
              <a:rPr lang="en-US" sz="1600" i="1" dirty="0">
                <a:solidFill>
                  <a:srgbClr val="CBD5E1"/>
                </a:solidFill>
              </a:rPr>
              <a:t>The point is not to memorize one layout. The point is to develop a rule-based way of switching structure when device constraints change.</a:t>
            </a:r>
            <a:endParaRPr lang="en-US" sz="1600" dirty="0"/>
          </a:p>
        </p:txBody>
      </p:sp>
      <p:sp>
        <p:nvSpPr>
          <p:cNvPr id="14" name="Text 12"/>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Design heuristics from these chapters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Rules of thumb worth carrying into projects</a:t>
            </a:r>
            <a:endParaRPr lang="en-US" sz="1400" dirty="0"/>
          </a:p>
        </p:txBody>
      </p:sp>
      <p:sp>
        <p:nvSpPr>
          <p:cNvPr id="7" name="Shape 5"/>
          <p:cNvSpPr/>
          <p:nvPr/>
        </p:nvSpPr>
        <p:spPr>
          <a:xfrm>
            <a:off x="868680" y="1353312"/>
            <a:ext cx="10241280" cy="640080"/>
          </a:xfrm>
          <a:prstGeom prst="roundRect">
            <a:avLst>
              <a:gd name="adj" fmla="val 5714"/>
            </a:avLst>
          </a:prstGeom>
          <a:solidFill>
            <a:srgbClr val="0B1220"/>
          </a:solidFill>
          <a:ln w="12700">
            <a:solidFill>
              <a:srgbClr val="1E293B"/>
            </a:solidFill>
            <a:prstDash val="solid"/>
          </a:ln>
        </p:spPr>
      </p:sp>
      <p:sp>
        <p:nvSpPr>
          <p:cNvPr id="8" name="Text 6"/>
          <p:cNvSpPr/>
          <p:nvPr/>
        </p:nvSpPr>
        <p:spPr>
          <a:xfrm>
            <a:off x="1097280" y="1517904"/>
            <a:ext cx="9784080" cy="201168"/>
          </a:xfrm>
          <a:prstGeom prst="rect">
            <a:avLst/>
          </a:prstGeom>
          <a:noFill/>
          <a:ln/>
        </p:spPr>
        <p:txBody>
          <a:bodyPr wrap="square" lIns="0" tIns="0" rIns="0" bIns="0" rtlCol="0" anchor="ctr"/>
          <a:lstStyle/>
          <a:p>
            <a:pPr marL="0" indent="0">
              <a:buNone/>
            </a:pPr>
            <a:r>
              <a:rPr lang="en-US" sz="2000" dirty="0">
                <a:solidFill>
                  <a:srgbClr val="E2E8F0"/>
                </a:solidFill>
              </a:rPr>
              <a:t>Build the outer shell before polishing inner details.</a:t>
            </a:r>
            <a:endParaRPr lang="en-US" sz="2000" dirty="0"/>
          </a:p>
        </p:txBody>
      </p:sp>
      <p:sp>
        <p:nvSpPr>
          <p:cNvPr id="9" name="Shape 7"/>
          <p:cNvSpPr/>
          <p:nvPr/>
        </p:nvSpPr>
        <p:spPr>
          <a:xfrm>
            <a:off x="868680" y="2249424"/>
            <a:ext cx="10241280" cy="640080"/>
          </a:xfrm>
          <a:prstGeom prst="roundRect">
            <a:avLst>
              <a:gd name="adj" fmla="val 5714"/>
            </a:avLst>
          </a:prstGeom>
          <a:solidFill>
            <a:srgbClr val="111827"/>
          </a:solidFill>
          <a:ln w="12700">
            <a:solidFill>
              <a:srgbClr val="1E293B"/>
            </a:solidFill>
            <a:prstDash val="solid"/>
          </a:ln>
        </p:spPr>
      </p:sp>
      <p:sp>
        <p:nvSpPr>
          <p:cNvPr id="10" name="Text 8"/>
          <p:cNvSpPr/>
          <p:nvPr/>
        </p:nvSpPr>
        <p:spPr>
          <a:xfrm>
            <a:off x="1097280" y="2414016"/>
            <a:ext cx="9784080" cy="201168"/>
          </a:xfrm>
          <a:prstGeom prst="rect">
            <a:avLst/>
          </a:prstGeom>
          <a:noFill/>
          <a:ln/>
        </p:spPr>
        <p:txBody>
          <a:bodyPr wrap="square" lIns="0" tIns="0" rIns="0" bIns="0" rtlCol="0" anchor="ctr"/>
          <a:lstStyle/>
          <a:p>
            <a:pPr marL="0" indent="0">
              <a:buNone/>
            </a:pPr>
            <a:r>
              <a:rPr lang="en-US" sz="2000" dirty="0">
                <a:solidFill>
                  <a:srgbClr val="E2E8F0"/>
                </a:solidFill>
              </a:rPr>
              <a:t>Assume every scrollable widget needs a bounded parent.</a:t>
            </a:r>
            <a:endParaRPr lang="en-US" sz="2000" dirty="0"/>
          </a:p>
        </p:txBody>
      </p:sp>
      <p:sp>
        <p:nvSpPr>
          <p:cNvPr id="11" name="Shape 9"/>
          <p:cNvSpPr/>
          <p:nvPr/>
        </p:nvSpPr>
        <p:spPr>
          <a:xfrm>
            <a:off x="868680" y="3145536"/>
            <a:ext cx="10241280" cy="640080"/>
          </a:xfrm>
          <a:prstGeom prst="roundRect">
            <a:avLst>
              <a:gd name="adj" fmla="val 5714"/>
            </a:avLst>
          </a:prstGeom>
          <a:solidFill>
            <a:srgbClr val="0B1220"/>
          </a:solidFill>
          <a:ln w="12700">
            <a:solidFill>
              <a:srgbClr val="1E293B"/>
            </a:solidFill>
            <a:prstDash val="solid"/>
          </a:ln>
        </p:spPr>
      </p:sp>
      <p:sp>
        <p:nvSpPr>
          <p:cNvPr id="12" name="Text 10"/>
          <p:cNvSpPr/>
          <p:nvPr/>
        </p:nvSpPr>
        <p:spPr>
          <a:xfrm>
            <a:off x="1097280" y="3310128"/>
            <a:ext cx="9784080" cy="201168"/>
          </a:xfrm>
          <a:prstGeom prst="rect">
            <a:avLst/>
          </a:prstGeom>
          <a:noFill/>
          <a:ln/>
        </p:spPr>
        <p:txBody>
          <a:bodyPr wrap="square" lIns="0" tIns="0" rIns="0" bIns="0" rtlCol="0" anchor="ctr"/>
          <a:lstStyle/>
          <a:p>
            <a:pPr marL="0" indent="0">
              <a:buNone/>
            </a:pPr>
            <a:r>
              <a:rPr lang="en-US" sz="2000" dirty="0">
                <a:solidFill>
                  <a:srgbClr val="E2E8F0"/>
                </a:solidFill>
              </a:rPr>
              <a:t>Use Row/Column first; only move to more specialized layout widgets when the mental model is clear.</a:t>
            </a:r>
            <a:endParaRPr lang="en-US" sz="2000" dirty="0"/>
          </a:p>
        </p:txBody>
      </p:sp>
      <p:sp>
        <p:nvSpPr>
          <p:cNvPr id="13" name="Shape 11"/>
          <p:cNvSpPr/>
          <p:nvPr/>
        </p:nvSpPr>
        <p:spPr>
          <a:xfrm>
            <a:off x="868680" y="4041648"/>
            <a:ext cx="10241280" cy="640080"/>
          </a:xfrm>
          <a:prstGeom prst="roundRect">
            <a:avLst>
              <a:gd name="adj" fmla="val 5714"/>
            </a:avLst>
          </a:prstGeom>
          <a:solidFill>
            <a:srgbClr val="111827"/>
          </a:solidFill>
          <a:ln w="12700">
            <a:solidFill>
              <a:srgbClr val="1E293B"/>
            </a:solidFill>
            <a:prstDash val="solid"/>
          </a:ln>
        </p:spPr>
      </p:sp>
      <p:sp>
        <p:nvSpPr>
          <p:cNvPr id="14" name="Text 12"/>
          <p:cNvSpPr/>
          <p:nvPr/>
        </p:nvSpPr>
        <p:spPr>
          <a:xfrm>
            <a:off x="1097280" y="4206240"/>
            <a:ext cx="9784080" cy="201168"/>
          </a:xfrm>
          <a:prstGeom prst="rect">
            <a:avLst/>
          </a:prstGeom>
          <a:noFill/>
          <a:ln/>
        </p:spPr>
        <p:txBody>
          <a:bodyPr wrap="square" lIns="0" tIns="0" rIns="0" bIns="0" rtlCol="0" anchor="ctr"/>
          <a:lstStyle/>
          <a:p>
            <a:pPr marL="0" indent="0">
              <a:buNone/>
            </a:pPr>
            <a:r>
              <a:rPr lang="en-US" sz="2000" dirty="0">
                <a:solidFill>
                  <a:srgbClr val="E2E8F0"/>
                </a:solidFill>
              </a:rPr>
              <a:t>Make responsiveness structural, not cosmetic.</a:t>
            </a:r>
            <a:endParaRPr lang="en-US" sz="2000" dirty="0"/>
          </a:p>
        </p:txBody>
      </p:sp>
      <p:sp>
        <p:nvSpPr>
          <p:cNvPr id="15" name="Shape 13"/>
          <p:cNvSpPr/>
          <p:nvPr/>
        </p:nvSpPr>
        <p:spPr>
          <a:xfrm>
            <a:off x="868680" y="4937760"/>
            <a:ext cx="10241280" cy="640080"/>
          </a:xfrm>
          <a:prstGeom prst="roundRect">
            <a:avLst>
              <a:gd name="adj" fmla="val 5714"/>
            </a:avLst>
          </a:prstGeom>
          <a:solidFill>
            <a:srgbClr val="0B1220"/>
          </a:solidFill>
          <a:ln w="12700">
            <a:solidFill>
              <a:srgbClr val="1E293B"/>
            </a:solidFill>
            <a:prstDash val="solid"/>
          </a:ln>
        </p:spPr>
      </p:sp>
      <p:sp>
        <p:nvSpPr>
          <p:cNvPr id="16" name="Text 14"/>
          <p:cNvSpPr/>
          <p:nvPr/>
        </p:nvSpPr>
        <p:spPr>
          <a:xfrm>
            <a:off x="1097280" y="5102352"/>
            <a:ext cx="9784080" cy="201168"/>
          </a:xfrm>
          <a:prstGeom prst="rect">
            <a:avLst/>
          </a:prstGeom>
          <a:noFill/>
          <a:ln/>
        </p:spPr>
        <p:txBody>
          <a:bodyPr wrap="square" lIns="0" tIns="0" rIns="0" bIns="0" rtlCol="0" anchor="ctr"/>
          <a:lstStyle/>
          <a:p>
            <a:pPr marL="0" indent="0">
              <a:buNone/>
            </a:pPr>
            <a:r>
              <a:rPr lang="en-US" sz="2000" dirty="0">
                <a:solidFill>
                  <a:srgbClr val="E2E8F0"/>
                </a:solidFill>
              </a:rPr>
              <a:t>If a layout bug looks mysterious, inspect the constraints.</a:t>
            </a:r>
            <a:endParaRPr lang="en-US" sz="2000" dirty="0"/>
          </a:p>
        </p:txBody>
      </p:sp>
      <p:sp>
        <p:nvSpPr>
          <p:cNvPr id="17" name="Text 15"/>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Common anti-patterns and their symptoms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400" dirty="0">
                <a:solidFill>
                  <a:srgbClr val="CBD5E1"/>
                </a:solidFill>
              </a:rPr>
              <a:t>What students should stop doing</a:t>
            </a:r>
            <a:endParaRPr lang="en-US" sz="1400" dirty="0"/>
          </a:p>
        </p:txBody>
      </p:sp>
      <p:sp>
        <p:nvSpPr>
          <p:cNvPr id="7" name="Text 5"/>
          <p:cNvSpPr/>
          <p:nvPr/>
        </p:nvSpPr>
        <p:spPr>
          <a:xfrm>
            <a:off x="868680" y="1417320"/>
            <a:ext cx="3657600" cy="182880"/>
          </a:xfrm>
          <a:prstGeom prst="rect">
            <a:avLst/>
          </a:prstGeom>
          <a:noFill/>
          <a:ln/>
        </p:spPr>
        <p:txBody>
          <a:bodyPr wrap="square" lIns="0" tIns="0" rIns="0" bIns="0" rtlCol="0" anchor="ctr"/>
          <a:lstStyle/>
          <a:p>
            <a:pPr marL="0" indent="0">
              <a:buNone/>
            </a:pPr>
            <a:r>
              <a:rPr lang="en-US" sz="2000" b="1" dirty="0">
                <a:solidFill>
                  <a:srgbClr val="22D3EE"/>
                </a:solidFill>
              </a:rPr>
              <a:t>Anti-pattern</a:t>
            </a:r>
            <a:endParaRPr lang="en-US" sz="2000" dirty="0"/>
          </a:p>
        </p:txBody>
      </p:sp>
      <p:sp>
        <p:nvSpPr>
          <p:cNvPr id="8" name="Text 6"/>
          <p:cNvSpPr/>
          <p:nvPr/>
        </p:nvSpPr>
        <p:spPr>
          <a:xfrm>
            <a:off x="6400800" y="1417320"/>
            <a:ext cx="3657600" cy="182880"/>
          </a:xfrm>
          <a:prstGeom prst="rect">
            <a:avLst/>
          </a:prstGeom>
          <a:noFill/>
          <a:ln/>
        </p:spPr>
        <p:txBody>
          <a:bodyPr wrap="square" lIns="0" tIns="0" rIns="0" bIns="0" rtlCol="0" anchor="ctr"/>
          <a:lstStyle/>
          <a:p>
            <a:pPr marL="0" indent="0">
              <a:buNone/>
            </a:pPr>
            <a:r>
              <a:rPr lang="en-US" sz="2000" b="1" dirty="0">
                <a:solidFill>
                  <a:srgbClr val="22D3EE"/>
                </a:solidFill>
              </a:rPr>
              <a:t>Likely symptom</a:t>
            </a:r>
            <a:endParaRPr lang="en-US" sz="2000" dirty="0"/>
          </a:p>
        </p:txBody>
      </p:sp>
      <p:sp>
        <p:nvSpPr>
          <p:cNvPr id="9" name="Shape 7"/>
          <p:cNvSpPr/>
          <p:nvPr/>
        </p:nvSpPr>
        <p:spPr>
          <a:xfrm>
            <a:off x="822960" y="1783080"/>
            <a:ext cx="4846320" cy="658368"/>
          </a:xfrm>
          <a:prstGeom prst="roundRect">
            <a:avLst>
              <a:gd name="adj" fmla="val 5556"/>
            </a:avLst>
          </a:prstGeom>
          <a:solidFill>
            <a:srgbClr val="0B1220"/>
          </a:solidFill>
          <a:ln w="12700">
            <a:solidFill>
              <a:srgbClr val="1E293B"/>
            </a:solidFill>
            <a:prstDash val="solid"/>
          </a:ln>
        </p:spPr>
      </p:sp>
      <p:sp>
        <p:nvSpPr>
          <p:cNvPr id="10" name="Shape 8"/>
          <p:cNvSpPr/>
          <p:nvPr/>
        </p:nvSpPr>
        <p:spPr>
          <a:xfrm>
            <a:off x="6355080" y="1783080"/>
            <a:ext cx="4892040" cy="658368"/>
          </a:xfrm>
          <a:prstGeom prst="roundRect">
            <a:avLst>
              <a:gd name="adj" fmla="val 5556"/>
            </a:avLst>
          </a:prstGeom>
          <a:solidFill>
            <a:srgbClr val="0B1220"/>
          </a:solidFill>
          <a:ln w="12700">
            <a:solidFill>
              <a:srgbClr val="1E293B"/>
            </a:solidFill>
            <a:prstDash val="solid"/>
          </a:ln>
        </p:spPr>
      </p:sp>
      <p:sp>
        <p:nvSpPr>
          <p:cNvPr id="11" name="Text 9"/>
          <p:cNvSpPr/>
          <p:nvPr/>
        </p:nvSpPr>
        <p:spPr>
          <a:xfrm>
            <a:off x="987552" y="1929384"/>
            <a:ext cx="4480560" cy="347472"/>
          </a:xfrm>
          <a:prstGeom prst="rect">
            <a:avLst/>
          </a:prstGeom>
          <a:noFill/>
          <a:ln/>
        </p:spPr>
        <p:txBody>
          <a:bodyPr wrap="square" lIns="0" tIns="0" rIns="0" bIns="0" rtlCol="0" anchor="ctr"/>
          <a:lstStyle/>
          <a:p>
            <a:pPr marL="0" indent="0">
              <a:buNone/>
            </a:pPr>
            <a:r>
              <a:rPr lang="en-US" dirty="0">
                <a:solidFill>
                  <a:srgbClr val="E2E8F0"/>
                </a:solidFill>
              </a:rPr>
              <a:t>Putting ListView directly inside an unconstrained Column</a:t>
            </a:r>
            <a:endParaRPr lang="en-US" dirty="0"/>
          </a:p>
        </p:txBody>
      </p:sp>
      <p:sp>
        <p:nvSpPr>
          <p:cNvPr id="12" name="Text 10"/>
          <p:cNvSpPr/>
          <p:nvPr/>
        </p:nvSpPr>
        <p:spPr>
          <a:xfrm>
            <a:off x="6519672" y="1929384"/>
            <a:ext cx="4526280" cy="347472"/>
          </a:xfrm>
          <a:prstGeom prst="rect">
            <a:avLst/>
          </a:prstGeom>
          <a:noFill/>
          <a:ln/>
        </p:spPr>
        <p:txBody>
          <a:bodyPr wrap="square" lIns="0" tIns="0" rIns="0" bIns="0" rtlCol="0" anchor="ctr"/>
          <a:lstStyle/>
          <a:p>
            <a:pPr marL="0" indent="0">
              <a:buNone/>
            </a:pPr>
            <a:r>
              <a:rPr lang="en-US" dirty="0">
                <a:solidFill>
                  <a:srgbClr val="E2E8F0"/>
                </a:solidFill>
              </a:rPr>
              <a:t>Unbounded height / RenderViewport errors</a:t>
            </a:r>
            <a:endParaRPr lang="en-US" dirty="0"/>
          </a:p>
        </p:txBody>
      </p:sp>
      <p:sp>
        <p:nvSpPr>
          <p:cNvPr id="13" name="Shape 11"/>
          <p:cNvSpPr/>
          <p:nvPr/>
        </p:nvSpPr>
        <p:spPr>
          <a:xfrm>
            <a:off x="822960" y="2743200"/>
            <a:ext cx="4846320" cy="658368"/>
          </a:xfrm>
          <a:prstGeom prst="roundRect">
            <a:avLst>
              <a:gd name="adj" fmla="val 5556"/>
            </a:avLst>
          </a:prstGeom>
          <a:solidFill>
            <a:srgbClr val="0B1220"/>
          </a:solidFill>
          <a:ln w="12700">
            <a:solidFill>
              <a:srgbClr val="1E293B"/>
            </a:solidFill>
            <a:prstDash val="solid"/>
          </a:ln>
        </p:spPr>
      </p:sp>
      <p:sp>
        <p:nvSpPr>
          <p:cNvPr id="14" name="Shape 12"/>
          <p:cNvSpPr/>
          <p:nvPr/>
        </p:nvSpPr>
        <p:spPr>
          <a:xfrm>
            <a:off x="6355080" y="2743200"/>
            <a:ext cx="4892040" cy="658368"/>
          </a:xfrm>
          <a:prstGeom prst="roundRect">
            <a:avLst>
              <a:gd name="adj" fmla="val 5556"/>
            </a:avLst>
          </a:prstGeom>
          <a:solidFill>
            <a:srgbClr val="0B1220"/>
          </a:solidFill>
          <a:ln w="12700">
            <a:solidFill>
              <a:srgbClr val="1E293B"/>
            </a:solidFill>
            <a:prstDash val="solid"/>
          </a:ln>
        </p:spPr>
      </p:sp>
      <p:sp>
        <p:nvSpPr>
          <p:cNvPr id="15" name="Text 13"/>
          <p:cNvSpPr/>
          <p:nvPr/>
        </p:nvSpPr>
        <p:spPr>
          <a:xfrm>
            <a:off x="987552" y="2889504"/>
            <a:ext cx="4480560" cy="347472"/>
          </a:xfrm>
          <a:prstGeom prst="rect">
            <a:avLst/>
          </a:prstGeom>
          <a:noFill/>
          <a:ln/>
        </p:spPr>
        <p:txBody>
          <a:bodyPr wrap="square" lIns="0" tIns="0" rIns="0" bIns="0" rtlCol="0" anchor="ctr"/>
          <a:lstStyle/>
          <a:p>
            <a:pPr marL="0" indent="0">
              <a:buNone/>
            </a:pPr>
            <a:r>
              <a:rPr lang="en-US" dirty="0">
                <a:solidFill>
                  <a:srgbClr val="E2E8F0"/>
                </a:solidFill>
              </a:rPr>
              <a:t>Trying random wrappers until the screen “looks okay”</a:t>
            </a:r>
            <a:endParaRPr lang="en-US" dirty="0"/>
          </a:p>
        </p:txBody>
      </p:sp>
      <p:sp>
        <p:nvSpPr>
          <p:cNvPr id="16" name="Text 14"/>
          <p:cNvSpPr/>
          <p:nvPr/>
        </p:nvSpPr>
        <p:spPr>
          <a:xfrm>
            <a:off x="6519672" y="2889504"/>
            <a:ext cx="4526280" cy="347472"/>
          </a:xfrm>
          <a:prstGeom prst="rect">
            <a:avLst/>
          </a:prstGeom>
          <a:noFill/>
          <a:ln/>
        </p:spPr>
        <p:txBody>
          <a:bodyPr wrap="square" lIns="0" tIns="0" rIns="0" bIns="0" rtlCol="0" anchor="ctr"/>
          <a:lstStyle/>
          <a:p>
            <a:pPr marL="0" indent="0">
              <a:buNone/>
            </a:pPr>
            <a:r>
              <a:rPr lang="en-US" dirty="0">
                <a:solidFill>
                  <a:srgbClr val="E2E8F0"/>
                </a:solidFill>
              </a:rPr>
              <a:t>Fragile code that breaks when one child changes</a:t>
            </a:r>
            <a:endParaRPr lang="en-US" dirty="0"/>
          </a:p>
        </p:txBody>
      </p:sp>
      <p:sp>
        <p:nvSpPr>
          <p:cNvPr id="17" name="Shape 15"/>
          <p:cNvSpPr/>
          <p:nvPr/>
        </p:nvSpPr>
        <p:spPr>
          <a:xfrm>
            <a:off x="822960" y="3703320"/>
            <a:ext cx="4846320" cy="658368"/>
          </a:xfrm>
          <a:prstGeom prst="roundRect">
            <a:avLst>
              <a:gd name="adj" fmla="val 5556"/>
            </a:avLst>
          </a:prstGeom>
          <a:solidFill>
            <a:srgbClr val="0B1220"/>
          </a:solidFill>
          <a:ln w="12700">
            <a:solidFill>
              <a:srgbClr val="1E293B"/>
            </a:solidFill>
            <a:prstDash val="solid"/>
          </a:ln>
        </p:spPr>
      </p:sp>
      <p:sp>
        <p:nvSpPr>
          <p:cNvPr id="18" name="Shape 16"/>
          <p:cNvSpPr/>
          <p:nvPr/>
        </p:nvSpPr>
        <p:spPr>
          <a:xfrm>
            <a:off x="6355080" y="3703320"/>
            <a:ext cx="4892040" cy="658368"/>
          </a:xfrm>
          <a:prstGeom prst="roundRect">
            <a:avLst>
              <a:gd name="adj" fmla="val 5556"/>
            </a:avLst>
          </a:prstGeom>
          <a:solidFill>
            <a:srgbClr val="0B1220"/>
          </a:solidFill>
          <a:ln w="12700">
            <a:solidFill>
              <a:srgbClr val="1E293B"/>
            </a:solidFill>
            <a:prstDash val="solid"/>
          </a:ln>
        </p:spPr>
      </p:sp>
      <p:sp>
        <p:nvSpPr>
          <p:cNvPr id="19" name="Text 17"/>
          <p:cNvSpPr/>
          <p:nvPr/>
        </p:nvSpPr>
        <p:spPr>
          <a:xfrm>
            <a:off x="987552" y="3849624"/>
            <a:ext cx="4480560" cy="347472"/>
          </a:xfrm>
          <a:prstGeom prst="rect">
            <a:avLst/>
          </a:prstGeom>
          <a:noFill/>
          <a:ln/>
        </p:spPr>
        <p:txBody>
          <a:bodyPr wrap="square" lIns="0" tIns="0" rIns="0" bIns="0" rtlCol="0" anchor="ctr"/>
          <a:lstStyle/>
          <a:p>
            <a:pPr marL="0" indent="0">
              <a:buNone/>
            </a:pPr>
            <a:r>
              <a:rPr lang="en-US" dirty="0">
                <a:solidFill>
                  <a:srgbClr val="E2E8F0"/>
                </a:solidFill>
              </a:rPr>
              <a:t>Ignoring SafeArea on modern devices</a:t>
            </a:r>
            <a:endParaRPr lang="en-US" dirty="0"/>
          </a:p>
        </p:txBody>
      </p:sp>
      <p:sp>
        <p:nvSpPr>
          <p:cNvPr id="20" name="Text 18"/>
          <p:cNvSpPr/>
          <p:nvPr/>
        </p:nvSpPr>
        <p:spPr>
          <a:xfrm>
            <a:off x="6519672" y="3849624"/>
            <a:ext cx="4526280" cy="347472"/>
          </a:xfrm>
          <a:prstGeom prst="rect">
            <a:avLst/>
          </a:prstGeom>
          <a:noFill/>
          <a:ln/>
        </p:spPr>
        <p:txBody>
          <a:bodyPr wrap="square" lIns="0" tIns="0" rIns="0" bIns="0" rtlCol="0" anchor="ctr"/>
          <a:lstStyle/>
          <a:p>
            <a:pPr marL="0" indent="0">
              <a:buNone/>
            </a:pPr>
            <a:r>
              <a:rPr lang="en-US" dirty="0">
                <a:solidFill>
                  <a:srgbClr val="E2E8F0"/>
                </a:solidFill>
              </a:rPr>
              <a:t>Clipped buttons or unreadable content near notches</a:t>
            </a:r>
            <a:endParaRPr lang="en-US" dirty="0"/>
          </a:p>
        </p:txBody>
      </p:sp>
      <p:sp>
        <p:nvSpPr>
          <p:cNvPr id="21" name="Shape 19"/>
          <p:cNvSpPr/>
          <p:nvPr/>
        </p:nvSpPr>
        <p:spPr>
          <a:xfrm>
            <a:off x="822960" y="4663440"/>
            <a:ext cx="4846320" cy="658368"/>
          </a:xfrm>
          <a:prstGeom prst="roundRect">
            <a:avLst>
              <a:gd name="adj" fmla="val 5556"/>
            </a:avLst>
          </a:prstGeom>
          <a:solidFill>
            <a:srgbClr val="0B1220"/>
          </a:solidFill>
          <a:ln w="12700">
            <a:solidFill>
              <a:srgbClr val="1E293B"/>
            </a:solidFill>
            <a:prstDash val="solid"/>
          </a:ln>
        </p:spPr>
      </p:sp>
      <p:sp>
        <p:nvSpPr>
          <p:cNvPr id="22" name="Shape 20"/>
          <p:cNvSpPr/>
          <p:nvPr/>
        </p:nvSpPr>
        <p:spPr>
          <a:xfrm>
            <a:off x="6355080" y="4663440"/>
            <a:ext cx="4892040" cy="658368"/>
          </a:xfrm>
          <a:prstGeom prst="roundRect">
            <a:avLst>
              <a:gd name="adj" fmla="val 5556"/>
            </a:avLst>
          </a:prstGeom>
          <a:solidFill>
            <a:srgbClr val="0B1220"/>
          </a:solidFill>
          <a:ln w="12700">
            <a:solidFill>
              <a:srgbClr val="1E293B"/>
            </a:solidFill>
            <a:prstDash val="solid"/>
          </a:ln>
        </p:spPr>
      </p:sp>
      <p:sp>
        <p:nvSpPr>
          <p:cNvPr id="23" name="Text 21"/>
          <p:cNvSpPr/>
          <p:nvPr/>
        </p:nvSpPr>
        <p:spPr>
          <a:xfrm>
            <a:off x="987552" y="4809744"/>
            <a:ext cx="4480560" cy="347472"/>
          </a:xfrm>
          <a:prstGeom prst="rect">
            <a:avLst/>
          </a:prstGeom>
          <a:noFill/>
          <a:ln/>
        </p:spPr>
        <p:txBody>
          <a:bodyPr wrap="square" lIns="0" tIns="0" rIns="0" bIns="0" rtlCol="0" anchor="ctr"/>
          <a:lstStyle/>
          <a:p>
            <a:pPr marL="0" indent="0">
              <a:buNone/>
            </a:pPr>
            <a:r>
              <a:rPr lang="en-US" dirty="0">
                <a:solidFill>
                  <a:srgbClr val="E2E8F0"/>
                </a:solidFill>
              </a:rPr>
              <a:t>Designing only for portrait and hoping landscape will work</a:t>
            </a:r>
            <a:endParaRPr lang="en-US" dirty="0"/>
          </a:p>
        </p:txBody>
      </p:sp>
      <p:sp>
        <p:nvSpPr>
          <p:cNvPr id="24" name="Text 22"/>
          <p:cNvSpPr/>
          <p:nvPr/>
        </p:nvSpPr>
        <p:spPr>
          <a:xfrm>
            <a:off x="6519672" y="4809744"/>
            <a:ext cx="4526280" cy="347472"/>
          </a:xfrm>
          <a:prstGeom prst="rect">
            <a:avLst/>
          </a:prstGeom>
          <a:noFill/>
          <a:ln/>
        </p:spPr>
        <p:txBody>
          <a:bodyPr wrap="square" lIns="0" tIns="0" rIns="0" bIns="0" rtlCol="0" anchor="ctr"/>
          <a:lstStyle/>
          <a:p>
            <a:pPr marL="0" indent="0">
              <a:buNone/>
            </a:pPr>
            <a:r>
              <a:rPr lang="en-US" dirty="0">
                <a:solidFill>
                  <a:srgbClr val="E2E8F0"/>
                </a:solidFill>
              </a:rPr>
              <a:t>Buttons crowd together, text overflows, or panes waste space</a:t>
            </a:r>
            <a:endParaRPr lang="en-US" dirty="0"/>
          </a:p>
        </p:txBody>
      </p:sp>
      <p:sp>
        <p:nvSpPr>
          <p:cNvPr id="25" name="Text 23"/>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430754"/>
            <a:ext cx="9044492"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How Chapters 11–12 connect to the next layout chapters</a:t>
            </a:r>
            <a:endParaRPr lang="en-US" sz="2800" dirty="0">
              <a:latin typeface="Rockwell" panose="02060603020205020403" pitchFamily="18" charset="0"/>
            </a:endParaRPr>
          </a:p>
        </p:txBody>
      </p:sp>
      <p:sp>
        <p:nvSpPr>
          <p:cNvPr id="6" name="Text 4"/>
          <p:cNvSpPr/>
          <p:nvPr/>
        </p:nvSpPr>
        <p:spPr>
          <a:xfrm>
            <a:off x="530352" y="1106469"/>
            <a:ext cx="7132320" cy="219456"/>
          </a:xfrm>
          <a:prstGeom prst="rect">
            <a:avLst/>
          </a:prstGeom>
          <a:noFill/>
          <a:ln/>
        </p:spPr>
        <p:txBody>
          <a:bodyPr wrap="square" lIns="0" tIns="0" rIns="0" bIns="0" rtlCol="0" anchor="ctr"/>
          <a:lstStyle/>
          <a:p>
            <a:pPr marL="0" indent="0">
              <a:buNone/>
            </a:pPr>
            <a:r>
              <a:rPr lang="en-US" sz="1600" dirty="0">
                <a:solidFill>
                  <a:srgbClr val="CBD5E1"/>
                </a:solidFill>
              </a:rPr>
              <a:t>This lecture is only the first half of the layout story</a:t>
            </a:r>
            <a:endParaRPr lang="en-US" sz="1600" dirty="0"/>
          </a:p>
        </p:txBody>
      </p:sp>
      <p:sp>
        <p:nvSpPr>
          <p:cNvPr id="7" name="Text 5"/>
          <p:cNvSpPr/>
          <p:nvPr/>
        </p:nvSpPr>
        <p:spPr>
          <a:xfrm>
            <a:off x="777240" y="1676400"/>
            <a:ext cx="10515600" cy="3581400"/>
          </a:xfrm>
          <a:prstGeom prst="rect">
            <a:avLst/>
          </a:prstGeom>
          <a:noFill/>
          <a:ln/>
        </p:spPr>
        <p:txBody>
          <a:bodyPr wrap="square" lIns="508" tIns="508" rIns="508" bIns="508" rtlCol="0" anchor="t">
            <a:normAutofit/>
          </a:bodyPr>
          <a:lstStyle/>
          <a:p>
            <a:pPr marL="217170" indent="-217170">
              <a:buSzPct val="100000"/>
              <a:buChar char="•"/>
            </a:pPr>
            <a:r>
              <a:rPr lang="en-US" sz="2800" dirty="0">
                <a:solidFill>
                  <a:srgbClr val="E2E8F0"/>
                </a:solidFill>
              </a:rPr>
              <a:t>Chapter 11 gives the scene shell and the constraint mental model.</a:t>
            </a:r>
            <a:endParaRPr lang="en-US" sz="2800" dirty="0"/>
          </a:p>
          <a:p>
            <a:pPr marL="217170" indent="-217170">
              <a:buSzPct val="100000"/>
              <a:buChar char="•"/>
            </a:pPr>
            <a:r>
              <a:rPr lang="en-US" sz="2800" dirty="0">
                <a:solidFill>
                  <a:srgbClr val="E2E8F0"/>
                </a:solidFill>
              </a:rPr>
              <a:t>Chapter 12 gives the first positioning tools: Row, Column, Flex, and MediaQuery.</a:t>
            </a:r>
            <a:endParaRPr lang="en-US" sz="2800" dirty="0"/>
          </a:p>
          <a:p>
            <a:pPr marL="217170" indent="-217170">
              <a:buSzPct val="100000"/>
              <a:buChar char="•"/>
            </a:pPr>
            <a:r>
              <a:rPr lang="en-US" sz="2800" dirty="0">
                <a:solidFill>
                  <a:srgbClr val="E2E8F0"/>
                </a:solidFill>
              </a:rPr>
              <a:t>Chapter 13 then focuses on overflow repair, Chapter 14 on extra space, and Chapter 15 on fine-tuning.</a:t>
            </a:r>
            <a:endParaRPr lang="en-US" sz="2800" dirty="0"/>
          </a:p>
          <a:p>
            <a:pPr marL="217170" indent="-217170">
              <a:buSzPct val="100000"/>
              <a:buChar char="•"/>
            </a:pPr>
            <a:r>
              <a:rPr lang="en-US" sz="2800" dirty="0">
                <a:solidFill>
                  <a:srgbClr val="E2E8F0"/>
                </a:solidFill>
              </a:rPr>
              <a:t>In other words, these chapters do not solve every layout problem—but they give the conceptual foundation for solving all the later ones.</a:t>
            </a:r>
            <a:endParaRPr lang="en-US" sz="2800" dirty="0"/>
          </a:p>
        </p:txBody>
      </p:sp>
      <p:sp>
        <p:nvSpPr>
          <p:cNvPr id="8" name="Text 6"/>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Mini exercise for class</a:t>
            </a:r>
            <a:endParaRPr lang="en-US" sz="2800" dirty="0"/>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600" dirty="0">
                <a:solidFill>
                  <a:srgbClr val="CBD5E1"/>
                </a:solidFill>
                <a:latin typeface="Rockwell" panose="02060603020205020403" pitchFamily="18" charset="0"/>
              </a:rPr>
              <a:t>From theory to an implementable layout decision</a:t>
            </a:r>
            <a:endParaRPr lang="en-US" sz="1600" dirty="0">
              <a:latin typeface="Rockwell" panose="02060603020205020403" pitchFamily="18" charset="0"/>
            </a:endParaRPr>
          </a:p>
        </p:txBody>
      </p:sp>
      <p:sp>
        <p:nvSpPr>
          <p:cNvPr id="7" name="Shape 5"/>
          <p:cNvSpPr/>
          <p:nvPr/>
        </p:nvSpPr>
        <p:spPr>
          <a:xfrm>
            <a:off x="822960" y="1343809"/>
            <a:ext cx="10424160" cy="4480560"/>
          </a:xfrm>
          <a:prstGeom prst="roundRect">
            <a:avLst>
              <a:gd name="adj" fmla="val 1020"/>
            </a:avLst>
          </a:prstGeom>
          <a:solidFill>
            <a:srgbClr val="0B1220"/>
          </a:solidFill>
          <a:ln w="12700">
            <a:solidFill>
              <a:srgbClr val="1E293B"/>
            </a:solidFill>
            <a:prstDash val="solid"/>
          </a:ln>
        </p:spPr>
      </p:sp>
      <p:sp>
        <p:nvSpPr>
          <p:cNvPr id="8" name="Text 6"/>
          <p:cNvSpPr/>
          <p:nvPr/>
        </p:nvSpPr>
        <p:spPr>
          <a:xfrm>
            <a:off x="1078992" y="1506608"/>
            <a:ext cx="914400" cy="201168"/>
          </a:xfrm>
          <a:prstGeom prst="rect">
            <a:avLst/>
          </a:prstGeom>
          <a:noFill/>
          <a:ln/>
        </p:spPr>
        <p:txBody>
          <a:bodyPr wrap="square" lIns="0" tIns="0" rIns="0" bIns="0" rtlCol="0" anchor="ctr"/>
          <a:lstStyle/>
          <a:p>
            <a:pPr marL="0" indent="0">
              <a:buNone/>
            </a:pPr>
            <a:r>
              <a:rPr lang="en-US" sz="1800" b="1" dirty="0">
                <a:solidFill>
                  <a:srgbClr val="22D3EE"/>
                </a:solidFill>
              </a:rPr>
              <a:t>Task</a:t>
            </a:r>
            <a:endParaRPr lang="en-US" sz="1800" dirty="0"/>
          </a:p>
        </p:txBody>
      </p:sp>
      <p:sp>
        <p:nvSpPr>
          <p:cNvPr id="9" name="Text 7"/>
          <p:cNvSpPr/>
          <p:nvPr/>
        </p:nvSpPr>
        <p:spPr>
          <a:xfrm>
            <a:off x="1097280" y="1993392"/>
            <a:ext cx="9509760" cy="640080"/>
          </a:xfrm>
          <a:prstGeom prst="rect">
            <a:avLst/>
          </a:prstGeom>
          <a:noFill/>
          <a:ln/>
        </p:spPr>
        <p:txBody>
          <a:bodyPr wrap="square" lIns="0" tIns="0" rIns="0" bIns="0" rtlCol="0" anchor="ctr"/>
          <a:lstStyle/>
          <a:p>
            <a:pPr marL="0" indent="0">
              <a:buNone/>
            </a:pPr>
            <a:r>
              <a:rPr lang="en-US" sz="1800" dirty="0">
                <a:solidFill>
                  <a:srgbClr val="E2E8F0"/>
                </a:solidFill>
              </a:rPr>
              <a:t>Design a “student directory” scene with profile photo, name, department, contact actions, and a details area. Decide which widgets belong to the outer shell and which belong to the inner positioning layer.</a:t>
            </a:r>
            <a:endParaRPr lang="en-US" sz="1800" dirty="0"/>
          </a:p>
        </p:txBody>
      </p:sp>
      <p:sp>
        <p:nvSpPr>
          <p:cNvPr id="10" name="Text 8"/>
          <p:cNvSpPr/>
          <p:nvPr/>
        </p:nvSpPr>
        <p:spPr>
          <a:xfrm>
            <a:off x="1097280" y="2880359"/>
            <a:ext cx="3071308" cy="374545"/>
          </a:xfrm>
          <a:prstGeom prst="rect">
            <a:avLst/>
          </a:prstGeom>
          <a:noFill/>
          <a:ln/>
        </p:spPr>
        <p:txBody>
          <a:bodyPr wrap="square" lIns="0" tIns="0" rIns="0" bIns="0" rtlCol="0" anchor="ctr"/>
          <a:lstStyle/>
          <a:p>
            <a:pPr marL="0" indent="0">
              <a:buNone/>
            </a:pPr>
            <a:r>
              <a:rPr lang="en-US" sz="1800" b="1" dirty="0">
                <a:solidFill>
                  <a:srgbClr val="22D3EE"/>
                </a:solidFill>
              </a:rPr>
              <a:t>What you must justify</a:t>
            </a:r>
            <a:endParaRPr lang="en-US" sz="1800" dirty="0"/>
          </a:p>
        </p:txBody>
      </p:sp>
      <p:sp>
        <p:nvSpPr>
          <p:cNvPr id="11" name="Text 9"/>
          <p:cNvSpPr/>
          <p:nvPr/>
        </p:nvSpPr>
        <p:spPr>
          <a:xfrm>
            <a:off x="1078992" y="3465934"/>
            <a:ext cx="9601200" cy="1791865"/>
          </a:xfrm>
          <a:prstGeom prst="rect">
            <a:avLst/>
          </a:prstGeom>
          <a:noFill/>
          <a:ln/>
        </p:spPr>
        <p:txBody>
          <a:bodyPr wrap="square" lIns="508" tIns="508" rIns="508" bIns="508" rtlCol="0" anchor="t">
            <a:normAutofit/>
          </a:bodyPr>
          <a:lstStyle/>
          <a:p>
            <a:pPr marL="194310" indent="-194310">
              <a:buSzPct val="100000"/>
              <a:buChar char="•"/>
            </a:pPr>
            <a:r>
              <a:rPr lang="en-US" sz="1700" dirty="0">
                <a:solidFill>
                  <a:srgbClr val="E2E8F0"/>
                </a:solidFill>
              </a:rPr>
              <a:t>Why MaterialApp / Scaffold are the correct outer wrappers</a:t>
            </a:r>
            <a:endParaRPr lang="en-US" sz="1700" dirty="0"/>
          </a:p>
          <a:p>
            <a:pPr marL="194310" indent="-194310">
              <a:buSzPct val="100000"/>
              <a:buChar char="•"/>
            </a:pPr>
            <a:r>
              <a:rPr lang="en-US" sz="1700" dirty="0">
                <a:solidFill>
                  <a:srgbClr val="E2E8F0"/>
                </a:solidFill>
              </a:rPr>
              <a:t>Where SafeArea is needed</a:t>
            </a:r>
            <a:endParaRPr lang="en-US" sz="1700" dirty="0"/>
          </a:p>
          <a:p>
            <a:pPr marL="194310" indent="-194310">
              <a:buSzPct val="100000"/>
              <a:buChar char="•"/>
            </a:pPr>
            <a:r>
              <a:rPr lang="en-US" sz="1700" dirty="0">
                <a:solidFill>
                  <a:srgbClr val="E2E8F0"/>
                </a:solidFill>
              </a:rPr>
              <a:t>Whether portrait should use Column and landscape should use Flex/Row</a:t>
            </a:r>
            <a:endParaRPr lang="en-US" sz="1700" dirty="0"/>
          </a:p>
          <a:p>
            <a:pPr marL="194310" indent="-194310">
              <a:buSzPct val="100000"/>
              <a:buChar char="•"/>
            </a:pPr>
            <a:r>
              <a:rPr lang="en-US" sz="1700" dirty="0">
                <a:solidFill>
                  <a:srgbClr val="E2E8F0"/>
                </a:solidFill>
              </a:rPr>
              <a:t>How you would avoid unbounded-height errors if the details pane becomes scrollable</a:t>
            </a:r>
            <a:endParaRPr lang="en-US" sz="1700" dirty="0"/>
          </a:p>
        </p:txBody>
      </p:sp>
      <p:sp>
        <p:nvSpPr>
          <p:cNvPr id="12" name="Text 10"/>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19" y="310896"/>
            <a:ext cx="9232751"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Quick check: did we actually learn the lecture?</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600" dirty="0">
                <a:solidFill>
                  <a:srgbClr val="CBD5E1"/>
                </a:solidFill>
              </a:rPr>
              <a:t>Use these as in-class questions, quiz prompts, or exit-ticket discussion</a:t>
            </a:r>
            <a:endParaRPr lang="en-US" sz="1600" dirty="0"/>
          </a:p>
        </p:txBody>
      </p:sp>
      <p:sp>
        <p:nvSpPr>
          <p:cNvPr id="7" name="Shape 5"/>
          <p:cNvSpPr/>
          <p:nvPr/>
        </p:nvSpPr>
        <p:spPr>
          <a:xfrm>
            <a:off x="822960" y="1298448"/>
            <a:ext cx="10424160" cy="548640"/>
          </a:xfrm>
          <a:prstGeom prst="roundRect">
            <a:avLst>
              <a:gd name="adj" fmla="val 6667"/>
            </a:avLst>
          </a:prstGeom>
          <a:solidFill>
            <a:srgbClr val="0B1220"/>
          </a:solidFill>
          <a:ln w="12700">
            <a:solidFill>
              <a:srgbClr val="1E293B"/>
            </a:solidFill>
            <a:prstDash val="solid"/>
          </a:ln>
        </p:spPr>
      </p:sp>
      <p:sp>
        <p:nvSpPr>
          <p:cNvPr id="8" name="Text 6"/>
          <p:cNvSpPr/>
          <p:nvPr/>
        </p:nvSpPr>
        <p:spPr>
          <a:xfrm>
            <a:off x="1051560" y="1426464"/>
            <a:ext cx="9966960" cy="237744"/>
          </a:xfrm>
          <a:prstGeom prst="rect">
            <a:avLst/>
          </a:prstGeom>
          <a:noFill/>
          <a:ln/>
        </p:spPr>
        <p:txBody>
          <a:bodyPr wrap="square" lIns="0" tIns="0" rIns="0" bIns="0" rtlCol="0" anchor="ctr"/>
          <a:lstStyle/>
          <a:p>
            <a:pPr marL="0" indent="0">
              <a:buNone/>
            </a:pPr>
            <a:r>
              <a:rPr lang="en-US" dirty="0">
                <a:solidFill>
                  <a:srgbClr val="E2E8F0"/>
                </a:solidFill>
              </a:rPr>
              <a:t>1. What is the difference between MaterialApp and Scaffold in terms of layout responsibility?</a:t>
            </a:r>
            <a:endParaRPr lang="en-US" dirty="0"/>
          </a:p>
        </p:txBody>
      </p:sp>
      <p:sp>
        <p:nvSpPr>
          <p:cNvPr id="9" name="Shape 7"/>
          <p:cNvSpPr/>
          <p:nvPr/>
        </p:nvSpPr>
        <p:spPr>
          <a:xfrm>
            <a:off x="822960" y="2048256"/>
            <a:ext cx="10424160" cy="548640"/>
          </a:xfrm>
          <a:prstGeom prst="roundRect">
            <a:avLst>
              <a:gd name="adj" fmla="val 6667"/>
            </a:avLst>
          </a:prstGeom>
          <a:solidFill>
            <a:srgbClr val="111827"/>
          </a:solidFill>
          <a:ln w="12700">
            <a:solidFill>
              <a:srgbClr val="1E293B"/>
            </a:solidFill>
            <a:prstDash val="solid"/>
          </a:ln>
        </p:spPr>
      </p:sp>
      <p:sp>
        <p:nvSpPr>
          <p:cNvPr id="10" name="Text 8"/>
          <p:cNvSpPr/>
          <p:nvPr/>
        </p:nvSpPr>
        <p:spPr>
          <a:xfrm>
            <a:off x="1051560" y="2176272"/>
            <a:ext cx="9966960" cy="237744"/>
          </a:xfrm>
          <a:prstGeom prst="rect">
            <a:avLst/>
          </a:prstGeom>
          <a:noFill/>
          <a:ln/>
        </p:spPr>
        <p:txBody>
          <a:bodyPr wrap="square" lIns="0" tIns="0" rIns="0" bIns="0" rtlCol="0" anchor="ctr"/>
          <a:lstStyle/>
          <a:p>
            <a:pPr marL="0" indent="0">
              <a:buNone/>
            </a:pPr>
            <a:r>
              <a:rPr lang="en-US" dirty="0">
                <a:solidFill>
                  <a:srgbClr val="E2E8F0"/>
                </a:solidFill>
              </a:rPr>
              <a:t>2. Why does a ListView inside an unconstrained Column trigger an “unbounded height” error?</a:t>
            </a:r>
            <a:endParaRPr lang="en-US" dirty="0"/>
          </a:p>
        </p:txBody>
      </p:sp>
      <p:sp>
        <p:nvSpPr>
          <p:cNvPr id="11" name="Shape 9"/>
          <p:cNvSpPr/>
          <p:nvPr/>
        </p:nvSpPr>
        <p:spPr>
          <a:xfrm>
            <a:off x="822960" y="2798064"/>
            <a:ext cx="10424160" cy="548640"/>
          </a:xfrm>
          <a:prstGeom prst="roundRect">
            <a:avLst>
              <a:gd name="adj" fmla="val 6667"/>
            </a:avLst>
          </a:prstGeom>
          <a:solidFill>
            <a:srgbClr val="0B1220"/>
          </a:solidFill>
          <a:ln w="12700">
            <a:solidFill>
              <a:srgbClr val="1E293B"/>
            </a:solidFill>
            <a:prstDash val="solid"/>
          </a:ln>
        </p:spPr>
      </p:sp>
      <p:sp>
        <p:nvSpPr>
          <p:cNvPr id="12" name="Text 10"/>
          <p:cNvSpPr/>
          <p:nvPr/>
        </p:nvSpPr>
        <p:spPr>
          <a:xfrm>
            <a:off x="1051560" y="2926080"/>
            <a:ext cx="9966960" cy="237744"/>
          </a:xfrm>
          <a:prstGeom prst="rect">
            <a:avLst/>
          </a:prstGeom>
          <a:noFill/>
          <a:ln/>
        </p:spPr>
        <p:txBody>
          <a:bodyPr wrap="square" lIns="0" tIns="0" rIns="0" bIns="0" rtlCol="0" anchor="ctr"/>
          <a:lstStyle/>
          <a:p>
            <a:pPr marL="0" indent="0">
              <a:buNone/>
            </a:pPr>
            <a:r>
              <a:rPr lang="en-US" dirty="0">
                <a:solidFill>
                  <a:srgbClr val="E2E8F0"/>
                </a:solidFill>
              </a:rPr>
              <a:t>3. In Flutter’s layout algorithm, what flows downward and what flows upward?</a:t>
            </a:r>
            <a:endParaRPr lang="en-US" dirty="0"/>
          </a:p>
        </p:txBody>
      </p:sp>
      <p:sp>
        <p:nvSpPr>
          <p:cNvPr id="13" name="Shape 11"/>
          <p:cNvSpPr/>
          <p:nvPr/>
        </p:nvSpPr>
        <p:spPr>
          <a:xfrm>
            <a:off x="822960" y="3547872"/>
            <a:ext cx="10424160" cy="548640"/>
          </a:xfrm>
          <a:prstGeom prst="roundRect">
            <a:avLst>
              <a:gd name="adj" fmla="val 6667"/>
            </a:avLst>
          </a:prstGeom>
          <a:solidFill>
            <a:srgbClr val="111827"/>
          </a:solidFill>
          <a:ln w="12700">
            <a:solidFill>
              <a:srgbClr val="1E293B"/>
            </a:solidFill>
            <a:prstDash val="solid"/>
          </a:ln>
        </p:spPr>
      </p:sp>
      <p:sp>
        <p:nvSpPr>
          <p:cNvPr id="14" name="Text 12"/>
          <p:cNvSpPr/>
          <p:nvPr/>
        </p:nvSpPr>
        <p:spPr>
          <a:xfrm>
            <a:off x="1051560" y="3675888"/>
            <a:ext cx="9966960" cy="237744"/>
          </a:xfrm>
          <a:prstGeom prst="rect">
            <a:avLst/>
          </a:prstGeom>
          <a:noFill/>
          <a:ln/>
        </p:spPr>
        <p:txBody>
          <a:bodyPr wrap="square" lIns="0" tIns="0" rIns="0" bIns="0" rtlCol="0" anchor="ctr"/>
          <a:lstStyle/>
          <a:p>
            <a:pPr marL="0" indent="0">
              <a:buNone/>
            </a:pPr>
            <a:r>
              <a:rPr lang="en-US" dirty="0">
                <a:solidFill>
                  <a:srgbClr val="E2E8F0"/>
                </a:solidFill>
              </a:rPr>
              <a:t>4. What is the practical role of SafeArea on modern phones?</a:t>
            </a:r>
            <a:endParaRPr lang="en-US" dirty="0"/>
          </a:p>
        </p:txBody>
      </p:sp>
      <p:sp>
        <p:nvSpPr>
          <p:cNvPr id="15" name="Shape 13"/>
          <p:cNvSpPr/>
          <p:nvPr/>
        </p:nvSpPr>
        <p:spPr>
          <a:xfrm>
            <a:off x="822960" y="4297680"/>
            <a:ext cx="10424160" cy="548640"/>
          </a:xfrm>
          <a:prstGeom prst="roundRect">
            <a:avLst>
              <a:gd name="adj" fmla="val 6667"/>
            </a:avLst>
          </a:prstGeom>
          <a:solidFill>
            <a:srgbClr val="0B1220"/>
          </a:solidFill>
          <a:ln w="12700">
            <a:solidFill>
              <a:srgbClr val="1E293B"/>
            </a:solidFill>
            <a:prstDash val="solid"/>
          </a:ln>
        </p:spPr>
      </p:sp>
      <p:sp>
        <p:nvSpPr>
          <p:cNvPr id="16" name="Text 14"/>
          <p:cNvSpPr/>
          <p:nvPr/>
        </p:nvSpPr>
        <p:spPr>
          <a:xfrm>
            <a:off x="1051560" y="4425696"/>
            <a:ext cx="9966960" cy="237744"/>
          </a:xfrm>
          <a:prstGeom prst="rect">
            <a:avLst/>
          </a:prstGeom>
          <a:noFill/>
          <a:ln/>
        </p:spPr>
        <p:txBody>
          <a:bodyPr wrap="square" lIns="0" tIns="0" rIns="0" bIns="0" rtlCol="0" anchor="ctr"/>
          <a:lstStyle/>
          <a:p>
            <a:pPr marL="0" indent="0">
              <a:buNone/>
            </a:pPr>
            <a:r>
              <a:rPr lang="en-US" dirty="0">
                <a:solidFill>
                  <a:srgbClr val="E2E8F0"/>
                </a:solidFill>
              </a:rPr>
              <a:t>5. When would you prefer Flex + MediaQuery instead of a fixed Row or a fixed Column?</a:t>
            </a:r>
            <a:endParaRPr lang="en-US" dirty="0"/>
          </a:p>
        </p:txBody>
      </p:sp>
      <p:sp>
        <p:nvSpPr>
          <p:cNvPr id="17" name="Shape 15"/>
          <p:cNvSpPr/>
          <p:nvPr/>
        </p:nvSpPr>
        <p:spPr>
          <a:xfrm>
            <a:off x="822960" y="5047488"/>
            <a:ext cx="10424160" cy="548640"/>
          </a:xfrm>
          <a:prstGeom prst="roundRect">
            <a:avLst>
              <a:gd name="adj" fmla="val 6667"/>
            </a:avLst>
          </a:prstGeom>
          <a:solidFill>
            <a:srgbClr val="111827"/>
          </a:solidFill>
          <a:ln w="12700">
            <a:solidFill>
              <a:srgbClr val="1E293B"/>
            </a:solidFill>
            <a:prstDash val="solid"/>
          </a:ln>
        </p:spPr>
      </p:sp>
      <p:sp>
        <p:nvSpPr>
          <p:cNvPr id="18" name="Text 16"/>
          <p:cNvSpPr/>
          <p:nvPr/>
        </p:nvSpPr>
        <p:spPr>
          <a:xfrm>
            <a:off x="1051560" y="5175504"/>
            <a:ext cx="9966960" cy="237744"/>
          </a:xfrm>
          <a:prstGeom prst="rect">
            <a:avLst/>
          </a:prstGeom>
          <a:noFill/>
          <a:ln/>
        </p:spPr>
        <p:txBody>
          <a:bodyPr wrap="square" lIns="0" tIns="0" rIns="0" bIns="0" rtlCol="0" anchor="ctr"/>
          <a:lstStyle/>
          <a:p>
            <a:pPr marL="0" indent="0">
              <a:buNone/>
            </a:pPr>
            <a:r>
              <a:rPr lang="en-US" dirty="0">
                <a:solidFill>
                  <a:srgbClr val="E2E8F0"/>
                </a:solidFill>
              </a:rPr>
              <a:t>6. How is overflow different from unbounded height?</a:t>
            </a:r>
            <a:endParaRPr lang="en-US" dirty="0"/>
          </a:p>
        </p:txBody>
      </p:sp>
      <p:sp>
        <p:nvSpPr>
          <p:cNvPr id="19" name="Text 17"/>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502920" y="310896"/>
            <a:ext cx="8046720" cy="411480"/>
          </a:xfrm>
          <a:prstGeom prst="rect">
            <a:avLst/>
          </a:prstGeom>
          <a:noFill/>
          <a:ln/>
        </p:spPr>
        <p:txBody>
          <a:bodyPr wrap="square" lIns="0" tIns="0" rIns="0" bIns="0" rtlCol="0" anchor="ctr"/>
          <a:lstStyle/>
          <a:p>
            <a:pPr marL="0" indent="0">
              <a:buNone/>
            </a:pPr>
            <a:r>
              <a:rPr lang="en-US" sz="2800" b="1" dirty="0">
                <a:solidFill>
                  <a:srgbClr val="F8FAFC"/>
                </a:solidFill>
                <a:latin typeface="Rockwell" panose="02060603020205020403" pitchFamily="18" charset="0"/>
                <a:ea typeface="Aptos Display" pitchFamily="34" charset="-122"/>
                <a:cs typeface="Aptos Display" pitchFamily="34" charset="-120"/>
              </a:rPr>
              <a:t>One-slide cheat sheet</a:t>
            </a:r>
            <a:endParaRPr lang="en-US" sz="2800" dirty="0">
              <a:latin typeface="Rockwell" panose="02060603020205020403" pitchFamily="18" charset="0"/>
            </a:endParaRPr>
          </a:p>
        </p:txBody>
      </p:sp>
      <p:sp>
        <p:nvSpPr>
          <p:cNvPr id="6" name="Text 4"/>
          <p:cNvSpPr/>
          <p:nvPr/>
        </p:nvSpPr>
        <p:spPr>
          <a:xfrm>
            <a:off x="530352" y="749808"/>
            <a:ext cx="7132320" cy="219456"/>
          </a:xfrm>
          <a:prstGeom prst="rect">
            <a:avLst/>
          </a:prstGeom>
          <a:noFill/>
          <a:ln/>
        </p:spPr>
        <p:txBody>
          <a:bodyPr wrap="square" lIns="0" tIns="0" rIns="0" bIns="0" rtlCol="0" anchor="ctr"/>
          <a:lstStyle/>
          <a:p>
            <a:pPr marL="0" indent="0">
              <a:buNone/>
            </a:pPr>
            <a:r>
              <a:rPr lang="en-US" sz="1600" dirty="0">
                <a:solidFill>
                  <a:srgbClr val="CBD5E1"/>
                </a:solidFill>
                <a:latin typeface="Rockwell" panose="02060603020205020403" pitchFamily="18" charset="0"/>
              </a:rPr>
              <a:t>The mental model to remember before your next Flutter lab</a:t>
            </a:r>
            <a:endParaRPr lang="en-US" sz="1600" dirty="0">
              <a:latin typeface="Rockwell" panose="02060603020205020403" pitchFamily="18" charset="0"/>
            </a:endParaRPr>
          </a:p>
        </p:txBody>
      </p:sp>
      <p:sp>
        <p:nvSpPr>
          <p:cNvPr id="7" name="Shape 5"/>
          <p:cNvSpPr/>
          <p:nvPr/>
        </p:nvSpPr>
        <p:spPr>
          <a:xfrm>
            <a:off x="822960" y="1325880"/>
            <a:ext cx="10515600" cy="4846320"/>
          </a:xfrm>
          <a:prstGeom prst="roundRect">
            <a:avLst>
              <a:gd name="adj" fmla="val 943"/>
            </a:avLst>
          </a:prstGeom>
          <a:solidFill>
            <a:srgbClr val="0B1220"/>
          </a:solidFill>
          <a:ln w="12700">
            <a:solidFill>
              <a:srgbClr val="1E293B"/>
            </a:solidFill>
            <a:prstDash val="solid"/>
          </a:ln>
        </p:spPr>
      </p:sp>
      <p:sp>
        <p:nvSpPr>
          <p:cNvPr id="8" name="Text 6"/>
          <p:cNvSpPr/>
          <p:nvPr/>
        </p:nvSpPr>
        <p:spPr>
          <a:xfrm>
            <a:off x="1051560" y="1645920"/>
            <a:ext cx="9966960" cy="3931920"/>
          </a:xfrm>
          <a:prstGeom prst="rect">
            <a:avLst/>
          </a:prstGeom>
          <a:noFill/>
          <a:ln/>
        </p:spPr>
        <p:txBody>
          <a:bodyPr wrap="square" lIns="508" tIns="508" rIns="508" bIns="508" rtlCol="0" anchor="t">
            <a:normAutofit/>
          </a:bodyPr>
          <a:lstStyle/>
          <a:p>
            <a:pPr marL="240030" indent="-240030">
              <a:buSzPct val="100000"/>
              <a:buChar char="•"/>
            </a:pPr>
            <a:r>
              <a:rPr lang="en-US" sz="2400" dirty="0">
                <a:solidFill>
                  <a:srgbClr val="E2E8F0"/>
                </a:solidFill>
              </a:rPr>
              <a:t>Outer shell: MaterialApp → Scaffold → AppBar / body / FAB / drawer → SafeArea where needed.</a:t>
            </a:r>
            <a:endParaRPr lang="en-US" sz="2400" dirty="0"/>
          </a:p>
          <a:p>
            <a:pPr marL="240030" indent="-240030">
              <a:buSzPct val="100000"/>
              <a:buChar char="•"/>
            </a:pPr>
            <a:r>
              <a:rPr lang="en-US" sz="2400" dirty="0">
                <a:solidFill>
                  <a:srgbClr val="E2E8F0"/>
                </a:solidFill>
              </a:rPr>
              <a:t>Constraint rule: parents limit; children request.</a:t>
            </a:r>
            <a:endParaRPr lang="en-US" sz="2400" dirty="0"/>
          </a:p>
          <a:p>
            <a:pPr marL="240030" indent="-240030">
              <a:buSzPct val="100000"/>
              <a:buChar char="•"/>
            </a:pPr>
            <a:r>
              <a:rPr lang="en-US" sz="2400" dirty="0">
                <a:solidFill>
                  <a:srgbClr val="E2E8F0"/>
                </a:solidFill>
              </a:rPr>
              <a:t>Greedy child + no bounding parent = trouble.</a:t>
            </a:r>
            <a:endParaRPr lang="en-US" sz="2400" dirty="0"/>
          </a:p>
          <a:p>
            <a:pPr marL="240030" indent="-240030">
              <a:buSzPct val="100000"/>
              <a:buChar char="•"/>
            </a:pPr>
            <a:r>
              <a:rPr lang="en-US" sz="2400" dirty="0">
                <a:solidFill>
                  <a:srgbClr val="E2E8F0"/>
                </a:solidFill>
              </a:rPr>
              <a:t>Positioning tools: Row (horizontal), Column (vertical), Flex (dynamic orientation).</a:t>
            </a:r>
            <a:endParaRPr lang="en-US" sz="2400" dirty="0"/>
          </a:p>
          <a:p>
            <a:pPr marL="240030" indent="-240030">
              <a:buSzPct val="100000"/>
              <a:buChar char="•"/>
            </a:pPr>
            <a:r>
              <a:rPr lang="en-US" sz="2400" dirty="0">
                <a:solidFill>
                  <a:srgbClr val="E2E8F0"/>
                </a:solidFill>
              </a:rPr>
              <a:t>Responsiveness: inspect the device context with MediaQuery, then change structure when necessary.</a:t>
            </a:r>
            <a:endParaRPr lang="en-US" sz="2400" dirty="0"/>
          </a:p>
        </p:txBody>
      </p:sp>
      <p:sp>
        <p:nvSpPr>
          <p:cNvPr id="9" name="Text 7"/>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164592"/>
          </a:xfrm>
          <a:prstGeom prst="rect">
            <a:avLst/>
          </a:prstGeom>
          <a:solidFill>
            <a:srgbClr val="22D3EE"/>
          </a:solidFill>
          <a:ln w="12700">
            <a:solidFill>
              <a:srgbClr val="22D3EE"/>
            </a:solidFill>
            <a:prstDash val="solid"/>
          </a:ln>
        </p:spPr>
      </p:sp>
      <p:sp>
        <p:nvSpPr>
          <p:cNvPr id="4" name="Shape 2"/>
          <p:cNvSpPr/>
          <p:nvPr/>
        </p:nvSpPr>
        <p:spPr>
          <a:xfrm>
            <a:off x="0" y="6656832"/>
            <a:ext cx="12191695" cy="201168"/>
          </a:xfrm>
          <a:prstGeom prst="rect">
            <a:avLst/>
          </a:prstGeom>
          <a:solidFill>
            <a:srgbClr val="0B1220"/>
          </a:solidFill>
          <a:ln w="12700">
            <a:solidFill>
              <a:srgbClr val="0B1220"/>
            </a:solidFill>
            <a:prstDash val="solid"/>
          </a:ln>
        </p:spPr>
      </p:sp>
      <p:sp>
        <p:nvSpPr>
          <p:cNvPr id="5" name="Text 3"/>
          <p:cNvSpPr/>
          <p:nvPr/>
        </p:nvSpPr>
        <p:spPr>
          <a:xfrm>
            <a:off x="822960" y="1005840"/>
            <a:ext cx="2286000" cy="228600"/>
          </a:xfrm>
          <a:prstGeom prst="rect">
            <a:avLst/>
          </a:prstGeom>
          <a:noFill/>
          <a:ln/>
        </p:spPr>
        <p:txBody>
          <a:bodyPr wrap="square" lIns="0" tIns="0" rIns="0" bIns="0" rtlCol="0" anchor="ctr"/>
          <a:lstStyle/>
          <a:p>
            <a:pPr marL="0" indent="0">
              <a:buNone/>
            </a:pPr>
            <a:r>
              <a:rPr lang="en-US" sz="1500" b="1" dirty="0">
                <a:solidFill>
                  <a:srgbClr val="22D3EE"/>
                </a:solidFill>
              </a:rPr>
              <a:t>Closing thought</a:t>
            </a:r>
            <a:endParaRPr lang="en-US" sz="1500" dirty="0"/>
          </a:p>
        </p:txBody>
      </p:sp>
      <p:sp>
        <p:nvSpPr>
          <p:cNvPr id="6" name="Text 4"/>
          <p:cNvSpPr/>
          <p:nvPr/>
        </p:nvSpPr>
        <p:spPr>
          <a:xfrm>
            <a:off x="822960" y="1417320"/>
            <a:ext cx="6309360" cy="502920"/>
          </a:xfrm>
          <a:prstGeom prst="rect">
            <a:avLst/>
          </a:prstGeom>
          <a:noFill/>
          <a:ln/>
        </p:spPr>
        <p:txBody>
          <a:bodyPr wrap="square" lIns="0" tIns="0" rIns="0" bIns="0" rtlCol="0" anchor="ctr"/>
          <a:lstStyle/>
          <a:p>
            <a:pPr marL="0" indent="0">
              <a:buNone/>
            </a:pPr>
            <a:r>
              <a:rPr lang="en-US" sz="3000" b="1" dirty="0">
                <a:solidFill>
                  <a:srgbClr val="F8FAFC"/>
                </a:solidFill>
                <a:latin typeface="Aptos Display" pitchFamily="34" charset="0"/>
                <a:ea typeface="Aptos Display" pitchFamily="34" charset="-122"/>
                <a:cs typeface="Aptos Display" pitchFamily="34" charset="-120"/>
              </a:rPr>
              <a:t>Good Flutter layout is not guesswork.</a:t>
            </a:r>
            <a:endParaRPr lang="en-US" sz="3000" dirty="0"/>
          </a:p>
        </p:txBody>
      </p:sp>
      <p:sp>
        <p:nvSpPr>
          <p:cNvPr id="7" name="Text 5"/>
          <p:cNvSpPr/>
          <p:nvPr/>
        </p:nvSpPr>
        <p:spPr>
          <a:xfrm>
            <a:off x="841248" y="2148840"/>
            <a:ext cx="6675120" cy="914400"/>
          </a:xfrm>
          <a:prstGeom prst="rect">
            <a:avLst/>
          </a:prstGeom>
          <a:noFill/>
          <a:ln/>
        </p:spPr>
        <p:txBody>
          <a:bodyPr wrap="square" lIns="0" tIns="0" rIns="0" bIns="0" rtlCol="0" anchor="ctr"/>
          <a:lstStyle/>
          <a:p>
            <a:pPr marL="0" indent="0">
              <a:buNone/>
            </a:pPr>
            <a:r>
              <a:rPr lang="en-US" sz="2100" dirty="0">
                <a:solidFill>
                  <a:srgbClr val="E2E8F0"/>
                </a:solidFill>
              </a:rPr>
              <a:t>Once you understand constraints, scene shells, and responsive structure, you stop fighting the framework and start designing with it.</a:t>
            </a:r>
            <a:endParaRPr lang="en-US" sz="2100" dirty="0"/>
          </a:p>
        </p:txBody>
      </p:sp>
      <p:sp>
        <p:nvSpPr>
          <p:cNvPr id="8" name="Shape 6"/>
          <p:cNvSpPr/>
          <p:nvPr/>
        </p:nvSpPr>
        <p:spPr>
          <a:xfrm>
            <a:off x="7909560" y="1234440"/>
            <a:ext cx="3337560" cy="4572000"/>
          </a:xfrm>
          <a:prstGeom prst="roundRect">
            <a:avLst>
              <a:gd name="adj" fmla="val 2192"/>
            </a:avLst>
          </a:prstGeom>
          <a:solidFill>
            <a:srgbClr val="FFFFFF">
              <a:alpha val="98000"/>
            </a:srgbClr>
          </a:solidFill>
          <a:ln w="12700">
            <a:solidFill>
              <a:srgbClr val="CBD5E1">
                <a:alpha val="60000"/>
              </a:srgbClr>
            </a:solidFill>
            <a:prstDash val="solid"/>
          </a:ln>
          <a:effectLst>
            <a:outerShdw blurRad="25400" dist="12700" dir="2700000" algn="bl" rotWithShape="0">
              <a:srgbClr val="000000">
                <a:alpha val="18000"/>
              </a:srgbClr>
            </a:outerShdw>
          </a:effectLst>
        </p:spPr>
      </p:sp>
      <p:pic>
        <p:nvPicPr>
          <p:cNvPr id="9" name="Image 0" descr="/mnt/data/ch11_12_assets/page-216.png"/>
          <p:cNvPicPr>
            <a:picLocks noChangeAspect="1"/>
          </p:cNvPicPr>
          <p:nvPr/>
        </p:nvPicPr>
        <p:blipFill>
          <a:blip r:embed="rId3"/>
          <a:stretch>
            <a:fillRect/>
          </a:stretch>
        </p:blipFill>
        <p:spPr>
          <a:xfrm>
            <a:off x="8117988" y="1307592"/>
            <a:ext cx="2920704" cy="4425696"/>
          </a:xfrm>
          <a:prstGeom prst="rect">
            <a:avLst/>
          </a:prstGeom>
        </p:spPr>
      </p:pic>
      <p:sp>
        <p:nvSpPr>
          <p:cNvPr id="10" name="Text 7"/>
          <p:cNvSpPr/>
          <p:nvPr/>
        </p:nvSpPr>
        <p:spPr>
          <a:xfrm>
            <a:off x="868680" y="4251960"/>
            <a:ext cx="6217920" cy="731520"/>
          </a:xfrm>
          <a:prstGeom prst="rect">
            <a:avLst/>
          </a:prstGeom>
          <a:noFill/>
          <a:ln/>
        </p:spPr>
        <p:txBody>
          <a:bodyPr wrap="square" lIns="0" tIns="0" rIns="0" bIns="0" rtlCol="0" anchor="ctr"/>
          <a:lstStyle/>
          <a:p>
            <a:pPr marL="0" indent="0">
              <a:buNone/>
            </a:pPr>
            <a:r>
              <a:rPr lang="en-US" sz="1800" i="1" dirty="0">
                <a:solidFill>
                  <a:srgbClr val="CBD5E1"/>
                </a:solidFill>
              </a:rPr>
              <a:t>Next step: implement one responsive scene yourself and debug it by reading constraints instead of experimenting blindly.</a:t>
            </a:r>
            <a:endParaRPr lang="en-US" sz="1800" dirty="0"/>
          </a:p>
        </p:txBody>
      </p:sp>
      <p:sp>
        <p:nvSpPr>
          <p:cNvPr id="11" name="Text 8"/>
          <p:cNvSpPr/>
          <p:nvPr/>
        </p:nvSpPr>
        <p:spPr>
          <a:xfrm>
            <a:off x="502920" y="6684264"/>
            <a:ext cx="5303520" cy="109728"/>
          </a:xfrm>
          <a:prstGeom prst="rect">
            <a:avLst/>
          </a:prstGeom>
          <a:noFill/>
          <a:ln/>
        </p:spPr>
        <p:txBody>
          <a:bodyPr wrap="square" lIns="0" tIns="0" rIns="0" bIns="0" rtlCol="0" anchor="ctr"/>
          <a:lstStyle/>
          <a:p>
            <a:pPr marL="0" indent="0">
              <a:buNone/>
            </a:pPr>
            <a:r>
              <a:rPr lang="en-US" sz="850" dirty="0">
                <a:solidFill>
                  <a:srgbClr val="94A3B8"/>
                </a:solidFill>
              </a:rPr>
              <a:t>Flutter App Development • Chapters 11–12 • Slide 38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5089</Words>
  <Application>Microsoft Office PowerPoint</Application>
  <PresentationFormat>Widescreen</PresentationFormat>
  <Paragraphs>434</Paragraphs>
  <Slides>38</Slides>
  <Notes>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Aptos</vt:lpstr>
      <vt:lpstr>Aptos Display</vt:lpstr>
      <vt:lpstr>Arial</vt:lpstr>
      <vt:lpstr>Calibri</vt:lpstr>
      <vt:lpstr>Consolas</vt:lpstr>
      <vt:lpstr>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Layout — Chapters 11 &amp; 12</dc:title>
  <dc:subject>Flutter Layout Chapters 11 and 12</dc:subject>
  <dc:creator>OpenAI</dc:creator>
  <cp:lastModifiedBy>CTS</cp:lastModifiedBy>
  <cp:revision>27</cp:revision>
  <dcterms:created xsi:type="dcterms:W3CDTF">2026-03-29T20:18:59Z</dcterms:created>
  <dcterms:modified xsi:type="dcterms:W3CDTF">2026-03-29T21:30:58Z</dcterms:modified>
</cp:coreProperties>
</file>