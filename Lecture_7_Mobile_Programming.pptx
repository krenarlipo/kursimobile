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79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25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65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8: Libraritë e Menaxhimit të Gjendjes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“setState” te libraritë moderne: InheritedWidget, BLoC, Raw State, Riverpod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1828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88620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Viti i dytë (Shkenca Kompjuterike)
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Qëllimi: të kuptojmë pse dhe kur na duhen librari për state management
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lidhim konceptet me Kapitullin 7 (Passing State Down / Lifting State Up)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550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7FF"/>
                </a:solidFill>
              </a:rPr>
              <a:t>Leksion (Shkenca Kompjuterike) — Shqip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Objektivat e mësimit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duhet të dini pas kësaj leksioni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 dalloni “state lokal” vs “state i përbashkët” (shared/app state)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 kuptoni pse “lifting state up” bëhet i vështirë në aplikacione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mëdha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 njihni opsionet kryesore: InheritedWidget, BLoC, ScopedModel, Redux/Hooks, Provider, Raw State,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Riverpod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 implementoni një shembull minimal me Raw State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Riverpod</a:t>
            </a:r>
            <a:endParaRPr lang="en-US" sz="2000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Nga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kapitulli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7 ne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pamë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poshtë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endParaRPr lang="en-US" sz="2000" b="1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State =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dhëna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ndryshojnë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ndikojnë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UI</a:t>
            </a:r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Ndryshimi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duhet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bëhet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brenda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setState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()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UI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rifreskohet</a:t>
            </a:r>
            <a:endParaRPr lang="en-US" sz="2000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Passing state down: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prindi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kalon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vlerat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fëmijëve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me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parametra</a:t>
            </a:r>
            <a:endParaRPr lang="en-US" sz="2000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Lifting state up: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fëmija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njofton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prindin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me callback;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prindi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ruan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“single source of truth”</a:t>
            </a:r>
            <a:endParaRPr lang="en-US" sz="2000" dirty="0">
              <a:latin typeface="+mj-lt"/>
            </a:endParaRPr>
          </a:p>
          <a:p>
            <a:pPr>
              <a:lnSpc>
                <a:spcPct val="115000"/>
              </a:lnSpc>
              <a:buSzPct val="100000"/>
            </a:pPr>
            <a:endParaRPr lang="en-US" sz="2400" dirty="0"/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endParaRPr lang="en-US" sz="2400" dirty="0"/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endParaRPr lang="en-US" sz="24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FontTx/>
              <a:buChar char="-"/>
            </a:pPr>
            <a:endParaRPr lang="en-US" sz="2400" dirty="0"/>
          </a:p>
          <a:p>
            <a:pPr>
              <a:lnSpc>
                <a:spcPct val="115000"/>
              </a:lnSpc>
              <a:buSzPct val="100000"/>
            </a:pPr>
            <a:endParaRPr lang="en-US" sz="24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duhen librari për gjendjen?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aplikacioni rritet, kompleksiteti rritet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 teori, mund të kalojmë state poshtë dhe ta ngremë lart pafund (widget tree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thellë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 praktikë: bëhet i komplikuar (prop-drilling, callback chains, file structure)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Kur state bëhet “messy”, pattern-et/libraritë bëhen të vlefshme për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t’u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mësuar</a:t>
            </a: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--------------------------</a:t>
            </a: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Kur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aplikacioni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bëhet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shumë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kompleks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do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jetë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mirë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përdorni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avancuar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menaxhimit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gjendjes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Këto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modele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zakonisht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nuk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janë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lehta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t'u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mësuar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por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moment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rritjes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aplikacionit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tuaj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ato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vlejnë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përpjekjes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t'i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zotëruar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Dy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nga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libraritë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shikojmë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janë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Riverpod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and Inherited Widgets</a:t>
            </a:r>
            <a:endParaRPr lang="en-US" sz="20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InheritedWidget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Bazë e shumë zgjidhjeve moderne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7553" y="822960"/>
            <a:ext cx="11272759" cy="5641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Ideja: një widget “prind” mban vlera dhe i bën të aksesueshme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descendants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Descendants mund të “kërkojnë lart” në tree dhe ta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gjejnë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InheritedWidget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Provider, Redux, Riverpod janë wrappers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mbi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InheritedWidget</a:t>
            </a: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Inherited Widget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është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vegël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integruar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Flutter. </a:t>
            </a: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thelb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ajo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ekspozon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grup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vogël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variablash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vihen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dispozicion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gjithë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pasardhësve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pemën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saj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farë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mënyre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ajo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krijon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variabla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pseudo-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globale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Ato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janë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disponueshme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kudo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poshtë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InheritedWidget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, por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vetëm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mënyrë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shumë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kontrolluar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InheritedWidget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përcakton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variablat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duhet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ndahen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midis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gjithë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pasardhësve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000" b="1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zgjidhja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thjeshtë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këtë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kapitull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+mj-lt"/>
                <a:ea typeface="Calibri" pitchFamily="34" charset="-122"/>
                <a:cs typeface="Calibri" pitchFamily="34" charset="-120"/>
              </a:rPr>
              <a:t>Cons: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megjithatë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vështirë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kuptuar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është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diçka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minimaliste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përshtatshëm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vetëm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state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shumë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bazik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aplikacionit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projekte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shpesh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zëvendësohet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nga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librari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“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fshehin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”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kompleksitetin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InheritedWidget —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përdorim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atë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2099" y="1051560"/>
            <a:ext cx="599559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</a:t>
            </a: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Inherited Widget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dirty="0"/>
              <a:t>class _</a:t>
            </a:r>
            <a:r>
              <a:rPr lang="en-US" dirty="0" err="1"/>
              <a:t>CounterHostState</a:t>
            </a:r>
            <a:r>
              <a:rPr lang="en-US" dirty="0"/>
              <a:t> extends State&lt;</a:t>
            </a:r>
            <a:r>
              <a:rPr lang="en-US" dirty="0" err="1"/>
              <a:t>CounterHost</a:t>
            </a:r>
            <a:r>
              <a:rPr lang="en-US" dirty="0"/>
              <a:t>&gt; {</a:t>
            </a:r>
            <a:br>
              <a:rPr lang="en-US" dirty="0"/>
            </a:br>
            <a:r>
              <a:rPr lang="en-US" dirty="0"/>
              <a:t>int counter = 0;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void </a:t>
            </a:r>
            <a:r>
              <a:rPr lang="en-US" dirty="0" err="1"/>
              <a:t>inc</a:t>
            </a:r>
            <a:r>
              <a:rPr lang="en-US" dirty="0"/>
              <a:t>() =&gt; </a:t>
            </a:r>
            <a:r>
              <a:rPr lang="en-US" dirty="0" err="1"/>
              <a:t>setState</a:t>
            </a:r>
            <a:r>
              <a:rPr lang="en-US" dirty="0"/>
              <a:t>(() =&gt; counter++);</a:t>
            </a:r>
            <a:br>
              <a:rPr lang="en-US" dirty="0"/>
            </a:br>
            <a:r>
              <a:rPr lang="en-US" dirty="0"/>
              <a:t>void </a:t>
            </a:r>
            <a:r>
              <a:rPr lang="en-US" dirty="0" err="1"/>
              <a:t>dec</a:t>
            </a:r>
            <a:r>
              <a:rPr lang="en-US" dirty="0"/>
              <a:t>() =&gt; </a:t>
            </a:r>
            <a:r>
              <a:rPr lang="en-US" dirty="0" err="1"/>
              <a:t>setState</a:t>
            </a:r>
            <a:r>
              <a:rPr lang="en-US" dirty="0"/>
              <a:t>(() =&gt; counter--);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Widget build(</a:t>
            </a:r>
            <a:r>
              <a:rPr lang="en-US" dirty="0" err="1"/>
              <a:t>BuildContext</a:t>
            </a:r>
            <a:r>
              <a:rPr lang="en-US" dirty="0"/>
              <a:t> context) {</a:t>
            </a:r>
            <a:br>
              <a:rPr lang="en-US" dirty="0"/>
            </a:br>
            <a:r>
              <a:rPr lang="en-US" dirty="0"/>
              <a:t>return </a:t>
            </a:r>
            <a:r>
              <a:rPr lang="en-US" dirty="0" err="1"/>
              <a:t>CounterProvider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counter: counter,</a:t>
            </a:r>
            <a:br>
              <a:rPr lang="en-US" dirty="0"/>
            </a:br>
            <a:r>
              <a:rPr lang="en-US" dirty="0"/>
              <a:t>}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87EB321-33C6-496C-8363-7C4F6D62BEAE}"/>
              </a:ext>
            </a:extLst>
          </p:cNvPr>
          <p:cNvSpPr/>
          <p:nvPr/>
        </p:nvSpPr>
        <p:spPr>
          <a:xfrm>
            <a:off x="6660776" y="987552"/>
            <a:ext cx="520849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en-US" sz="1600" dirty="0"/>
              <a:t>class </a:t>
            </a:r>
            <a:r>
              <a:rPr lang="en-US" sz="1600" dirty="0" err="1"/>
              <a:t>CounterProvider</a:t>
            </a:r>
            <a:r>
              <a:rPr lang="en-US" sz="1600" dirty="0"/>
              <a:t> extends </a:t>
            </a:r>
            <a:r>
              <a:rPr lang="en-US" sz="1600" dirty="0" err="1"/>
              <a:t>InheritedWidget</a:t>
            </a:r>
            <a:r>
              <a:rPr lang="en-US" sz="1600" dirty="0"/>
              <a:t> {</a:t>
            </a:r>
            <a:br>
              <a:rPr lang="en-US" sz="1600" dirty="0"/>
            </a:br>
            <a:r>
              <a:rPr lang="en-US" sz="1600" dirty="0"/>
              <a:t>final int counter;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const </a:t>
            </a:r>
            <a:r>
              <a:rPr lang="en-US" sz="1600" dirty="0" err="1"/>
              <a:t>CounterProvider</a:t>
            </a:r>
            <a:r>
              <a:rPr lang="en-US" sz="1600" dirty="0"/>
              <a:t>({</a:t>
            </a:r>
            <a:br>
              <a:rPr lang="en-US" sz="1600" dirty="0"/>
            </a:br>
            <a:r>
              <a:rPr lang="en-US" sz="1600" dirty="0" err="1"/>
              <a:t>super.key</a:t>
            </a:r>
            <a:r>
              <a:rPr lang="en-US" sz="1600" dirty="0"/>
              <a:t>,</a:t>
            </a:r>
            <a:br>
              <a:rPr lang="en-US" sz="1600" dirty="0"/>
            </a:br>
            <a:r>
              <a:rPr lang="en-US" sz="1600" dirty="0"/>
              <a:t>required </a:t>
            </a:r>
            <a:r>
              <a:rPr lang="en-US" sz="1600" dirty="0" err="1"/>
              <a:t>this.counter</a:t>
            </a:r>
            <a:r>
              <a:rPr lang="en-US" sz="1600" dirty="0"/>
              <a:t>,</a:t>
            </a:r>
            <a:br>
              <a:rPr lang="en-US" sz="1600" dirty="0"/>
            </a:br>
            <a:r>
              <a:rPr lang="en-US" sz="1600" dirty="0"/>
              <a:t>required Widget child,</a:t>
            </a:r>
            <a:br>
              <a:rPr lang="en-US" sz="1600" dirty="0"/>
            </a:br>
            <a:r>
              <a:rPr lang="en-US" sz="1600" dirty="0"/>
              <a:t>}) : super(child: child);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/// This is the "easy access" method:</a:t>
            </a:r>
            <a:br>
              <a:rPr lang="en-US" sz="1600" dirty="0"/>
            </a:br>
            <a:r>
              <a:rPr lang="en-US" sz="1600" dirty="0"/>
              <a:t>/* </a:t>
            </a:r>
            <a:r>
              <a:rPr lang="en-US" sz="1600" dirty="0" err="1"/>
              <a:t>CounterProvider.of</a:t>
            </a:r>
            <a:r>
              <a:rPr lang="en-US" sz="1600" dirty="0"/>
              <a:t>(context) returns the nearest </a:t>
            </a:r>
            <a:r>
              <a:rPr lang="en-US" sz="1600" dirty="0" err="1"/>
              <a:t>CounterProvider</a:t>
            </a:r>
            <a:r>
              <a:rPr lang="en-US" sz="1600" dirty="0"/>
              <a:t> above. */</a:t>
            </a:r>
            <a:br>
              <a:rPr lang="en-US" sz="1600" dirty="0"/>
            </a:br>
            <a:r>
              <a:rPr lang="en-US" sz="1600" dirty="0"/>
              <a:t>static </a:t>
            </a:r>
            <a:r>
              <a:rPr lang="en-US" sz="1600" dirty="0" err="1"/>
              <a:t>CounterProvider</a:t>
            </a:r>
            <a:r>
              <a:rPr lang="en-US" sz="1600" dirty="0"/>
              <a:t> of(</a:t>
            </a:r>
            <a:r>
              <a:rPr lang="en-US" sz="1600" dirty="0" err="1"/>
              <a:t>BuildContext</a:t>
            </a:r>
            <a:r>
              <a:rPr lang="en-US" sz="1600" dirty="0"/>
              <a:t> context) {</a:t>
            </a:r>
            <a:br>
              <a:rPr lang="en-US" sz="1600" dirty="0"/>
            </a:br>
            <a:r>
              <a:rPr lang="en-US" sz="1600" dirty="0"/>
              <a:t>final </a:t>
            </a:r>
            <a:r>
              <a:rPr lang="en-US" sz="1600" dirty="0" err="1"/>
              <a:t>CounterProvider</a:t>
            </a:r>
            <a:r>
              <a:rPr lang="en-US" sz="1600" dirty="0"/>
              <a:t>? result =</a:t>
            </a:r>
            <a:br>
              <a:rPr lang="en-US" sz="1600" dirty="0"/>
            </a:br>
            <a:r>
              <a:rPr lang="en-US" sz="1600" dirty="0" err="1"/>
              <a:t>context.dependOnInheritedWidgetOfExactType</a:t>
            </a:r>
            <a:r>
              <a:rPr lang="en-US" sz="1600" dirty="0"/>
              <a:t>&lt;</a:t>
            </a:r>
            <a:r>
              <a:rPr lang="en-US" sz="1600" dirty="0" err="1"/>
              <a:t>CounterProvider</a:t>
            </a:r>
            <a:r>
              <a:rPr lang="en-US" sz="1600" dirty="0"/>
              <a:t>&gt;();</a:t>
            </a:r>
            <a:br>
              <a:rPr lang="en-US" sz="1600" dirty="0"/>
            </a:br>
            <a:r>
              <a:rPr lang="en-US" sz="1600" dirty="0"/>
              <a:t>assert(result != null, 'No </a:t>
            </a:r>
            <a:r>
              <a:rPr lang="en-US" sz="1600" dirty="0" err="1"/>
              <a:t>CounterProvider</a:t>
            </a:r>
            <a:r>
              <a:rPr lang="en-US" sz="1600" dirty="0"/>
              <a:t> found in context');</a:t>
            </a:r>
            <a:br>
              <a:rPr lang="en-US" sz="1600" dirty="0"/>
            </a:br>
            <a:r>
              <a:rPr lang="en-US" sz="1600" dirty="0"/>
              <a:t>return result!;</a:t>
            </a:r>
            <a:br>
              <a:rPr lang="en-US" sz="1600" dirty="0"/>
            </a:br>
            <a:r>
              <a:rPr lang="en-US" sz="1600" dirty="0"/>
              <a:t>}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InheritedWidget — Example Easier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përdorim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atë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2099" y="868680"/>
            <a:ext cx="6130066" cy="5605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dirty="0"/>
              <a:t>class Level1 extends </a:t>
            </a:r>
            <a:r>
              <a:rPr lang="en-US" dirty="0" err="1"/>
              <a:t>StatelessWidget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const Level1({</a:t>
            </a:r>
            <a:r>
              <a:rPr lang="en-US" dirty="0" err="1"/>
              <a:t>super.key</a:t>
            </a:r>
            <a:r>
              <a:rPr lang="en-US" dirty="0"/>
              <a:t>});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Widget build(</a:t>
            </a:r>
            <a:r>
              <a:rPr lang="en-US" dirty="0" err="1"/>
              <a:t>BuildContext</a:t>
            </a:r>
            <a:r>
              <a:rPr lang="en-US" dirty="0"/>
              <a:t> context) {</a:t>
            </a:r>
            <a:br>
              <a:rPr lang="en-US" dirty="0"/>
            </a:br>
            <a:r>
              <a:rPr lang="en-US" dirty="0"/>
              <a:t>return const Level2();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Level2 extends </a:t>
            </a:r>
            <a:r>
              <a:rPr lang="en-US" dirty="0" err="1"/>
              <a:t>StatelessWidget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const Level2({</a:t>
            </a:r>
            <a:r>
              <a:rPr lang="en-US" dirty="0" err="1"/>
              <a:t>super.key</a:t>
            </a:r>
            <a:r>
              <a:rPr lang="en-US" dirty="0"/>
              <a:t>});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Widget build(</a:t>
            </a:r>
            <a:r>
              <a:rPr lang="en-US" dirty="0" err="1"/>
              <a:t>BuildContext</a:t>
            </a:r>
            <a:r>
              <a:rPr lang="en-US" dirty="0"/>
              <a:t> context) {</a:t>
            </a:r>
            <a:br>
              <a:rPr lang="en-US" dirty="0"/>
            </a:br>
            <a:r>
              <a:rPr lang="en-US" dirty="0"/>
              <a:t>return const Level3();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87EB321-33C6-496C-8363-7C4F6D62BEAE}"/>
              </a:ext>
            </a:extLst>
          </p:cNvPr>
          <p:cNvSpPr/>
          <p:nvPr/>
        </p:nvSpPr>
        <p:spPr>
          <a:xfrm>
            <a:off x="6660776" y="987552"/>
            <a:ext cx="520849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en-US" dirty="0"/>
              <a:t>/// Deep child: reads counter from </a:t>
            </a:r>
            <a:r>
              <a:rPr lang="en-US" dirty="0" err="1"/>
              <a:t>CounterProvider</a:t>
            </a:r>
            <a:r>
              <a:rPr lang="en-US" dirty="0"/>
              <a:t>, no props needed.</a:t>
            </a:r>
            <a:br>
              <a:rPr lang="en-US" dirty="0"/>
            </a:br>
            <a:r>
              <a:rPr lang="en-US" dirty="0"/>
              <a:t>class Level3 extends </a:t>
            </a:r>
            <a:r>
              <a:rPr lang="en-US" dirty="0" err="1"/>
              <a:t>StatelessWidget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const Level3({</a:t>
            </a:r>
            <a:r>
              <a:rPr lang="en-US" dirty="0" err="1"/>
              <a:t>super.key</a:t>
            </a:r>
            <a:r>
              <a:rPr lang="en-US" dirty="0"/>
              <a:t>});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Widget build(</a:t>
            </a:r>
            <a:r>
              <a:rPr lang="en-US" dirty="0" err="1"/>
              <a:t>BuildContext</a:t>
            </a:r>
            <a:r>
              <a:rPr lang="en-US" dirty="0"/>
              <a:t> context) {</a:t>
            </a:r>
            <a:br>
              <a:rPr lang="en-US" dirty="0"/>
            </a:br>
            <a:r>
              <a:rPr lang="en-US" dirty="0"/>
              <a:t>final counter = </a:t>
            </a:r>
            <a:r>
              <a:rPr lang="en-US" dirty="0" err="1"/>
              <a:t>CounterProvider.of</a:t>
            </a:r>
            <a:r>
              <a:rPr lang="en-US" dirty="0"/>
              <a:t>(context).counter;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return Text(</a:t>
            </a:r>
            <a:br>
              <a:rPr lang="en-US" dirty="0"/>
            </a:br>
            <a:r>
              <a:rPr lang="en-US" dirty="0"/>
              <a:t>'Counter = $counter',</a:t>
            </a:r>
            <a:br>
              <a:rPr lang="en-US" dirty="0"/>
            </a:br>
            <a:r>
              <a:rPr lang="en-US" dirty="0"/>
              <a:t>style: const </a:t>
            </a:r>
            <a:r>
              <a:rPr lang="en-US" dirty="0" err="1"/>
              <a:t>TextStyle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: 32, </a:t>
            </a:r>
            <a:r>
              <a:rPr lang="en-US" dirty="0" err="1"/>
              <a:t>fontWeight</a:t>
            </a:r>
            <a:r>
              <a:rPr lang="en-US" dirty="0"/>
              <a:t>: </a:t>
            </a:r>
            <a:r>
              <a:rPr lang="en-US" dirty="0" err="1"/>
              <a:t>FontWeight.bold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39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BLoC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Components (pattern, jo widget/librari)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0164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Pattern i krijuar për të ripërdorur logjikën në Web/Mobile/Backend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Data trajtohet si streams dhe state ndryshohet në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mënyrë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reaktive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Ndarje e qartë: UI ↔ Business Logic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akronim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komponentët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llogjikës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biznesit</a:t>
            </a:r>
            <a:endParaRPr lang="en-US" sz="2000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Eshtë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model Design-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_____________________________________</a:t>
            </a:r>
          </a:p>
          <a:p>
            <a:pPr>
              <a:lnSpc>
                <a:spcPct val="115000"/>
              </a:lnSpc>
              <a:buSzPct val="100000"/>
            </a:pP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Pjesët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kryesore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modeli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BloC</a:t>
            </a:r>
            <a:b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endParaRPr lang="en-US" sz="2000" b="1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StreamControllers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kontrollojnë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rrjedhën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dhënave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StreamTransformers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përpunojnë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dhënat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gjatë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rrjedhës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StreamBuilders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rindërtojnë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UI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kur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vjen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vlerë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e re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Pros: maintainable, testable, scalable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Cons: jo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thjeshtë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shpesh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shkruhet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low-level</a:t>
            </a:r>
            <a:endParaRPr lang="en-US" sz="2000" dirty="0">
              <a:latin typeface="+mj-lt"/>
            </a:endParaRPr>
          </a:p>
          <a:p>
            <a:pPr>
              <a:lnSpc>
                <a:spcPct val="115000"/>
              </a:lnSpc>
              <a:buSzPct val="100000"/>
            </a:pPr>
            <a:endParaRPr lang="en-US" sz="18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en-US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en-US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përdorimi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funksionon praktikisht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647765" cy="5367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564776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5EE5704-5B19-48B3-AD5C-DA625C9A9361}"/>
              </a:ext>
            </a:extLst>
          </p:cNvPr>
          <p:cNvSpPr/>
          <p:nvPr/>
        </p:nvSpPr>
        <p:spPr>
          <a:xfrm>
            <a:off x="1066800" y="1203960"/>
            <a:ext cx="564776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import '</a:t>
            </a:r>
            <a:r>
              <a:rPr lang="en-US" dirty="0" err="1"/>
              <a:t>package:flutter</a:t>
            </a:r>
            <a:r>
              <a:rPr lang="en-US" dirty="0"/>
              <a:t>/</a:t>
            </a:r>
            <a:r>
              <a:rPr lang="en-US" dirty="0" err="1"/>
              <a:t>material.dart</a:t>
            </a:r>
            <a:r>
              <a:rPr lang="en-US" dirty="0"/>
              <a:t>';</a:t>
            </a:r>
            <a:br>
              <a:rPr lang="en-US" dirty="0"/>
            </a:br>
            <a:r>
              <a:rPr lang="en-US" dirty="0"/>
              <a:t>import '</a:t>
            </a:r>
            <a:r>
              <a:rPr lang="en-US" dirty="0" err="1"/>
              <a:t>package:flutter_bloc</a:t>
            </a:r>
            <a:r>
              <a:rPr lang="en-US" dirty="0"/>
              <a:t>/</a:t>
            </a:r>
            <a:r>
              <a:rPr lang="en-US" dirty="0" err="1"/>
              <a:t>flutter_bloc.dart</a:t>
            </a:r>
            <a:r>
              <a:rPr lang="en-US" dirty="0"/>
              <a:t>';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void main() {</a:t>
            </a:r>
            <a:br>
              <a:rPr lang="en-US" dirty="0"/>
            </a:br>
            <a:r>
              <a:rPr lang="en-US" dirty="0" err="1"/>
              <a:t>runApp</a:t>
            </a:r>
            <a:r>
              <a:rPr lang="en-US" dirty="0"/>
              <a:t>(const </a:t>
            </a:r>
            <a:r>
              <a:rPr lang="en-US" dirty="0" err="1"/>
              <a:t>MyApp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/// ------------------------------</a:t>
            </a:r>
            <a:br>
              <a:rPr lang="en-US" dirty="0"/>
            </a:br>
            <a:r>
              <a:rPr lang="en-US" dirty="0"/>
              <a:t>/// 1) EVENTS (things the user/app does)</a:t>
            </a:r>
            <a:br>
              <a:rPr lang="en-US" dirty="0"/>
            </a:br>
            <a:r>
              <a:rPr lang="en-US" dirty="0"/>
              <a:t>/// ------------------------------</a:t>
            </a:r>
            <a:br>
              <a:rPr lang="en-US" dirty="0"/>
            </a:br>
            <a:r>
              <a:rPr lang="en-US" dirty="0"/>
              <a:t>abstract class </a:t>
            </a:r>
            <a:r>
              <a:rPr lang="en-US" dirty="0" err="1"/>
              <a:t>CounterEvent</a:t>
            </a:r>
            <a:r>
              <a:rPr lang="en-US" dirty="0"/>
              <a:t> {}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Increment extends </a:t>
            </a:r>
            <a:r>
              <a:rPr lang="en-US" dirty="0" err="1"/>
              <a:t>CounterEvent</a:t>
            </a:r>
            <a:r>
              <a:rPr lang="en-US" dirty="0"/>
              <a:t> {}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Decrement extends </a:t>
            </a:r>
            <a:r>
              <a:rPr lang="en-US" dirty="0" err="1"/>
              <a:t>CounterEvent</a:t>
            </a:r>
            <a:r>
              <a:rPr lang="en-US" dirty="0"/>
              <a:t> {}</a:t>
            </a:r>
            <a:br>
              <a:rPr lang="en-US" dirty="0"/>
            </a:br>
            <a:endParaRPr lang="en-US" sz="18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399C1712-89B8-4E75-ABD7-96EA46468EB0}"/>
              </a:ext>
            </a:extLst>
          </p:cNvPr>
          <p:cNvSpPr/>
          <p:nvPr/>
        </p:nvSpPr>
        <p:spPr>
          <a:xfrm>
            <a:off x="6373906" y="929640"/>
            <a:ext cx="5647765" cy="5422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en-US" dirty="0"/>
              <a:t>//Here the "state" is just an int (the counter value).</a:t>
            </a:r>
          </a:p>
          <a:p>
            <a:r>
              <a:rPr lang="en-US" dirty="0"/>
              <a:t>//</a:t>
            </a:r>
            <a:r>
              <a:rPr lang="en-US" dirty="0" err="1"/>
              <a:t>BloC</a:t>
            </a:r>
            <a:r>
              <a:rPr lang="en-US" dirty="0"/>
              <a:t> usage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CounterBloc</a:t>
            </a:r>
            <a:r>
              <a:rPr lang="en-US" dirty="0"/>
              <a:t> extends Bloc&lt;</a:t>
            </a:r>
            <a:r>
              <a:rPr lang="en-US" dirty="0" err="1"/>
              <a:t>CounterEvent</a:t>
            </a:r>
            <a:r>
              <a:rPr lang="en-US" dirty="0"/>
              <a:t>, int&gt; {</a:t>
            </a:r>
            <a:br>
              <a:rPr lang="en-US" dirty="0"/>
            </a:br>
            <a:r>
              <a:rPr lang="en-US" dirty="0"/>
              <a:t>// initial state is 0</a:t>
            </a:r>
            <a:br>
              <a:rPr lang="en-US" dirty="0"/>
            </a:br>
            <a:r>
              <a:rPr lang="en-US" dirty="0" err="1"/>
              <a:t>CounterBloc</a:t>
            </a:r>
            <a:r>
              <a:rPr lang="en-US" dirty="0"/>
              <a:t>() : super(0) {</a:t>
            </a:r>
            <a:br>
              <a:rPr lang="en-US" dirty="0"/>
            </a:br>
            <a:r>
              <a:rPr lang="en-US" dirty="0"/>
              <a:t>// When Increment event happens -&gt; emit(state + 1)</a:t>
            </a:r>
            <a:br>
              <a:rPr lang="en-US" dirty="0"/>
            </a:br>
            <a:r>
              <a:rPr lang="en-US" dirty="0"/>
              <a:t>on&lt;Increment&gt;((event, emit) {</a:t>
            </a:r>
            <a:br>
              <a:rPr lang="en-US" dirty="0"/>
            </a:br>
            <a:r>
              <a:rPr lang="en-US" dirty="0"/>
              <a:t>emit(state + 1);</a:t>
            </a:r>
            <a:br>
              <a:rPr lang="en-US" dirty="0"/>
            </a:br>
            <a:r>
              <a:rPr lang="en-US" dirty="0"/>
              <a:t>});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// When Decrement event happens -&gt; emit(state - 1)</a:t>
            </a:r>
            <a:br>
              <a:rPr lang="en-US" dirty="0"/>
            </a:br>
            <a:r>
              <a:rPr lang="en-US" dirty="0"/>
              <a:t>on&lt;Decrement&gt;((event, emit) {</a:t>
            </a:r>
            <a:br>
              <a:rPr lang="en-US" dirty="0"/>
            </a:br>
            <a:r>
              <a:rPr lang="en-US" dirty="0"/>
              <a:t>emit(state - 1);</a:t>
            </a:r>
            <a:br>
              <a:rPr lang="en-US" dirty="0"/>
            </a:br>
            <a:r>
              <a:rPr lang="en-US" dirty="0"/>
              <a:t>});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ScopedModel (overview)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listeners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Krijon data models që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regjistrojnë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listeners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Kur modeli ndryshon, njofton listeners → widget-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ët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update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Built mbi InheritedWidget; e bën aksesimin/mutimin më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lehtë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Cons: jo i mirëmbajtur aktivisht; raportohet për probleme performance në app-e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komplekse</a:t>
            </a:r>
            <a:endParaRPr lang="en-US" sz="2000" dirty="0">
              <a:solidFill>
                <a:srgbClr val="111827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</a:p>
          <a:p>
            <a:pPr>
              <a:lnSpc>
                <a:spcPct val="115000"/>
              </a:lnSpc>
              <a:buSzPct val="100000"/>
            </a:pP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ata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vijnë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nga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React: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emulon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Redux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Hooks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shumë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performant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scalable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Cons: learning curve e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lartë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nëse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nuk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njeh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React</a:t>
            </a:r>
            <a:endParaRPr lang="en-US" sz="2000" dirty="0"/>
          </a:p>
          <a:p>
            <a:pPr>
              <a:lnSpc>
                <a:spcPct val="115000"/>
              </a:lnSpc>
              <a:buSzPct val="100000"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e përmendim dhe pse zakonisht shkojmë te Riverpod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9976" y="859536"/>
            <a:ext cx="6418731" cy="5605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399" y="950976"/>
            <a:ext cx="5844989" cy="5458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Ishte shumë popullor për state management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Është zëvendësuar nga Riverpod (opsion më i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mirë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aplikacione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komplekse</a:t>
            </a: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Pros: paketë e aftë dhe relativisht e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thjeshtë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Cons: jo aktive si më parë sepse ka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pasardhësin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Riverpod</a:t>
            </a:r>
            <a:endParaRPr lang="en-US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 </a:t>
            </a:r>
            <a:r>
              <a:rPr lang="en-US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Përdorimi</a:t>
            </a: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libraries random</a:t>
            </a: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----------------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/>
              <a:t>import '</a:t>
            </a:r>
            <a:r>
              <a:rPr lang="en-US" sz="1400" dirty="0" err="1"/>
              <a:t>dart:math</a:t>
            </a:r>
            <a:r>
              <a:rPr lang="en-US" sz="1400" dirty="0"/>
              <a:t>';</a:t>
            </a:r>
            <a:br>
              <a:rPr lang="en-US" sz="1400" dirty="0"/>
            </a:br>
            <a:r>
              <a:rPr lang="en-US" sz="1400" dirty="0"/>
              <a:t>import '</a:t>
            </a:r>
            <a:r>
              <a:rPr lang="en-US" sz="1400" dirty="0" err="1"/>
              <a:t>package:flutter</a:t>
            </a:r>
            <a:r>
              <a:rPr lang="en-US" sz="1400" dirty="0"/>
              <a:t>/</a:t>
            </a:r>
            <a:r>
              <a:rPr lang="en-US" sz="1400" dirty="0" err="1"/>
              <a:t>material.dart</a:t>
            </a:r>
            <a:r>
              <a:rPr lang="en-US" sz="1400" dirty="0"/>
              <a:t>';</a:t>
            </a:r>
            <a:br>
              <a:rPr lang="en-US" sz="1400" dirty="0"/>
            </a:br>
            <a:r>
              <a:rPr lang="en-US" sz="1400" dirty="0"/>
              <a:t>void main() =&gt; </a:t>
            </a:r>
            <a:r>
              <a:rPr lang="en-US" sz="1400" dirty="0" err="1"/>
              <a:t>runApp</a:t>
            </a:r>
            <a:r>
              <a:rPr lang="en-US" sz="1400" dirty="0"/>
              <a:t>(const </a:t>
            </a:r>
            <a:r>
              <a:rPr lang="en-US" sz="1400" dirty="0" err="1"/>
              <a:t>MyApp</a:t>
            </a:r>
            <a:r>
              <a:rPr lang="en-US" sz="1400" dirty="0"/>
              <a:t>());</a:t>
            </a:r>
            <a:br>
              <a:rPr lang="en-US" sz="1400" dirty="0"/>
            </a:br>
            <a:r>
              <a:rPr lang="en-US" sz="1400" dirty="0"/>
              <a:t>class </a:t>
            </a:r>
            <a:r>
              <a:rPr lang="en-US" sz="1400" dirty="0" err="1"/>
              <a:t>MyApp</a:t>
            </a:r>
            <a:r>
              <a:rPr lang="en-US" sz="1400" dirty="0"/>
              <a:t> extends </a:t>
            </a:r>
            <a:r>
              <a:rPr lang="en-US" sz="1400" dirty="0" err="1"/>
              <a:t>StatelessWidget</a:t>
            </a:r>
            <a:r>
              <a:rPr lang="en-US" sz="1400" dirty="0"/>
              <a:t> {</a:t>
            </a:r>
            <a:br>
              <a:rPr lang="en-US" sz="1400" dirty="0"/>
            </a:br>
            <a:r>
              <a:rPr lang="en-US" sz="1400" dirty="0"/>
              <a:t>const </a:t>
            </a:r>
            <a:r>
              <a:rPr lang="en-US" sz="1400" dirty="0" err="1"/>
              <a:t>MyApp</a:t>
            </a:r>
            <a:r>
              <a:rPr lang="en-US" sz="1400" dirty="0"/>
              <a:t>({</a:t>
            </a:r>
            <a:r>
              <a:rPr lang="en-US" sz="1400" dirty="0" err="1"/>
              <a:t>super.key</a:t>
            </a:r>
            <a:r>
              <a:rPr lang="en-US" sz="1400" dirty="0"/>
              <a:t>});</a:t>
            </a:r>
            <a:br>
              <a:rPr lang="en-US" sz="1400" dirty="0"/>
            </a:br>
            <a:r>
              <a:rPr lang="en-US" sz="1400" dirty="0"/>
              <a:t>@override</a:t>
            </a:r>
            <a:br>
              <a:rPr lang="en-US" sz="1400" dirty="0"/>
            </a:br>
            <a:r>
              <a:rPr lang="en-US" sz="1400" dirty="0"/>
              <a:t>Widget build(</a:t>
            </a:r>
            <a:r>
              <a:rPr lang="en-US" sz="1400" dirty="0" err="1"/>
              <a:t>BuildContext</a:t>
            </a:r>
            <a:r>
              <a:rPr lang="en-US" sz="1400" dirty="0"/>
              <a:t> context) {</a:t>
            </a:r>
            <a:br>
              <a:rPr lang="en-US" sz="1400" dirty="0"/>
            </a:br>
            <a:r>
              <a:rPr lang="en-US" sz="1400" dirty="0"/>
              <a:t>return const </a:t>
            </a:r>
            <a:r>
              <a:rPr lang="en-US" sz="1400" dirty="0" err="1"/>
              <a:t>MaterialApp</a:t>
            </a:r>
            <a:r>
              <a:rPr lang="en-US" sz="1400" dirty="0"/>
              <a:t>(</a:t>
            </a:r>
            <a:br>
              <a:rPr lang="en-US" sz="1400" dirty="0"/>
            </a:br>
            <a:r>
              <a:rPr lang="en-US" sz="1400" dirty="0" err="1"/>
              <a:t>debugShowCheckedModeBanner</a:t>
            </a:r>
            <a:r>
              <a:rPr lang="en-US" sz="1400" dirty="0"/>
              <a:t>: false,</a:t>
            </a:r>
            <a:br>
              <a:rPr lang="en-US" sz="1400" dirty="0"/>
            </a:br>
            <a:r>
              <a:rPr lang="en-US" sz="1400" dirty="0"/>
              <a:t>home: </a:t>
            </a:r>
            <a:r>
              <a:rPr lang="en-US" sz="1400" dirty="0" err="1"/>
              <a:t>RandomDemo</a:t>
            </a:r>
            <a:r>
              <a:rPr lang="en-US" sz="1400" dirty="0"/>
              <a:t>(),</a:t>
            </a:r>
            <a:br>
              <a:rPr lang="en-US" sz="1400" dirty="0"/>
            </a:br>
            <a:r>
              <a:rPr lang="en-US" sz="1400" dirty="0"/>
              <a:t>); }</a:t>
            </a:r>
            <a:br>
              <a:rPr lang="en-US" sz="1400" dirty="0"/>
            </a:br>
            <a:r>
              <a:rPr lang="en-US" sz="1400" dirty="0"/>
              <a:t>}</a:t>
            </a:r>
            <a:br>
              <a:rPr lang="en-US" dirty="0"/>
            </a:b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320DA12-1A2D-4A61-BCE1-D8E88046F74F}"/>
              </a:ext>
            </a:extLst>
          </p:cNvPr>
          <p:cNvSpPr/>
          <p:nvPr/>
        </p:nvSpPr>
        <p:spPr>
          <a:xfrm>
            <a:off x="6759389" y="804672"/>
            <a:ext cx="5310692" cy="5605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en-US" sz="1400" dirty="0">
                <a:latin typeface="+mj-lt"/>
              </a:rPr>
              <a:t>class </a:t>
            </a:r>
            <a:r>
              <a:rPr lang="en-US" sz="1400" dirty="0" err="1">
                <a:latin typeface="+mj-lt"/>
              </a:rPr>
              <a:t>RandomDemo</a:t>
            </a:r>
            <a:r>
              <a:rPr lang="en-US" sz="1400" dirty="0">
                <a:latin typeface="+mj-lt"/>
              </a:rPr>
              <a:t> extends </a:t>
            </a:r>
            <a:r>
              <a:rPr lang="en-US" sz="1400" dirty="0" err="1">
                <a:latin typeface="+mj-lt"/>
              </a:rPr>
              <a:t>StatefulWidget</a:t>
            </a:r>
            <a:r>
              <a:rPr lang="en-US" sz="1400" dirty="0">
                <a:latin typeface="+mj-lt"/>
              </a:rPr>
              <a:t> {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const </a:t>
            </a:r>
            <a:r>
              <a:rPr lang="en-US" sz="1400" dirty="0" err="1">
                <a:latin typeface="+mj-lt"/>
              </a:rPr>
              <a:t>RandomDemo</a:t>
            </a:r>
            <a:r>
              <a:rPr lang="en-US" sz="1400" dirty="0">
                <a:latin typeface="+mj-lt"/>
              </a:rPr>
              <a:t>({</a:t>
            </a:r>
            <a:r>
              <a:rPr lang="en-US" sz="1400" dirty="0" err="1">
                <a:latin typeface="+mj-lt"/>
              </a:rPr>
              <a:t>super.key</a:t>
            </a:r>
            <a:r>
              <a:rPr lang="en-US" sz="1400" dirty="0">
                <a:latin typeface="+mj-lt"/>
              </a:rPr>
              <a:t>});</a:t>
            </a:r>
            <a:br>
              <a:rPr lang="en-US" sz="1400" dirty="0">
                <a:latin typeface="+mj-lt"/>
              </a:rPr>
            </a:b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@override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State&lt;</a:t>
            </a:r>
            <a:r>
              <a:rPr lang="en-US" sz="1400" dirty="0" err="1">
                <a:latin typeface="+mj-lt"/>
              </a:rPr>
              <a:t>RandomDemo</a:t>
            </a:r>
            <a:r>
              <a:rPr lang="en-US" sz="1400" dirty="0">
                <a:latin typeface="+mj-lt"/>
              </a:rPr>
              <a:t>&gt; </a:t>
            </a:r>
            <a:r>
              <a:rPr lang="en-US" sz="1400" dirty="0" err="1">
                <a:latin typeface="+mj-lt"/>
              </a:rPr>
              <a:t>createState</a:t>
            </a:r>
            <a:r>
              <a:rPr lang="en-US" sz="1400" dirty="0">
                <a:latin typeface="+mj-lt"/>
              </a:rPr>
              <a:t>() =&gt; _</a:t>
            </a:r>
            <a:r>
              <a:rPr lang="en-US" sz="1400" dirty="0" err="1">
                <a:latin typeface="+mj-lt"/>
              </a:rPr>
              <a:t>RandomDemoState</a:t>
            </a:r>
            <a:r>
              <a:rPr lang="en-US" sz="1400" dirty="0">
                <a:latin typeface="+mj-lt"/>
              </a:rPr>
              <a:t>();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}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class _</a:t>
            </a:r>
            <a:r>
              <a:rPr lang="en-US" sz="1400" dirty="0" err="1">
                <a:latin typeface="+mj-lt"/>
              </a:rPr>
              <a:t>RandomDemoState</a:t>
            </a:r>
            <a:r>
              <a:rPr lang="en-US" sz="1400" dirty="0">
                <a:latin typeface="+mj-lt"/>
              </a:rPr>
              <a:t> extends State&lt;</a:t>
            </a:r>
            <a:r>
              <a:rPr lang="en-US" sz="1400" dirty="0" err="1">
                <a:latin typeface="+mj-lt"/>
              </a:rPr>
              <a:t>RandomDemo</a:t>
            </a:r>
            <a:r>
              <a:rPr lang="en-US" sz="1400" dirty="0">
                <a:latin typeface="+mj-lt"/>
              </a:rPr>
              <a:t>&gt; {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// Create Random once (better than creating it every time)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final Random </a:t>
            </a:r>
            <a:r>
              <a:rPr lang="en-US" sz="1400" dirty="0" err="1">
                <a:latin typeface="+mj-lt"/>
              </a:rPr>
              <a:t>rng</a:t>
            </a:r>
            <a:r>
              <a:rPr lang="en-US" sz="1400" dirty="0">
                <a:latin typeface="+mj-lt"/>
              </a:rPr>
              <a:t> = Random();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int number = 1;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Color </a:t>
            </a:r>
            <a:r>
              <a:rPr lang="en-US" sz="1400" dirty="0" err="1">
                <a:latin typeface="+mj-lt"/>
              </a:rPr>
              <a:t>color</a:t>
            </a:r>
            <a:r>
              <a:rPr lang="en-US" sz="1400" dirty="0">
                <a:latin typeface="+mj-lt"/>
              </a:rPr>
              <a:t> = </a:t>
            </a:r>
            <a:r>
              <a:rPr lang="en-US" sz="1400" dirty="0" err="1">
                <a:latin typeface="+mj-lt"/>
              </a:rPr>
              <a:t>Colors.blue</a:t>
            </a:r>
            <a:r>
              <a:rPr lang="en-US" sz="1400" dirty="0">
                <a:latin typeface="+mj-lt"/>
              </a:rPr>
              <a:t>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void </a:t>
            </a:r>
            <a:r>
              <a:rPr lang="en-US" sz="1400" dirty="0" err="1">
                <a:latin typeface="+mj-lt"/>
              </a:rPr>
              <a:t>generateRandom</a:t>
            </a:r>
            <a:r>
              <a:rPr lang="en-US" sz="1400" dirty="0">
                <a:latin typeface="+mj-lt"/>
              </a:rPr>
              <a:t>() {</a:t>
            </a:r>
            <a:br>
              <a:rPr lang="en-US" sz="1400" dirty="0">
                <a:latin typeface="+mj-lt"/>
              </a:rPr>
            </a:br>
            <a:r>
              <a:rPr lang="en-US" sz="1400" dirty="0" err="1">
                <a:latin typeface="+mj-lt"/>
              </a:rPr>
              <a:t>setState</a:t>
            </a:r>
            <a:r>
              <a:rPr lang="en-US" sz="1400" dirty="0">
                <a:latin typeface="+mj-lt"/>
              </a:rPr>
              <a:t>(() {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// </a:t>
            </a:r>
            <a:r>
              <a:rPr lang="en-US" sz="1400" dirty="0" err="1">
                <a:latin typeface="+mj-lt"/>
              </a:rPr>
              <a:t>nextInt</a:t>
            </a:r>
            <a:r>
              <a:rPr lang="en-US" sz="1400" dirty="0">
                <a:latin typeface="+mj-lt"/>
              </a:rPr>
              <a:t>(100) gives 0..99, so +1 makes it 1..100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number = </a:t>
            </a:r>
            <a:r>
              <a:rPr lang="en-US" sz="1400" dirty="0" err="1">
                <a:latin typeface="+mj-lt"/>
              </a:rPr>
              <a:t>rng.nextInt</a:t>
            </a:r>
            <a:r>
              <a:rPr lang="en-US" sz="1400" dirty="0">
                <a:latin typeface="+mj-lt"/>
              </a:rPr>
              <a:t>(100) + 1;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// Random RGB color (0..255)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color = </a:t>
            </a:r>
            <a:r>
              <a:rPr lang="en-US" sz="1400" dirty="0" err="1">
                <a:latin typeface="+mj-lt"/>
              </a:rPr>
              <a:t>Color.fromARGB</a:t>
            </a:r>
            <a:r>
              <a:rPr lang="en-US" sz="1400" dirty="0">
                <a:latin typeface="+mj-lt"/>
              </a:rPr>
              <a:t>(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255,</a:t>
            </a:r>
            <a:br>
              <a:rPr lang="en-US" sz="1400" dirty="0">
                <a:latin typeface="+mj-lt"/>
              </a:rPr>
            </a:br>
            <a:r>
              <a:rPr lang="en-US" sz="1400" dirty="0" err="1">
                <a:latin typeface="+mj-lt"/>
              </a:rPr>
              <a:t>rng.nextInt</a:t>
            </a:r>
            <a:r>
              <a:rPr lang="en-US" sz="1400" dirty="0">
                <a:latin typeface="+mj-lt"/>
              </a:rPr>
              <a:t>(256),</a:t>
            </a:r>
            <a:br>
              <a:rPr lang="en-US" sz="1400" dirty="0">
                <a:latin typeface="+mj-lt"/>
              </a:rPr>
            </a:br>
            <a:r>
              <a:rPr lang="en-US" sz="1400" dirty="0" err="1">
                <a:latin typeface="+mj-lt"/>
              </a:rPr>
              <a:t>rng.nextInt</a:t>
            </a:r>
            <a:r>
              <a:rPr lang="en-US" sz="1400" dirty="0">
                <a:latin typeface="+mj-lt"/>
              </a:rPr>
              <a:t>(256),</a:t>
            </a:r>
            <a:br>
              <a:rPr lang="en-US" sz="1400" dirty="0">
                <a:latin typeface="+mj-lt"/>
              </a:rPr>
            </a:br>
            <a:r>
              <a:rPr lang="en-US" sz="1400" dirty="0" err="1">
                <a:latin typeface="+mj-lt"/>
              </a:rPr>
              <a:t>rng.nextInt</a:t>
            </a:r>
            <a:r>
              <a:rPr lang="en-US" sz="1400" dirty="0">
                <a:latin typeface="+mj-lt"/>
              </a:rPr>
              <a:t>(256),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);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});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18" y="109728"/>
            <a:ext cx="12188952" cy="9784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 shumë paketa!” — si të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humbesh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39496"/>
            <a:ext cx="11155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b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Ideja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kryesore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fiksuar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6518" y="1164784"/>
            <a:ext cx="10975758" cy="5254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031506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Qëllimi tani: vetëm njohje (awareness) që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ekzistojnë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opsione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Kur dikush thotë “state po bëhet rrëmujë”, e kupton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çfarë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nënkupton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Zgjidh sipas: thjeshtësisë, shkallëzimit, komunitetit, </a:t>
            </a:r>
            <a:r>
              <a:rPr lang="en-US" sz="2000" b="1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mirëmbajtjes</a:t>
            </a:r>
            <a:b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8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 Dy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zgjedhje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praktike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---------------------------</a:t>
            </a:r>
          </a:p>
          <a:p>
            <a:pPr>
              <a:lnSpc>
                <a:spcPct val="115000"/>
              </a:lnSpc>
              <a:buSzPct val="100000"/>
            </a:pPr>
            <a:endParaRPr lang="en-US" sz="20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Raw State: ideal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mësim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MVP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thjeshtë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Riverpod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më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popullori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robust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Tani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shohim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konceptin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dhe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API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bazë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secilën</a:t>
            </a:r>
            <a:endParaRPr lang="en-US" sz="2000" dirty="0"/>
          </a:p>
          <a:p>
            <a:pPr>
              <a:lnSpc>
                <a:spcPct val="115000"/>
              </a:lnSpc>
              <a:buSzPct val="100000"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Ushtrim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përdorimin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zgjidhje</a:t>
            </a: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thjeshtë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554736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</a:ln>
        </p:spPr>
        <p:txBody>
          <a:bodyPr/>
          <a:lstStyle/>
          <a:p>
            <a:r>
              <a:rPr lang="en-US" sz="1400" dirty="0"/>
              <a:t>import '</a:t>
            </a:r>
            <a:r>
              <a:rPr lang="en-US" sz="1400" dirty="0" err="1"/>
              <a:t>package:flutter</a:t>
            </a:r>
            <a:r>
              <a:rPr lang="en-US" sz="1400" dirty="0"/>
              <a:t>/</a:t>
            </a:r>
            <a:r>
              <a:rPr lang="en-US" sz="1400" dirty="0" err="1"/>
              <a:t>material.dart</a:t>
            </a:r>
            <a:r>
              <a:rPr lang="en-US" sz="1400" dirty="0"/>
              <a:t>';</a:t>
            </a:r>
            <a:br>
              <a:rPr lang="en-US" sz="1400" dirty="0"/>
            </a:br>
            <a:r>
              <a:rPr lang="en-US" sz="1400" dirty="0"/>
              <a:t>import '</a:t>
            </a:r>
            <a:r>
              <a:rPr lang="en-US" sz="1400" dirty="0" err="1"/>
              <a:t>package:flutter_riverpod</a:t>
            </a:r>
            <a:r>
              <a:rPr lang="en-US" sz="1400" dirty="0"/>
              <a:t>/</a:t>
            </a:r>
            <a:r>
              <a:rPr lang="en-US" sz="1400" dirty="0" err="1"/>
              <a:t>flutter_riverpod.dart</a:t>
            </a:r>
            <a:r>
              <a:rPr lang="en-US" sz="1400" dirty="0"/>
              <a:t>';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/// 1) PROVIDER: holds the state (an integer counter)</a:t>
            </a:r>
            <a:br>
              <a:rPr lang="en-US" sz="1400" dirty="0"/>
            </a:br>
            <a:r>
              <a:rPr lang="en-US" sz="1400" dirty="0"/>
              <a:t>/// </a:t>
            </a:r>
            <a:r>
              <a:rPr lang="en-US" sz="1400" dirty="0" err="1"/>
              <a:t>StateProvider</a:t>
            </a:r>
            <a:r>
              <a:rPr lang="en-US" sz="1400" dirty="0"/>
              <a:t> is the simplest </a:t>
            </a:r>
            <a:r>
              <a:rPr lang="en-US" sz="1400" dirty="0" err="1"/>
              <a:t>Riverpod</a:t>
            </a:r>
            <a:r>
              <a:rPr lang="en-US" sz="1400" dirty="0"/>
              <a:t> provider for mutable state.</a:t>
            </a:r>
            <a:br>
              <a:rPr lang="en-US" sz="1400" dirty="0"/>
            </a:br>
            <a:r>
              <a:rPr lang="en-US" sz="1400" dirty="0"/>
              <a:t>final </a:t>
            </a:r>
            <a:r>
              <a:rPr lang="en-US" sz="1400" dirty="0" err="1"/>
              <a:t>counterProvider</a:t>
            </a:r>
            <a:r>
              <a:rPr lang="en-US" sz="1400" dirty="0"/>
              <a:t> = </a:t>
            </a:r>
            <a:r>
              <a:rPr lang="en-US" sz="1400" dirty="0" err="1"/>
              <a:t>StateProvider</a:t>
            </a:r>
            <a:r>
              <a:rPr lang="en-US" sz="1400" dirty="0"/>
              <a:t>&lt;int&gt;((ref) =&gt; 0);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void main() {</a:t>
            </a:r>
            <a:br>
              <a:rPr lang="en-US" sz="1400" dirty="0"/>
            </a:br>
            <a:r>
              <a:rPr lang="en-US" sz="1400" dirty="0"/>
              <a:t>// 2) </a:t>
            </a:r>
            <a:r>
              <a:rPr lang="en-US" sz="1400" dirty="0" err="1"/>
              <a:t>ProviderScope</a:t>
            </a:r>
            <a:r>
              <a:rPr lang="en-US" sz="1400" dirty="0"/>
              <a:t> is required for </a:t>
            </a:r>
            <a:r>
              <a:rPr lang="en-US" sz="1400" dirty="0" err="1"/>
              <a:t>Riverpod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// It stores all providers and makes them available to the app.</a:t>
            </a:r>
            <a:br>
              <a:rPr lang="en-US" sz="1400" dirty="0"/>
            </a:br>
            <a:r>
              <a:rPr lang="en-US" sz="1400" dirty="0" err="1"/>
              <a:t>runApp</a:t>
            </a:r>
            <a:r>
              <a:rPr lang="en-US" sz="1400" dirty="0"/>
              <a:t>(const </a:t>
            </a:r>
            <a:r>
              <a:rPr lang="en-US" sz="1400" dirty="0" err="1"/>
              <a:t>ProviderScope</a:t>
            </a:r>
            <a:r>
              <a:rPr lang="en-US" sz="1400" dirty="0"/>
              <a:t>(child: </a:t>
            </a:r>
            <a:r>
              <a:rPr lang="en-US" sz="1400" dirty="0" err="1"/>
              <a:t>MyApp</a:t>
            </a:r>
            <a:r>
              <a:rPr lang="en-US" sz="1400" dirty="0"/>
              <a:t>()));</a:t>
            </a:r>
            <a:br>
              <a:rPr lang="en-US" sz="1400" dirty="0"/>
            </a:br>
            <a:r>
              <a:rPr lang="en-US" sz="1400" dirty="0"/>
              <a:t>}</a:t>
            </a:r>
            <a:br>
              <a:rPr lang="en-US" sz="1400" dirty="0"/>
            </a:br>
            <a:r>
              <a:rPr lang="en-US" sz="1400" dirty="0"/>
              <a:t>class </a:t>
            </a:r>
            <a:r>
              <a:rPr lang="en-US" sz="1400" dirty="0" err="1"/>
              <a:t>MyApp</a:t>
            </a:r>
            <a:r>
              <a:rPr lang="en-US" sz="1400" dirty="0"/>
              <a:t> extends </a:t>
            </a:r>
            <a:r>
              <a:rPr lang="en-US" sz="1400" dirty="0" err="1"/>
              <a:t>StatelessWidget</a:t>
            </a:r>
            <a:r>
              <a:rPr lang="en-US" sz="1400" dirty="0"/>
              <a:t> {</a:t>
            </a:r>
            <a:br>
              <a:rPr lang="en-US" sz="1400" dirty="0"/>
            </a:br>
            <a:r>
              <a:rPr lang="en-US" sz="1400" dirty="0"/>
              <a:t>const </a:t>
            </a:r>
            <a:r>
              <a:rPr lang="en-US" sz="1400" dirty="0" err="1"/>
              <a:t>MyApp</a:t>
            </a:r>
            <a:r>
              <a:rPr lang="en-US" sz="1400" dirty="0"/>
              <a:t>({</a:t>
            </a:r>
            <a:r>
              <a:rPr lang="en-US" sz="1400" dirty="0" err="1"/>
              <a:t>super.key</a:t>
            </a:r>
            <a:r>
              <a:rPr lang="en-US" sz="1400" dirty="0"/>
              <a:t>});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@override</a:t>
            </a:r>
            <a:br>
              <a:rPr lang="en-US" sz="1400" dirty="0"/>
            </a:br>
            <a:r>
              <a:rPr lang="en-US" sz="1400" dirty="0"/>
              <a:t>Widget build(</a:t>
            </a:r>
            <a:r>
              <a:rPr lang="en-US" sz="1400" dirty="0" err="1"/>
              <a:t>BuildContext</a:t>
            </a:r>
            <a:r>
              <a:rPr lang="en-US" sz="1400" dirty="0"/>
              <a:t> context) {</a:t>
            </a:r>
            <a:br>
              <a:rPr lang="en-US" sz="1400" dirty="0"/>
            </a:br>
            <a:r>
              <a:rPr lang="en-US" sz="1400" dirty="0"/>
              <a:t>return const </a:t>
            </a:r>
            <a:r>
              <a:rPr lang="en-US" sz="1400" dirty="0" err="1"/>
              <a:t>MaterialApp</a:t>
            </a:r>
            <a:r>
              <a:rPr lang="en-US" sz="1400" dirty="0"/>
              <a:t>(</a:t>
            </a:r>
            <a:br>
              <a:rPr lang="en-US" sz="1400" dirty="0"/>
            </a:br>
            <a:r>
              <a:rPr lang="en-US" sz="1400" dirty="0" err="1"/>
              <a:t>debugShowCheckedModeBanner</a:t>
            </a:r>
            <a:r>
              <a:rPr lang="en-US" sz="1400" dirty="0"/>
              <a:t>: false,</a:t>
            </a:r>
            <a:br>
              <a:rPr lang="en-US" sz="1400" dirty="0"/>
            </a:br>
            <a:r>
              <a:rPr lang="en-US" sz="1400" dirty="0"/>
              <a:t>home: </a:t>
            </a:r>
            <a:r>
              <a:rPr lang="en-US" sz="1400" dirty="0" err="1"/>
              <a:t>CounterPage</a:t>
            </a:r>
            <a:r>
              <a:rPr lang="en-US" sz="1400" dirty="0"/>
              <a:t>(),</a:t>
            </a:r>
            <a:br>
              <a:rPr lang="en-US" sz="1400" dirty="0"/>
            </a:br>
            <a:r>
              <a:rPr lang="en-US" sz="1400" dirty="0"/>
              <a:t>);}</a:t>
            </a:r>
            <a:br>
              <a:rPr lang="en-US" sz="1400" dirty="0"/>
            </a:br>
            <a:r>
              <a:rPr lang="en-US" sz="1400" dirty="0"/>
              <a:t>}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A40D686-6649-4390-B9DE-399A19EB0B83}"/>
              </a:ext>
            </a:extLst>
          </p:cNvPr>
          <p:cNvSpPr/>
          <p:nvPr/>
        </p:nvSpPr>
        <p:spPr>
          <a:xfrm>
            <a:off x="6212541" y="813816"/>
            <a:ext cx="5746377" cy="5596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r>
              <a:rPr lang="en-US" sz="1400" dirty="0"/>
              <a:t>/// 3) </a:t>
            </a:r>
            <a:r>
              <a:rPr lang="en-US" sz="1400" dirty="0" err="1"/>
              <a:t>ConsumerWidget</a:t>
            </a:r>
            <a:r>
              <a:rPr lang="en-US" sz="1400" dirty="0"/>
              <a:t> can read/watch providers.</a:t>
            </a:r>
            <a:br>
              <a:rPr lang="en-US" sz="1400" dirty="0"/>
            </a:br>
            <a:r>
              <a:rPr lang="en-US" sz="1400" dirty="0"/>
              <a:t>class </a:t>
            </a:r>
            <a:r>
              <a:rPr lang="en-US" sz="1400" dirty="0" err="1"/>
              <a:t>CounterPage</a:t>
            </a:r>
            <a:r>
              <a:rPr lang="en-US" sz="1400" dirty="0"/>
              <a:t> extends </a:t>
            </a:r>
            <a:r>
              <a:rPr lang="en-US" sz="1400" dirty="0" err="1"/>
              <a:t>ConsumerWidget</a:t>
            </a:r>
            <a:r>
              <a:rPr lang="en-US" sz="1400" dirty="0"/>
              <a:t> {</a:t>
            </a:r>
            <a:br>
              <a:rPr lang="en-US" sz="1400" dirty="0"/>
            </a:br>
            <a:r>
              <a:rPr lang="en-US" sz="1400" dirty="0"/>
              <a:t>const </a:t>
            </a:r>
            <a:r>
              <a:rPr lang="en-US" sz="1400" dirty="0" err="1"/>
              <a:t>CounterPage</a:t>
            </a:r>
            <a:r>
              <a:rPr lang="en-US" sz="1400" dirty="0"/>
              <a:t>({</a:t>
            </a:r>
            <a:r>
              <a:rPr lang="en-US" sz="1400" dirty="0" err="1"/>
              <a:t>super.key</a:t>
            </a:r>
            <a:r>
              <a:rPr lang="en-US" sz="1400" dirty="0"/>
              <a:t>});</a:t>
            </a:r>
            <a:br>
              <a:rPr lang="en-US" sz="1400" dirty="0"/>
            </a:br>
            <a:r>
              <a:rPr lang="en-US" sz="1400" dirty="0"/>
              <a:t>@override</a:t>
            </a:r>
            <a:br>
              <a:rPr lang="en-US" sz="1400" dirty="0"/>
            </a:br>
            <a:r>
              <a:rPr lang="en-US" sz="1400" dirty="0"/>
              <a:t>Widget build(</a:t>
            </a:r>
            <a:r>
              <a:rPr lang="en-US" sz="1400" dirty="0" err="1"/>
              <a:t>BuildContext</a:t>
            </a:r>
            <a:r>
              <a:rPr lang="en-US" sz="1400" dirty="0"/>
              <a:t> context, </a:t>
            </a:r>
            <a:r>
              <a:rPr lang="en-US" sz="1400" dirty="0" err="1"/>
              <a:t>WidgetRef</a:t>
            </a:r>
            <a:r>
              <a:rPr lang="en-US" sz="1400" dirty="0"/>
              <a:t> ref) {</a:t>
            </a:r>
            <a:br>
              <a:rPr lang="en-US" sz="1400" dirty="0"/>
            </a:br>
            <a:r>
              <a:rPr lang="en-US" sz="1400" dirty="0"/>
              <a:t>// watch() listens to changes -&gt; UI rebuilds when value changes</a:t>
            </a:r>
            <a:br>
              <a:rPr lang="en-US" sz="1400" dirty="0"/>
            </a:br>
            <a:r>
              <a:rPr lang="en-US" sz="1400" dirty="0"/>
              <a:t>final counter = </a:t>
            </a:r>
            <a:r>
              <a:rPr lang="en-US" sz="1400" dirty="0" err="1"/>
              <a:t>ref.watch</a:t>
            </a:r>
            <a:r>
              <a:rPr lang="en-US" sz="1400" dirty="0"/>
              <a:t>(</a:t>
            </a:r>
            <a:r>
              <a:rPr lang="en-US" sz="1400" dirty="0" err="1"/>
              <a:t>counterProvider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return Scaffold(</a:t>
            </a:r>
            <a:br>
              <a:rPr lang="en-US" sz="1400" dirty="0"/>
            </a:br>
            <a:r>
              <a:rPr lang="en-US" sz="1400" dirty="0" err="1"/>
              <a:t>appBar</a:t>
            </a:r>
            <a:r>
              <a:rPr lang="en-US" sz="1400" dirty="0"/>
              <a:t>: </a:t>
            </a:r>
            <a:r>
              <a:rPr lang="en-US" sz="1400" dirty="0" err="1"/>
              <a:t>AppBar</a:t>
            </a:r>
            <a:r>
              <a:rPr lang="en-US" sz="1400" dirty="0"/>
              <a:t>(title: const Text('</a:t>
            </a:r>
            <a:r>
              <a:rPr lang="en-US" sz="1400" dirty="0" err="1"/>
              <a:t>Riverpod</a:t>
            </a:r>
            <a:r>
              <a:rPr lang="en-US" sz="1400" dirty="0"/>
              <a:t> Easy Counter')),</a:t>
            </a:r>
            <a:br>
              <a:rPr lang="en-US" sz="1400" dirty="0"/>
            </a:br>
            <a:r>
              <a:rPr lang="en-US" sz="1400" dirty="0"/>
              <a:t>body: Center(</a:t>
            </a:r>
            <a:br>
              <a:rPr lang="en-US" sz="1400" dirty="0"/>
            </a:br>
            <a:r>
              <a:rPr lang="en-US" sz="1400" dirty="0"/>
              <a:t>child: Text(</a:t>
            </a:r>
            <a:br>
              <a:rPr lang="en-US" sz="1400" dirty="0"/>
            </a:br>
            <a:r>
              <a:rPr lang="en-US" sz="1400" dirty="0"/>
              <a:t>'Counter = $counter',</a:t>
            </a:r>
            <a:br>
              <a:rPr lang="en-US" sz="1400" dirty="0"/>
            </a:br>
            <a:r>
              <a:rPr lang="en-US" sz="1400" dirty="0"/>
              <a:t>style: const </a:t>
            </a:r>
            <a:r>
              <a:rPr lang="en-US" sz="1400" dirty="0" err="1"/>
              <a:t>TextStyle</a:t>
            </a:r>
            <a:r>
              <a:rPr lang="en-US" sz="1400" dirty="0"/>
              <a:t>(</a:t>
            </a:r>
            <a:r>
              <a:rPr lang="en-US" sz="1400" dirty="0" err="1"/>
              <a:t>fontSize</a:t>
            </a:r>
            <a:r>
              <a:rPr lang="en-US" sz="1400" dirty="0"/>
              <a:t>: 32, </a:t>
            </a:r>
            <a:r>
              <a:rPr lang="en-US" sz="1400" dirty="0" err="1"/>
              <a:t>fontWeight</a:t>
            </a:r>
            <a:r>
              <a:rPr lang="en-US" sz="1400" dirty="0"/>
              <a:t>: </a:t>
            </a:r>
            <a:r>
              <a:rPr lang="en-US" sz="1400" dirty="0" err="1"/>
              <a:t>FontWeight.bold</a:t>
            </a:r>
            <a:r>
              <a:rPr lang="en-US" sz="1400" dirty="0"/>
              <a:t>),</a:t>
            </a:r>
            <a:br>
              <a:rPr lang="en-US" sz="1400" dirty="0"/>
            </a:br>
            <a:r>
              <a:rPr lang="en-US" sz="1400" dirty="0"/>
              <a:t>),),</a:t>
            </a:r>
            <a:br>
              <a:rPr lang="en-US" sz="1400" dirty="0"/>
            </a:br>
            <a:r>
              <a:rPr lang="en-US" sz="1400" dirty="0" err="1"/>
              <a:t>floatingActionButton</a:t>
            </a:r>
            <a:r>
              <a:rPr lang="en-US" sz="1400" dirty="0"/>
              <a:t>: Row(</a:t>
            </a:r>
            <a:br>
              <a:rPr lang="en-US" sz="1400" dirty="0"/>
            </a:br>
            <a:r>
              <a:rPr lang="en-US" sz="1400" dirty="0" err="1"/>
              <a:t>mainAxisSize</a:t>
            </a:r>
            <a:r>
              <a:rPr lang="en-US" sz="1400" dirty="0"/>
              <a:t>: </a:t>
            </a:r>
            <a:r>
              <a:rPr lang="en-US" sz="1400" dirty="0" err="1"/>
              <a:t>MainAxisSize.min</a:t>
            </a:r>
            <a:r>
              <a:rPr lang="en-US" sz="1400" dirty="0"/>
              <a:t>,</a:t>
            </a:r>
            <a:br>
              <a:rPr lang="en-US" sz="1400" dirty="0"/>
            </a:br>
            <a:r>
              <a:rPr lang="en-US" sz="1400" dirty="0"/>
              <a:t>children: [</a:t>
            </a:r>
            <a:br>
              <a:rPr lang="en-US" sz="1400" dirty="0"/>
            </a:br>
            <a:r>
              <a:rPr lang="en-US" sz="1400" dirty="0" err="1"/>
              <a:t>FloatingActionButton</a:t>
            </a:r>
            <a:r>
              <a:rPr lang="en-US" sz="1400" dirty="0"/>
              <a:t>(</a:t>
            </a:r>
            <a:br>
              <a:rPr lang="en-US" sz="1400" dirty="0"/>
            </a:br>
            <a:r>
              <a:rPr lang="en-US" sz="1400" dirty="0" err="1"/>
              <a:t>heroTag</a:t>
            </a:r>
            <a:r>
              <a:rPr lang="en-US" sz="1400" dirty="0"/>
              <a:t>: '</a:t>
            </a:r>
            <a:r>
              <a:rPr lang="en-US" sz="1400" dirty="0" err="1"/>
              <a:t>dec</a:t>
            </a:r>
            <a:r>
              <a:rPr lang="en-US" sz="1400" dirty="0"/>
              <a:t>',</a:t>
            </a:r>
            <a:br>
              <a:rPr lang="en-US" sz="1400" dirty="0"/>
            </a:br>
            <a:r>
              <a:rPr lang="en-US" sz="1400" dirty="0" err="1"/>
              <a:t>onPressed</a:t>
            </a:r>
            <a:r>
              <a:rPr lang="en-US" sz="1400" dirty="0"/>
              <a:t>: () {</a:t>
            </a:r>
            <a:br>
              <a:rPr lang="en-US" sz="1400" dirty="0"/>
            </a:br>
            <a:r>
              <a:rPr lang="en-US" sz="1400" dirty="0"/>
              <a:t>// read() does NOT rebuild UI by itself, it just accesses the provider.</a:t>
            </a:r>
            <a:br>
              <a:rPr lang="en-US" sz="1400" dirty="0"/>
            </a:br>
            <a:r>
              <a:rPr lang="en-US" sz="1400" dirty="0"/>
              <a:t>// .state is the current value.</a:t>
            </a:r>
            <a:br>
              <a:rPr lang="en-US" sz="1400" dirty="0"/>
            </a:br>
            <a:r>
              <a:rPr lang="en-US" sz="1400" dirty="0" err="1"/>
              <a:t>ref.read</a:t>
            </a:r>
            <a:r>
              <a:rPr lang="en-US" sz="1400" dirty="0"/>
              <a:t>(</a:t>
            </a:r>
            <a:r>
              <a:rPr lang="en-US" sz="1400" dirty="0" err="1"/>
              <a:t>counterProvider.notifier</a:t>
            </a:r>
            <a:r>
              <a:rPr lang="en-US" sz="1400" dirty="0"/>
              <a:t>).state--;</a:t>
            </a:r>
            <a:br>
              <a:rPr lang="en-US" sz="1400" dirty="0"/>
            </a:br>
            <a:r>
              <a:rPr lang="en-US" sz="1400" dirty="0"/>
              <a:t>},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88952" cy="822959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State — koncepti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 “rawState”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01270"/>
            <a:ext cx="10332720" cy="131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Pas instalimit dhe importimit, krijohet automatikisht variabla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globale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rawState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Mund të ruash çfarëdo tipi: String, int, bool, List, Map, objekte,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etj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Përdor keys (string) për të ruajtur dhe lexuar vlerat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747682"/>
            <a:ext cx="10332720" cy="2196353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76282"/>
            <a:ext cx="8853544" cy="16674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import 'package:raw_state/raw_state.dart';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rawState.set('aString', 'raw_state is simple');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rawState.set('aDate', DateTime.now());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rawState.set('aMap', {'foo':'bar','baz':100});</a:t>
            </a:r>
            <a:endParaRPr lang="en-US" sz="20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State — lexim me get()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Tipizimi (generics) rrit sigurinë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Leximi bëhet me rawState.get(key)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Generics janë opsionale, por praktikë e mirë (type-safety)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Kujdes: raw_state është shumë i thjeshtë dhe nuk ka “auto-updating” si libraritë e tjera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537012"/>
            <a:ext cx="10332720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5271"/>
            <a:ext cx="9741049" cy="1343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ea typeface="Consolas" pitchFamily="34" charset="-122"/>
                <a:cs typeface="Consolas" pitchFamily="34" charset="-120"/>
              </a:rPr>
              <a:t>String s = rawState.get('aString');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ea typeface="Consolas" pitchFamily="34" charset="-122"/>
                <a:cs typeface="Consolas" pitchFamily="34" charset="-120"/>
              </a:rPr>
              <a:t>DateTime d = rawState.get&lt;DateTime&gt;('aDate');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ea typeface="Consolas" pitchFamily="34" charset="-122"/>
                <a:cs typeface="Consolas" pitchFamily="34" charset="-120"/>
              </a:rPr>
              <a:t>Map&lt;String,dynamic&gt; m = rawState.get&lt;Map&lt;String,dynamic&gt;&gt;('aMap');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State vs State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Lifting/Passing vs Global State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Kapitulli 7: state kalon përmes widget tree (parametra + callbacks)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State: state ruhet globalisht dhe aksesohet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kudo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Avantazh: thjeshtësi • Mangësi: më pak kontrolle/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Përdore për mësim, prototip ose MVP shumë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vogël</a:t>
            </a:r>
            <a:endParaRPr lang="en-US" sz="20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“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ofron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vlerë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ruajtur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këdo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kërkon</a:t>
            </a:r>
            <a:endParaRPr lang="en-US" sz="20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Shkruaj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provider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widget →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widget </a:t>
            </a:r>
            <a:r>
              <a:rPr lang="en-US" sz="20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tjetër</a:t>
            </a:r>
            <a:endParaRPr lang="en-US" sz="20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ndryshon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provider,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njofton</a:t>
            </a: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listeners </a:t>
            </a:r>
            <a:r>
              <a:rPr lang="en-US" sz="20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automatikisht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0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— 6 hapat bazë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Përgatitje + përdorim në widget-e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Përgatitje (one-time):</a:t>
            </a:r>
            <a:b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</a:b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1) Instalo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flutter_riverpod</a:t>
            </a: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2) Mbështill app-in me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ProviderScope</a:t>
            </a: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3)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Shkruaj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provider-at</a:t>
            </a:r>
            <a:b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</a:b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Në widget-e (sa herë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duhet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):</a:t>
            </a:r>
            <a:b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</a:b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4) Përdor ConsumerStatefulWidget/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ConsumerWidget</a:t>
            </a: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5) Lexo me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ref.watch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()</a:t>
            </a: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6) Shkruaj me ref.read()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1–2: Install + ProviderScope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Konfigurimi minimal i projektit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Shto në pubspec.yaml ose përdor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komandën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: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flutter pub add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flutter_riverpod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Në main.dart, mbështill aplikacionin me ProviderScope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28116" y="2583180"/>
            <a:ext cx="10332720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23882"/>
            <a:ext cx="9966960" cy="1245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  runApp(const ProviderScope(child: MyApp()));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3: Krijo një StateProvider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Shembull: ngjyra e preferuar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Për çdo “gjë” që do të ndash, krijo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një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provider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StateProvider mban një vlerë që mund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ndryshohet</a:t>
            </a:r>
            <a:endParaRPr lang="en-US" sz="2000" dirty="0">
              <a:latin typeface="+mj-lt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+mj-lt"/>
                <a:ea typeface="Calibri" pitchFamily="34" charset="-122"/>
                <a:cs typeface="Calibri" pitchFamily="34" charset="-120"/>
              </a:rPr>
              <a:t>Shembull: favColorProvider me default Colors.red</a:t>
            </a:r>
            <a:endParaRPr lang="en-US" sz="20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3718" y="2560320"/>
            <a:ext cx="10332720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2823882"/>
            <a:ext cx="9606579" cy="1245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ea typeface="Consolas" pitchFamily="34" charset="-122"/>
                <a:cs typeface="Consolas" pitchFamily="34" charset="-120"/>
              </a:rPr>
              <a:t>final favColorProvider =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ea typeface="Consolas" pitchFamily="34" charset="-122"/>
                <a:cs typeface="Consolas" pitchFamily="34" charset="-120"/>
              </a:rPr>
              <a:t>  StateProvider&lt;Color&gt;((_) =&gt; Colors.red);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34783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4–5: ConsumerStatefulWidget + ref.watch()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Leximi reaktiv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Në vend të StatefulWidget,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përdor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ConsumerStatefulWidget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Kjo të jep akses në objektin ref (e njeh provider-at)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ref.watch(provider) → subscribe dhe rindërton UI kur ndryshon vlera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1999" y="2632305"/>
            <a:ext cx="10399059" cy="2872024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5271"/>
            <a:ext cx="9966960" cy="19187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class FavColor extends ConsumerStatefulWidget {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  const FavColor({super.key});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  @override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  ConsumerState&lt;FavColor&gt; createState() =&gt; _FavColorState();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// Lexim: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+mj-lt"/>
                <a:ea typeface="Consolas" pitchFamily="34" charset="-122"/>
                <a:cs typeface="Consolas" pitchFamily="34" charset="-120"/>
              </a:rPr>
              <a:t>final c = ref.watch(favColorProvider);</a:t>
            </a:r>
            <a:endParaRPr lang="en-US" sz="20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6: Shkrimi me ref.read()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Ndrysho provider-in dhe njofto listeners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 të ndryshuar vlerën, përdor ref.read()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mbi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notifier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Kur ndryshon state, Riverpod njofton automatikisht ata që po watch()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Rezultat: UI update pa “prop drilling” dhe pa callback chains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789817"/>
            <a:ext cx="10332720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99012"/>
            <a:ext cx="9427285" cy="84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ref.read(favColorProvider.notifier).state = newColor;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 + Ushtrime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të praktikoni pas leksionit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09167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51560"/>
            <a:ext cx="10332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800" dirty="0"/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Kap 7: setState + passing/lifting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është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baza</a:t>
            </a:r>
            <a:endParaRPr lang="en-US" sz="2000" dirty="0"/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• Kap 8: libraritë zgjidhin kompleksitetin kur app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rritet</a:t>
            </a:r>
            <a:endParaRPr lang="en-US" sz="2000" dirty="0"/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• Raw State: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Librari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më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e thjeshtë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përdorimet</a:t>
            </a: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komplekse</a:t>
            </a:r>
            <a:endParaRPr lang="en-US" sz="2000" dirty="0"/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• Riverpod: zgjidhje moderne, robust, e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popullarizuar</a:t>
            </a:r>
            <a:b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</a:br>
            <a:endParaRPr lang="en-US" sz="2000" dirty="0"/>
          </a:p>
          <a:p>
            <a:pPr>
              <a:lnSpc>
                <a:spcPct val="115000"/>
              </a:lnSpc>
              <a:buSzPct val="100000"/>
            </a:pP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Ushtrime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për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të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 marten </a:t>
            </a:r>
            <a:r>
              <a:rPr lang="en-US" sz="2000" b="1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tjetër</a:t>
            </a:r>
            <a: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:</a:t>
            </a:r>
            <a:br>
              <a:rPr lang="en-US" sz="20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</a:b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1) Krijo një “ThemeProvider” (dark/light) me </a:t>
            </a:r>
            <a:r>
              <a:rPr lang="en-US" sz="2000" dirty="0" err="1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Riverpod</a:t>
            </a: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2) Krijo një counter global (shared) midis 2 screens</a:t>
            </a:r>
            <a:endParaRPr lang="en-US" sz="2000" dirty="0"/>
          </a:p>
          <a:p>
            <a:pPr marL="434340" indent="-43434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3) Krahaso me implementim manual (Kap 7) dhe shkruaj avantazhet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6019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Flutter App Development (Rap Payne) • Kapitulli 8 — Libraritë e Menaxhimit të Gjendjes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6019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2980</Words>
  <Application>Microsoft Office PowerPoint</Application>
  <PresentationFormat>Widescreen</PresentationFormat>
  <Paragraphs>241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CTS</cp:lastModifiedBy>
  <cp:revision>27</cp:revision>
  <dcterms:created xsi:type="dcterms:W3CDTF">2026-03-16T12:59:20Z</dcterms:created>
  <dcterms:modified xsi:type="dcterms:W3CDTF">2026-03-16T22:24:41Z</dcterms:modified>
</cp:coreProperties>
</file>