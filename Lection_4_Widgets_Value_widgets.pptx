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*Flutter App Development*, Chapters 3–4 (pp. 27–66), user-provided PDF.
- Flutter logo (image): https://commons.wikimedia.org/wiki/File:Flutter_logo.svg (PNG derivative hosted on upload.wikimedia.org).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*Flutter App Development*, Chapters 3–4 (pp. 27–66), user-provided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*Flutter App Development*, Chapter 3 (pp. 27–40), user-provided PDF.
- Flutter logo (image): https://commons.wikimedia.org/wiki/File:Flutter_logo.svg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*Flutter App Development*, Chapter 3 (UI as code; composition), user-provided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*Flutter App Development*, Chapter 3 (main/runApp/build; StatelessWidget pattern), user-provided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*Flutter App Development*, Chapter 3 (widget trees; MaterialApp/Scaffold examples), user-provided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*Flutter App Development*, Chapter 3 (teaching-oriented widget groupings), user-provided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*Flutter App Development*, Chapter 3 (custom StatelessWidget examples), user-provided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*Flutter App Development*, Chapter 3 (keys; widget identity during rebuilds), user-provided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*Flutter App Development*, Chapter 3 (why/when to use keys), user-provided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*Flutter App Development*, Chapter 3 (passing values via constructors), user-provided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*Flutter App Development*, Chapter 3 (“Scene = f(Data)” framing), user-provided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*Flutter App Development*, Chapter 3 (stateless vs stateful explanation + examples), user-provided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*Flutter App Development*, Chapter 4 (pp. 41–66), user-provided PDF.
- Flutter logo (image): https://commons.wikimedia.org/wiki/File:Flutter_logo.svg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*Flutter App Development*, Chapter 4 (Text &amp; Icon widgets), user-provided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*Flutter App Development*, Chapter 4 (Image.asset vs Image.network; BoxFit overview), user-provided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*Flutter App Development*, Chapter 4 (SnackBar usage via ScaffoldMessenger; action + duration notes), user-provided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*Flutter App Development*, Chapter 4 (TextField, Checkbox/Switch, Radio, Slider, Dropdown patterns; statefulness), user-provided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*Flutter App Development*, Chapter 4 (Form/FormField, TextFormField, DropdownButtonFormField; validate/save patterns), user-provided PDF.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Rap Payne, *Flutter App Development*, Chapters 3–4 (pp. 27–66), user-provided PDF.
- Flutter logo (image): https://commons.wikimedia.org/wiki/File:Flutter_logo.svg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lutt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164592"/>
            <a:ext cx="685800" cy="685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 Development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548640" y="18745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3 &amp; 4 — Recap (Widgets + Value Widgets)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48640" y="24231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Rap Payne — Flutter App Development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Ch.3–4 recap • Slides 1/20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109441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3: Everything is Widgets (how Flutter builds UI)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trees, composition, and custom widgets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and how Flutter reconciles UI updates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passing values and “Scene = f(Data)”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vs Stateful widgets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4: Value Widgets (display + input)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Icon / Image, SnackBar, and form inputs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Forms: validation + save patterns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Ch.3–4 recap • Slides 2/20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0553B1"/>
          </a:solidFill>
          <a:ln w="12700">
            <a:solidFill>
              <a:srgbClr val="0553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774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389120" y="2651760"/>
            <a:ext cx="72539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Widgets</a:t>
            </a:r>
            <a:endParaRPr lang="en-US" sz="2200" dirty="0"/>
          </a:p>
        </p:txBody>
      </p:sp>
      <p:pic>
        <p:nvPicPr>
          <p:cNvPr id="6" name="Image 0" descr="/mnt/data/flutt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Flutter mindset: “Everything is a widget”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011680" cy="365760"/>
          </a:xfrm>
          <a:prstGeom prst="roundRect">
            <a:avLst/>
          </a:prstGeom>
          <a:solidFill>
            <a:srgbClr val="027DFD"/>
          </a:solidFill>
          <a:ln w="12700">
            <a:solidFill>
              <a:srgbClr val="027D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149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31860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764792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678528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is built by composing widgets into a tree.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widgets combine into larger widgets, then into full screens.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app’s “presentation” is expressed as Dart code (UI as code).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24448" y="1508760"/>
            <a:ext cx="5318608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44488" y="1764792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44488" y="2286000"/>
            <a:ext cx="4678528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encourages reuse and consistency.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UI makes updates predictable.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work at the level of components, not pixels.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• Slides 4/20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entry point: main() → runApp() → build()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53949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325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flow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47548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is the Dart entry point.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runApp(rootWidget) attaches your widget tree to the screen.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override build(context) to describe UI.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build() returns ONE widget (often the root of a large subtree).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09360" y="1143000"/>
            <a:ext cx="5333695" cy="50749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325880"/>
            <a:ext cx="4876495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main()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runApp(const MyApp());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MyApp extends StatelessWidget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MyApp({super.key});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build(BuildContext context)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MaterialApp(home: ...);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• Slides 5/20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trees: composition in practice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1094415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2588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tree (simplified)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" y="1920240"/>
            <a:ext cx="4389120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27D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0299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MaterialApp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783080" y="2743200"/>
            <a:ext cx="438912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28529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54480" y="2583180"/>
            <a:ext cx="228600" cy="1600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2423160" y="3566160"/>
            <a:ext cx="438912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36758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AppBar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194560" y="3406140"/>
            <a:ext cx="228600" cy="1600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2423160" y="4389120"/>
            <a:ext cx="438912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44988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Container → ...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194560" y="4229100"/>
            <a:ext cx="228600" cy="1600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2423160" y="5212080"/>
            <a:ext cx="438912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53218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FloatingActionButton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194560" y="5052060"/>
            <a:ext cx="228600" cy="1600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6949440" y="1920240"/>
            <a:ext cx="4419295" cy="3108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2103120"/>
            <a:ext cx="40992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0" y="2514600"/>
            <a:ext cx="409925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build() can describe an entire screen.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widgets represent structure and layout.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extract any subtree into a custom widget.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• Slides 6/20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way to group Flutter widgets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011680" cy="365760"/>
          </a:xfrm>
          <a:prstGeom prst="roundRect">
            <a:avLst/>
          </a:prstGeom>
          <a:solidFill>
            <a:srgbClr val="1CDAC5"/>
          </a:solidFill>
          <a:ln w="12700">
            <a:solidFill>
              <a:srgbClr val="1CDA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064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official taxonomy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272888" cy="1965960"/>
          </a:xfrm>
          <a:prstGeom prst="rect">
            <a:avLst/>
          </a:prstGeom>
          <a:solidFill>
            <a:srgbClr val="ECFEFF"/>
          </a:solidFill>
          <a:ln w="12700">
            <a:solidFill>
              <a:srgbClr val="A5F3FC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widgets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values (Text, Icon, Image)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values (TextField, Slider, etc.)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70168" y="1554480"/>
            <a:ext cx="5272888" cy="19659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widgets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children (Row, Column)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Position/size constraints (Container, Padding)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5272888" cy="196596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widgets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between screens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Routes, stacks, and transitions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70168" y="3977640"/>
            <a:ext cx="5272888" cy="19659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widgets
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+ utilities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GestureDetector, FutureBuilder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• Slides 7/20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widgets: extract, reuse, simplify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318608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90472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reasons to extract a widget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467852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same UI chunk in multiple places.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build() complexity (readability).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 styling or layout rules.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clearer “API” via constructor parameters.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24448" y="1234440"/>
            <a:ext cx="5318608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44488" y="1490472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pattern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44488" y="2011680"/>
            <a:ext cx="467852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class that extends StatelessWidget or StatefulWidget.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inputs via constructor params.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widget subtree from build(context).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widgets small and composable.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• Slides 8/20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Keys: why they exist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5669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3258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optimizes UI updates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uses internal trees to map widgets to screen rendering.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rebuild, Flutter tries to match “new widgets” to “old widgets”.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help Flutter keep identity stable when order/structure changes.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92240" y="1143000"/>
            <a:ext cx="5150815" cy="5074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32588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across rebuilds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66560" y="1874520"/>
            <a:ext cx="4647895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0" y="1993392"/>
            <a:ext cx="3184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item 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271455" y="1947672"/>
            <a:ext cx="960120" cy="31089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71455" y="198424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5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2532888"/>
            <a:ext cx="4647895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2651760"/>
            <a:ext cx="3184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item B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271455" y="2606040"/>
            <a:ext cx="960120" cy="31089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71455" y="2642616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5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3191256"/>
            <a:ext cx="4647895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3310128"/>
            <a:ext cx="3184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item C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271455" y="3264408"/>
            <a:ext cx="960120" cy="310896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71455" y="3300984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5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3657600"/>
            <a:ext cx="4647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items reorder, keys preserve which item is which.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• Slides 9/20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Keys: when to reach for them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18608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44752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symptoms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467852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“jumps” to the wrong widget after reorder.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lists behave strangely.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position resets unexpectedly.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update visually in the wrong place.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24448" y="1188720"/>
            <a:ext cx="5318608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44488" y="1444752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guidance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44488" y="1965960"/>
            <a:ext cx="467852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keys for list items whose order can change.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stable IDs (e.g., database id) over index-based keys.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sprinkle keys everywhere—use them when identity matters.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 doubt: add keys while debugging, then validate behavior.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• Slides 10/20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values into widgets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55778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final fields on the widget.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them in the constructor.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them inside build() to render UI.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widgets predictable: UI reflects inputs.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63640" y="1143000"/>
            <a:ext cx="5379415" cy="50749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325880"/>
            <a:ext cx="4922215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PersonCard extends StatelessWidget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String name;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int age;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PersonCard({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super.key,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required this.name,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required this.age,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build(BuildContext context)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Text('$name • $age');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• Slides 11/20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UI: Scene = f(Data)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94415" cy="1143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727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5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 =  f(Data)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318608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953512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4678528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output depends on the current data.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changes, you rebuild the widget tree.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updates only what needs to change.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24448" y="2697480"/>
            <a:ext cx="5318608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44488" y="2953512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common data-change paths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44488" y="3474720"/>
            <a:ext cx="4678528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External: new inputs passed into the widget.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Internal: a widget maintains state that changes over time.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stateful widgets exist.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• Slides 12/20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vs Stateful widgets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68580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17320"/>
            <a:ext cx="509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StatelessWidget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33008" y="1417320"/>
            <a:ext cx="509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StatefulWidget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5848" y="1920240"/>
            <a:ext cx="0" cy="6858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84832"/>
            <a:ext cx="499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mutable state owned by the widget.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33008" y="2084832"/>
            <a:ext cx="499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mutable state that can change over time.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11094415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5848" y="2606040"/>
            <a:ext cx="0" cy="6858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770632"/>
            <a:ext cx="499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Rebuilds when parent provides new inputs.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33008" y="2770632"/>
            <a:ext cx="499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Rebuilds when setState() is called (or state changes via framework).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1109441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5848" y="3291840"/>
            <a:ext cx="0" cy="6858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456432"/>
            <a:ext cx="499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pure UI composition + display.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33008" y="3456432"/>
            <a:ext cx="499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for forms, animations, async results, toggles, etc.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11094415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5848" y="3977640"/>
            <a:ext cx="0" cy="68580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142232"/>
            <a:ext cx="499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read-only “PersonCard”.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33008" y="4142232"/>
            <a:ext cx="499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editable person form.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94415" cy="7315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623560"/>
            <a:ext cx="104543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start with StatelessWidget; switch to StatefulWidget when the widget must own changing data.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• Slides 13/20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CDAC5"/>
          </a:solidFill>
          <a:ln w="12700">
            <a:solidFill>
              <a:srgbClr val="1CDA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774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389120" y="2651760"/>
            <a:ext cx="72539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Widgets</a:t>
            </a:r>
            <a:endParaRPr lang="en-US" sz="2200" dirty="0"/>
          </a:p>
        </p:txBody>
      </p:sp>
      <p:pic>
        <p:nvPicPr>
          <p:cNvPr id="6" name="Image 0" descr="/mnt/data/flutt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value widgets: Text • Icon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318608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44752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467852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strings; wraps automatically as needed.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style for color/size/weight.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const for literal text when possible.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RichText/TextSpan for multiple styles in one block.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24448" y="1188720"/>
            <a:ext cx="5318608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44488" y="1444752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44488" y="1965960"/>
            <a:ext cx="467852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Icon(Icons.someIcon).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 class provides the built-in Material icon set.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props: color, size.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• Slides 15/20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widget: asset vs network + BoxFit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318608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90472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Image.asset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4678528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with the app (fast at runtime).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install size.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declaring assets in pubspec.yaml.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24448" y="1234440"/>
            <a:ext cx="5318608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44488" y="1490472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Image.network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44488" y="2011680"/>
            <a:ext cx="4678528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over HTTP (flexible/dynamic).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and depends on connectivity.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when images change without app updates.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5349240"/>
            <a:ext cx="11094415" cy="6400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486400"/>
            <a:ext cx="104543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BoxFit controls how an image scales/crops within its box (e.g., contain, cover, fitWidth, fitHeight).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• Slides 16/20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SnackBar: lightweight feedback + actions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5669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325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know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message shown near the bottom of the screen.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include an action button (e.g., UNDO).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via ScaffoldMessenger under a Scaffold.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override duration; it’s asynchronous.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55080" y="1143000"/>
            <a:ext cx="5287975" cy="50749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325880"/>
            <a:ext cx="4830775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snackBar = SnackBar(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content: Text('Saved'),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action: SnackBarAction(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label: 'UNDO',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onPressed: () { /* ... */ 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ScaffoldMessenger.of(context)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.showSnackBar(snackBar);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• Slides 17/20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widgets: capturing user values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2011680" cy="365760"/>
          </a:xfrm>
          <a:prstGeom prst="roundRect">
            <a:avLst/>
          </a:prstGeom>
          <a:solidFill>
            <a:srgbClr val="0553B1"/>
          </a:solidFill>
          <a:ln w="12700">
            <a:solidFill>
              <a:srgbClr val="0553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338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Stateful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94415" cy="3977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783080"/>
            <a:ext cx="256032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92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5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TextField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1874520"/>
            <a:ext cx="75282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input; onChanged fires per keystroke; InputDecoration for UX.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2496312"/>
            <a:ext cx="256032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5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 / Switch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2587752"/>
            <a:ext cx="75282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value; value + onChanged callback.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3209544"/>
            <a:ext cx="256032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3192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5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3300984"/>
            <a:ext cx="75282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One-of-many selection via shared groupValue.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" y="3922776"/>
            <a:ext cx="256032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03250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5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11880" y="4014216"/>
            <a:ext cx="75282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selection within [min, max]; optional divisions/label.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8680" y="4636008"/>
            <a:ext cx="2560320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74573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5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DropdownButton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11880" y="4727448"/>
            <a:ext cx="75282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option from a short list (often enum-backed).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532120"/>
            <a:ext cx="11094415" cy="6858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678424"/>
            <a:ext cx="104543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widgets often need manual state handling; grouping them in a Form makes save/validate workflows manageable.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• Slides 18/20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Forms: validation + save workflows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5669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325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building blocks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groups fields + coordinates validation and saving.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FormField wraps inputs to add validator and onSaved.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TextFormField / DropdownButtonFormField are convenience combos.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GlobalKey&lt;FormState&gt; to call validate() and save().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55080" y="1143000"/>
            <a:ext cx="5287975" cy="26517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325880"/>
            <a:ext cx="483077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_formKey = GlobalKey&lt;FormState&gt;();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_submit()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(_formKey.currentState!.validate())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_formKey.currentState!.save();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use saved values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validator returns null when valid, or an error string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3977640"/>
            <a:ext cx="5287975" cy="2240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4005072"/>
            <a:ext cx="48307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flow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4370832"/>
            <a:ext cx="473933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Submit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4727448"/>
            <a:ext cx="473933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5084064"/>
            <a:ext cx="473933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errors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5440680"/>
            <a:ext cx="473933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5797296"/>
            <a:ext cx="473933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values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• Slides 19/20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"/>
            <a:ext cx="1109441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3 &amp;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what you should remember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318608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90472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— Widgets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467852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is composed from widgets (tree structure).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→ runApp → build describes the screen declaratively.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preserve identity during rebuilds/reorder.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stateless; go stateful when the widget must own changing data.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24448" y="1234440"/>
            <a:ext cx="5318608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44488" y="1490472"/>
            <a:ext cx="467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— Value widgets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44488" y="2011680"/>
            <a:ext cx="467852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Text/Icon/Image show values; SnackBar shows transient feedback.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widgets require state handling (TextField, Slider, etc.).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unify save/validate workflows (Form + FormField).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validator: null = valid; string = error.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5532120"/>
            <a:ext cx="11094415" cy="68580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696712"/>
            <a:ext cx="104543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Chapter 5+ usually builds on layout + navigation + state patterns—perfect follow-ons to these foundations.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Ch.3–4 recap • Slides 20/20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Recap generated from Flutter App Development (Rap Payne)</dc:creator>
  <cp:lastModifiedBy>Recap generated from Flutter App Development (Rap Payne)</cp:lastModifiedBy>
  <cp:revision>1</cp:revision>
  <dcterms:created xsi:type="dcterms:W3CDTF">2026-02-23T20:35:23Z</dcterms:created>
  <dcterms:modified xsi:type="dcterms:W3CDTF">2026-02-23T20:35:23Z</dcterms:modified>
</cp:coreProperties>
</file>