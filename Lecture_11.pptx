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1445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457200"/>
            <a:ext cx="457200" cy="4572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960120"/>
            <a:ext cx="457200" cy="457200"/>
          </a:xfrm>
          <a:prstGeom prst="rect">
            <a:avLst/>
          </a:prstGeom>
          <a:solidFill>
            <a:srgbClr val="00B4CC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463040"/>
            <a:ext cx="457200" cy="457200"/>
          </a:xfrm>
          <a:prstGeom prst="rect">
            <a:avLst/>
          </a:prstGeom>
          <a:solidFill>
            <a:srgbClr val="0099BB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438912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Flutter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Journey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56032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Your First Real App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56032" y="30175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ideal workflow, key concepts,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makes Flutter exciting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4041648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0D4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90F"/>
                </a:solidFill>
              </a:rPr>
              <a:t>DART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0" y="4041648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0B4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90F"/>
                </a:solidFill>
              </a:rPr>
              <a:t>FLUTTER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01568" y="4041648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FFB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90F"/>
                </a:solidFill>
              </a:rPr>
              <a:t>CROSS-PLATFORM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" y="47091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Year CS  •  Mobile &amp; Cross-Platform Development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384048"/>
            <a:ext cx="338328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384048"/>
            <a:ext cx="45720" cy="56692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623560" y="484632"/>
            <a:ext cx="365760" cy="36576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484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090F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4754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Flutter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06440" y="950976"/>
            <a:ext cx="0" cy="192024"/>
          </a:xfrm>
          <a:prstGeom prst="line">
            <a:avLst/>
          </a:prstGeom>
          <a:noFill/>
          <a:ln w="12700">
            <a:solidFill>
              <a:srgbClr val="7A95B0"/>
            </a:solidFill>
            <a:prstDash val="dot"/>
          </a:ln>
        </p:spPr>
      </p:sp>
      <p:sp>
        <p:nvSpPr>
          <p:cNvPr id="23" name="Shape 21"/>
          <p:cNvSpPr/>
          <p:nvPr/>
        </p:nvSpPr>
        <p:spPr>
          <a:xfrm>
            <a:off x="5486400" y="1143000"/>
            <a:ext cx="338328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1143000"/>
            <a:ext cx="45720" cy="566928"/>
          </a:xfrm>
          <a:prstGeom prst="rect">
            <a:avLst/>
          </a:prstGeom>
          <a:solidFill>
            <a:srgbClr val="00B4CC"/>
          </a:solidFill>
          <a:ln/>
        </p:spPr>
      </p:sp>
      <p:sp>
        <p:nvSpPr>
          <p:cNvPr id="25" name="Shape 23"/>
          <p:cNvSpPr/>
          <p:nvPr/>
        </p:nvSpPr>
        <p:spPr>
          <a:xfrm>
            <a:off x="5623560" y="1243584"/>
            <a:ext cx="365760" cy="365760"/>
          </a:xfrm>
          <a:prstGeom prst="ellipse">
            <a:avLst/>
          </a:prstGeom>
          <a:solidFill>
            <a:srgbClr val="00B4CC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1243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090F"/>
                </a:solidFill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80760" y="1234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Project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06440" y="1709928"/>
            <a:ext cx="0" cy="192024"/>
          </a:xfrm>
          <a:prstGeom prst="line">
            <a:avLst/>
          </a:prstGeom>
          <a:noFill/>
          <a:ln w="12700">
            <a:solidFill>
              <a:srgbClr val="7A95B0"/>
            </a:solidFill>
            <a:prstDash val="dot"/>
          </a:ln>
        </p:spPr>
      </p:sp>
      <p:sp>
        <p:nvSpPr>
          <p:cNvPr id="29" name="Shape 27"/>
          <p:cNvSpPr/>
          <p:nvPr/>
        </p:nvSpPr>
        <p:spPr>
          <a:xfrm>
            <a:off x="5486400" y="1901952"/>
            <a:ext cx="338328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1901952"/>
            <a:ext cx="45720" cy="5669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1" name="Shape 29"/>
          <p:cNvSpPr/>
          <p:nvPr/>
        </p:nvSpPr>
        <p:spPr>
          <a:xfrm>
            <a:off x="5623560" y="2002536"/>
            <a:ext cx="365760" cy="36576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2" name="Text 30"/>
          <p:cNvSpPr/>
          <p:nvPr/>
        </p:nvSpPr>
        <p:spPr>
          <a:xfrm>
            <a:off x="5623560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090F"/>
                </a:solidFill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80760" y="19933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 Structure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06440" y="2468880"/>
            <a:ext cx="0" cy="192024"/>
          </a:xfrm>
          <a:prstGeom prst="line">
            <a:avLst/>
          </a:prstGeom>
          <a:noFill/>
          <a:ln w="12700">
            <a:solidFill>
              <a:srgbClr val="7A95B0"/>
            </a:solidFill>
            <a:prstDash val="dot"/>
          </a:ln>
        </p:spPr>
      </p:sp>
      <p:sp>
        <p:nvSpPr>
          <p:cNvPr id="35" name="Shape 33"/>
          <p:cNvSpPr/>
          <p:nvPr/>
        </p:nvSpPr>
        <p:spPr>
          <a:xfrm>
            <a:off x="5486400" y="2660904"/>
            <a:ext cx="338328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0" y="2660904"/>
            <a:ext cx="45720" cy="566928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7" name="Shape 35"/>
          <p:cNvSpPr/>
          <p:nvPr/>
        </p:nvSpPr>
        <p:spPr>
          <a:xfrm>
            <a:off x="5623560" y="2761488"/>
            <a:ext cx="365760" cy="36576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38" name="Text 36"/>
          <p:cNvSpPr/>
          <p:nvPr/>
        </p:nvSpPr>
        <p:spPr>
          <a:xfrm>
            <a:off x="562356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090F"/>
                </a:solidFill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80760" y="27523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Widgets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806440" y="3227832"/>
            <a:ext cx="0" cy="192024"/>
          </a:xfrm>
          <a:prstGeom prst="line">
            <a:avLst/>
          </a:prstGeom>
          <a:noFill/>
          <a:ln w="12700">
            <a:solidFill>
              <a:srgbClr val="7A95B0"/>
            </a:solidFill>
            <a:prstDash val="dot"/>
          </a:ln>
        </p:spPr>
      </p:sp>
      <p:sp>
        <p:nvSpPr>
          <p:cNvPr id="41" name="Shape 39"/>
          <p:cNvSpPr/>
          <p:nvPr/>
        </p:nvSpPr>
        <p:spPr>
          <a:xfrm>
            <a:off x="5486400" y="3419856"/>
            <a:ext cx="338328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3419856"/>
            <a:ext cx="45720" cy="56692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3" name="Shape 41"/>
          <p:cNvSpPr/>
          <p:nvPr/>
        </p:nvSpPr>
        <p:spPr>
          <a:xfrm>
            <a:off x="5623560" y="3520440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4" name="Text 42"/>
          <p:cNvSpPr/>
          <p:nvPr/>
        </p:nvSpPr>
        <p:spPr>
          <a:xfrm>
            <a:off x="562356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090F"/>
                </a:solidFill>
              </a:rPr>
              <a:t>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080760" y="35112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State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806440" y="3986784"/>
            <a:ext cx="0" cy="192024"/>
          </a:xfrm>
          <a:prstGeom prst="line">
            <a:avLst/>
          </a:prstGeom>
          <a:noFill/>
          <a:ln w="12700">
            <a:solidFill>
              <a:srgbClr val="7A95B0"/>
            </a:solidFill>
            <a:prstDash val="dot"/>
          </a:ln>
        </p:spPr>
      </p:sp>
      <p:sp>
        <p:nvSpPr>
          <p:cNvPr id="47" name="Shape 45"/>
          <p:cNvSpPr/>
          <p:nvPr/>
        </p:nvSpPr>
        <p:spPr>
          <a:xfrm>
            <a:off x="5486400" y="4178808"/>
            <a:ext cx="3383280" cy="566928"/>
          </a:xfrm>
          <a:prstGeom prst="rect">
            <a:avLst/>
          </a:prstGeom>
          <a:solidFill>
            <a:srgbClr val="11223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0" y="4178808"/>
            <a:ext cx="45720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9" name="Shape 47"/>
          <p:cNvSpPr/>
          <p:nvPr/>
        </p:nvSpPr>
        <p:spPr>
          <a:xfrm>
            <a:off x="5623560" y="4279392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50" name="Text 48"/>
          <p:cNvSpPr/>
          <p:nvPr/>
        </p:nvSpPr>
        <p:spPr>
          <a:xfrm>
            <a:off x="562356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090F"/>
                </a:solidFill>
              </a:rPr>
              <a:t>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080760" y="42702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It! 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91524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Why Flutter? What Makes It Worth Learning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2880" y="6583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3B+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2880" y="1435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5B0"/>
                </a:solidFill>
              </a:rPr>
              <a:t>Devices running Flutter apps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31720" y="6583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331720" y="1435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5B0"/>
                </a:solidFill>
              </a:rPr>
              <a:t>Cross-platform framework (2024)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0" y="6583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FPS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297680" y="1435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5B0"/>
                </a:solidFill>
              </a:rPr>
              <a:t>Smooth animations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6583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in 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1435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5B0"/>
                </a:solidFill>
              </a:rPr>
              <a:t>iOS·Android·Web·Desktop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874520"/>
            <a:ext cx="8412480" cy="0"/>
          </a:xfrm>
          <a:prstGeom prst="line">
            <a:avLst/>
          </a:prstGeom>
          <a:noFill/>
          <a:ln w="12700">
            <a:solidFill>
              <a:srgbClr val="1A3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011680"/>
            <a:ext cx="274320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87552" y="21396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Codebase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6243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deploy to iOS, Android, Web, Desktop — no rewrites.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2011680"/>
            <a:ext cx="274320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867912" y="21396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Hot Reload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26243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changes instantly. No rebuild. Fastest dev loop in mobile.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2011680"/>
            <a:ext cx="274320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748272" y="21396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 Widget Library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26243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&amp; Cupertino widgets out of the box. Pixel-perfect UI.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29000"/>
            <a:ext cx="274320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38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💼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87552" y="35570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Demand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40416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Google, BMW, Alibaba, eBay. Great job market.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3429000"/>
            <a:ext cx="274320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538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3867912" y="35570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Dart is Easy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91840" y="40416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typed, null-safe, feels like Java + JavaScript combined.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3429000"/>
            <a:ext cx="274320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3538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748272" y="35570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Huge Community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72200" y="40416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pub.dev has 40k+ packages. Stack Overflow, Discord, YouTube.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91524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🛠️  Step 1 — Install Flutter &amp; Set Up Your Environment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566928" cy="5669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68580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Installation &amp; Environment Setup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411480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81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95B0"/>
                </a:solidFill>
              </a:rPr>
              <a:t>CHECKLIST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384048" cy="3840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90F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" y="188366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Download Flutter SDK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20939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A95B0"/>
                </a:solidFill>
              </a:rPr>
              <a:t>flutter.dev/docs/get-started/install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624328"/>
            <a:ext cx="384048" cy="384048"/>
          </a:xfrm>
          <a:prstGeom prst="rect">
            <a:avLst/>
          </a:prstGeom>
          <a:solidFill>
            <a:srgbClr val="00B4CC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90F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26334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VS Code + Extensions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" y="28437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A95B0"/>
                </a:solidFill>
              </a:rPr>
              <a:t>Flutter &amp; Dart extensions from marketplace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374136"/>
            <a:ext cx="384048" cy="384048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90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6968" y="33832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 flutter doctor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6968" y="3593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A95B0"/>
                </a:solidFill>
              </a:rPr>
              <a:t>Fix all ✗ warnings before continuing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123944"/>
            <a:ext cx="384048" cy="38404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090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6968" y="413308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 a Device / Emulator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6968" y="43434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A95B0"/>
                </a:solidFill>
              </a:rPr>
              <a:t>Android Studio AVD  or  physical phone via USB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1389888"/>
            <a:ext cx="425196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481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95B0"/>
                </a:solidFill>
              </a:rPr>
              <a:t>TERMINAL OUTPUT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810512"/>
            <a:ext cx="3977640" cy="3017520"/>
          </a:xfrm>
          <a:prstGeom prst="rect">
            <a:avLst/>
          </a:prstGeom>
          <a:solidFill>
            <a:srgbClr val="000D1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82896" y="190195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84064" y="190195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85232" y="190195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2084832"/>
            <a:ext cx="37216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flutter doctor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 summary (to see all details, run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doctor -v):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Flutter (Channel stable, 3.x.x)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Android toolchain – develop for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Android devices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Chrome – develop for the web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VS Code (version 1.x.x)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Connected device (2 available)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[!] HTTP Host Availability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✗ Fix to continue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Run: flutter doctor --android-licenses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91524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0B4C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📁  Step 2 — Create Your First Flutter Project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566928" cy="566928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68580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Creation — Two Ways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402336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89888"/>
            <a:ext cx="4023360" cy="329184"/>
          </a:xfrm>
          <a:prstGeom prst="rect">
            <a:avLst/>
          </a:prstGeom>
          <a:solidFill>
            <a:srgbClr val="00B4CC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3898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090F"/>
                </a:solidFill>
              </a:rPr>
              <a:t>🅐  Via Terminal (Recommended)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783080"/>
            <a:ext cx="3749040" cy="1417320"/>
          </a:xfrm>
          <a:prstGeom prst="rect">
            <a:avLst/>
          </a:prstGeom>
          <a:solidFill>
            <a:srgbClr val="000D1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8745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" y="187452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" y="187452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2057400"/>
            <a:ext cx="3493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Navigate to your projects folder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~/projects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Create new Flutter app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create my_app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Open in VS Code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my_app &amp;&amp; code .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Run the app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run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389888"/>
            <a:ext cx="420624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389888"/>
            <a:ext cx="4206240" cy="32918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389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090F"/>
                </a:solidFill>
              </a:rPr>
              <a:t>🅑  Via VS Code GUI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1801368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Press  Ctrl+Shift+P  (Cmd on Mac)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Type:  Flutter: New Project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Choose  Application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Select parent folder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Type your project 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Press  F5  to launch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3474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00"/>
                </a:solidFill>
              </a:rPr>
              <a:t>⚡  PROJECT NAMING TIPS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794760"/>
            <a:ext cx="2011680" cy="594360"/>
          </a:xfrm>
          <a:prstGeom prst="rect">
            <a:avLst/>
          </a:prstGeom>
          <a:solidFill>
            <a:srgbClr val="0D2B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my_app       ✅  snake_case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50592" y="3794760"/>
            <a:ext cx="2011680" cy="594360"/>
          </a:xfrm>
          <a:prstGeom prst="rect">
            <a:avLst/>
          </a:prstGeom>
          <a:solidFill>
            <a:srgbClr val="2B0D0D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        ❌  PascalCase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3794760"/>
            <a:ext cx="2011680" cy="594360"/>
          </a:xfrm>
          <a:prstGeom prst="rect">
            <a:avLst/>
          </a:prstGeom>
          <a:solidFill>
            <a:srgbClr val="2B0D0D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4024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my-app       ❌  hyphens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3136" y="3794760"/>
            <a:ext cx="2011680" cy="594360"/>
          </a:xfrm>
          <a:prstGeom prst="rect">
            <a:avLst/>
          </a:prstGeom>
          <a:solidFill>
            <a:srgbClr val="2B0D0D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0296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App       ❌  spaces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0D1B0D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44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flutter create generates a working counter app immediately — press Run and you already have something on screen!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91524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🗂️  Step 3 — Understand the Project Structure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566928" cy="5669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68580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Flutter Create for You?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3108960" cy="3566160"/>
          </a:xfrm>
          <a:prstGeom prst="rect">
            <a:avLst/>
          </a:prstGeom>
          <a:solidFill>
            <a:srgbClr val="000D1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813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95B0"/>
                </a:solidFill>
              </a:rPr>
              <a:t>PROJECT TREE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8288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my_app/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1579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android/          🤖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24871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ios/              🍎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8163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web/              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314553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lib/              ⭐  YOU WORK HERE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34747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main.dart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8039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assets/           🖼️  images, fonts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41330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test/             🧪  unit tests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44622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pubspec.yaml      📦  dependencies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66160" y="1389888"/>
            <a:ext cx="53035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1389888"/>
            <a:ext cx="54864" cy="10972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1" name="Text 19"/>
          <p:cNvSpPr/>
          <p:nvPr/>
        </p:nvSpPr>
        <p:spPr>
          <a:xfrm>
            <a:off x="3730752" y="148132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lib/main.dart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30752" y="17373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point. Contains main() and your root widget. This is where everything starts.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1481328"/>
            <a:ext cx="2084832" cy="896112"/>
          </a:xfrm>
          <a:prstGeom prst="rect">
            <a:avLst/>
          </a:prstGeom>
          <a:solidFill>
            <a:srgbClr val="000D1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03136" y="157276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04304" y="157276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05472" y="157276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175564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main() =&gt; runApp(MyApp());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566160" y="2606040"/>
            <a:ext cx="53035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66160" y="2606040"/>
            <a:ext cx="54864" cy="109728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0" name="Text 28"/>
          <p:cNvSpPr/>
          <p:nvPr/>
        </p:nvSpPr>
        <p:spPr>
          <a:xfrm>
            <a:off x="3730752" y="269748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pubspec.yaml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30752" y="295351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manifest. Declare packages, assets, fonts and app version here.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0" y="2697480"/>
            <a:ext cx="2084832" cy="896112"/>
          </a:xfrm>
          <a:prstGeom prst="rect">
            <a:avLst/>
          </a:prstGeom>
          <a:solidFill>
            <a:srgbClr val="000D1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3136" y="27889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04304" y="278892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05472" y="278892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03136" y="29718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dependencies: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flutter: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sdk: flutter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http: ^1.2.0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566160" y="3822192"/>
            <a:ext cx="53035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66160" y="3822192"/>
            <a:ext cx="54864" cy="10972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9" name="Text 37"/>
          <p:cNvSpPr/>
          <p:nvPr/>
        </p:nvSpPr>
        <p:spPr>
          <a:xfrm>
            <a:off x="3730752" y="391363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 folder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730752" y="4169664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fonts, JSON files. Must be declared in pubspec.yaml to be usable.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75120" y="3913632"/>
            <a:ext cx="2084832" cy="896112"/>
          </a:xfrm>
          <a:prstGeom prst="rect">
            <a:avLst/>
          </a:prstGeom>
          <a:solidFill>
            <a:srgbClr val="000D1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03136" y="400507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04304" y="400507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05472" y="400507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03136" y="41879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flutter: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assets: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assets/images/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assets/logo.png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91524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🧩  Step 4 — Everything is a Widget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566928" cy="566928"/>
          </a:xfrm>
          <a:prstGeom prst="ellipse">
            <a:avLst/>
          </a:prstGeom>
          <a:solidFill>
            <a:srgbClr val="FFB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68580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Widget Tree — Flutter's Core Idea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8595360" cy="475488"/>
          </a:xfrm>
          <a:prstGeom prst="rect">
            <a:avLst/>
          </a:prstGeom>
          <a:solidFill>
            <a:srgbClr val="1A1200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Golden Rule: "In Flutter, everything is a Widget." — UI, layout, gestures, animations. All widgets.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993392"/>
            <a:ext cx="3474720" cy="2971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848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95B0"/>
                </a:solidFill>
              </a:rPr>
              <a:t>WIDGET TREE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" y="2432304"/>
            <a:ext cx="2377440" cy="310896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43230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MaterialApp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11680" y="2743200"/>
            <a:ext cx="0" cy="164592"/>
          </a:xfrm>
          <a:prstGeom prst="line">
            <a:avLst/>
          </a:prstGeom>
          <a:noFill/>
          <a:ln w="12700">
            <a:solidFill>
              <a:srgbClr val="7A95B0"/>
            </a:solidFill>
            <a:prstDash val="dot"/>
          </a:ln>
        </p:spPr>
      </p:sp>
      <p:sp>
        <p:nvSpPr>
          <p:cNvPr id="15" name="Shape 13"/>
          <p:cNvSpPr/>
          <p:nvPr/>
        </p:nvSpPr>
        <p:spPr>
          <a:xfrm>
            <a:off x="822960" y="2907792"/>
            <a:ext cx="2377440" cy="310896"/>
          </a:xfrm>
          <a:prstGeom prst="rect">
            <a:avLst/>
          </a:prstGeom>
          <a:solidFill>
            <a:srgbClr val="00B4CC">
              <a:alpha val="15000"/>
            </a:srgbClr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9077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Scaffold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0" y="3218688"/>
            <a:ext cx="0" cy="164592"/>
          </a:xfrm>
          <a:prstGeom prst="line">
            <a:avLst/>
          </a:prstGeom>
          <a:noFill/>
          <a:ln w="12700">
            <a:solidFill>
              <a:srgbClr val="7A95B0"/>
            </a:solidFill>
            <a:prstDash val="dot"/>
          </a:ln>
        </p:spPr>
      </p:sp>
      <p:sp>
        <p:nvSpPr>
          <p:cNvPr id="18" name="Shape 16"/>
          <p:cNvSpPr/>
          <p:nvPr/>
        </p:nvSpPr>
        <p:spPr>
          <a:xfrm>
            <a:off x="822960" y="3383280"/>
            <a:ext cx="2377440" cy="310896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3832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34440" y="3694176"/>
            <a:ext cx="0" cy="164592"/>
          </a:xfrm>
          <a:prstGeom prst="line">
            <a:avLst/>
          </a:prstGeom>
          <a:noFill/>
          <a:ln w="12700">
            <a:solidFill>
              <a:srgbClr val="7A95B0"/>
            </a:solidFill>
            <a:prstDash val="dot"/>
          </a:ln>
        </p:spPr>
      </p:sp>
      <p:sp>
        <p:nvSpPr>
          <p:cNvPr id="21" name="Shape 19"/>
          <p:cNvSpPr/>
          <p:nvPr/>
        </p:nvSpPr>
        <p:spPr>
          <a:xfrm>
            <a:off x="2011680" y="3694176"/>
            <a:ext cx="0" cy="164592"/>
          </a:xfrm>
          <a:prstGeom prst="line">
            <a:avLst/>
          </a:prstGeom>
          <a:noFill/>
          <a:ln w="12700">
            <a:solidFill>
              <a:srgbClr val="7A95B0"/>
            </a:solidFill>
            <a:prstDash val="dot"/>
          </a:ln>
        </p:spPr>
      </p:sp>
      <p:sp>
        <p:nvSpPr>
          <p:cNvPr id="22" name="Shape 20"/>
          <p:cNvSpPr/>
          <p:nvPr/>
        </p:nvSpPr>
        <p:spPr>
          <a:xfrm>
            <a:off x="2788920" y="3694176"/>
            <a:ext cx="0" cy="164592"/>
          </a:xfrm>
          <a:prstGeom prst="line">
            <a:avLst/>
          </a:prstGeom>
          <a:noFill/>
          <a:ln w="12700">
            <a:solidFill>
              <a:srgbClr val="7A95B0"/>
            </a:solidFill>
            <a:prstDash val="dot"/>
          </a:ln>
        </p:spPr>
      </p:sp>
      <p:sp>
        <p:nvSpPr>
          <p:cNvPr id="23" name="Shape 21"/>
          <p:cNvSpPr/>
          <p:nvPr/>
        </p:nvSpPr>
        <p:spPr>
          <a:xfrm>
            <a:off x="1234440" y="3858768"/>
            <a:ext cx="1554480" cy="0"/>
          </a:xfrm>
          <a:prstGeom prst="line">
            <a:avLst/>
          </a:prstGeom>
          <a:noFill/>
          <a:ln w="12700">
            <a:solidFill>
              <a:srgbClr val="7A95B0"/>
            </a:solidFill>
            <a:prstDash val="dot"/>
          </a:ln>
        </p:spPr>
      </p:sp>
      <p:sp>
        <p:nvSpPr>
          <p:cNvPr id="24" name="Shape 22"/>
          <p:cNvSpPr/>
          <p:nvPr/>
        </p:nvSpPr>
        <p:spPr>
          <a:xfrm>
            <a:off x="429768" y="3858768"/>
            <a:ext cx="987552" cy="310896"/>
          </a:xfrm>
          <a:prstGeom prst="rect">
            <a:avLst/>
          </a:prstGeom>
          <a:solidFill>
            <a:srgbClr val="FFB800">
              <a:alpha val="15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858768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490472" y="3858768"/>
            <a:ext cx="987552" cy="310896"/>
          </a:xfrm>
          <a:prstGeom prst="rect">
            <a:avLst/>
          </a:prstGeom>
          <a:solidFill>
            <a:srgbClr val="FFB800">
              <a:alpha val="15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3858768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51176" y="3858768"/>
            <a:ext cx="987552" cy="310896"/>
          </a:xfrm>
          <a:prstGeom prst="rect">
            <a:avLst/>
          </a:prstGeom>
          <a:solidFill>
            <a:srgbClr val="FFB800">
              <a:alpha val="15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51176" y="3858768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977640" y="1993392"/>
            <a:ext cx="2359152" cy="1389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77640" y="1993392"/>
            <a:ext cx="2359152" cy="2926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4069080" y="199339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090F"/>
                </a:solidFill>
              </a:rPr>
              <a:t>Layout Widgets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087368" y="2322576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Column  /  Row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Stack  /  Positioned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Container  /  SizedBox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Padding  /  Center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92240" y="1993392"/>
            <a:ext cx="2359152" cy="1389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1993392"/>
            <a:ext cx="2359152" cy="292608"/>
          </a:xfrm>
          <a:prstGeom prst="rect">
            <a:avLst/>
          </a:prstGeom>
          <a:solidFill>
            <a:srgbClr val="00B4CC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199339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090F"/>
                </a:solidFill>
              </a:rPr>
              <a:t>Display Widgets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01968" y="2322576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Text  /  RichText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Image  /  Icon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Card  /  ListTile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CircleAvatar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977640" y="3502152"/>
            <a:ext cx="2359152" cy="1389888"/>
          </a:xfrm>
          <a:prstGeom prst="rect">
            <a:avLst/>
          </a:prstGeom>
          <a:solidFill>
            <a:srgbClr val="0D1B2A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77640" y="3502152"/>
            <a:ext cx="2359152" cy="292608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0" name="Text 38"/>
          <p:cNvSpPr/>
          <p:nvPr/>
        </p:nvSpPr>
        <p:spPr>
          <a:xfrm>
            <a:off x="4069080" y="350215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090F"/>
                </a:solidFill>
              </a:rPr>
              <a:t>Input Widgets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087368" y="3831336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ElevatedButton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TextField  /  Form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Checkbox  /  Switch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Slider  /  DropdownButton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92240" y="3502152"/>
            <a:ext cx="2359152" cy="1389888"/>
          </a:xfrm>
          <a:prstGeom prst="rect">
            <a:avLst/>
          </a:prstGeom>
          <a:solidFill>
            <a:srgbClr val="0D1B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92240" y="3502152"/>
            <a:ext cx="2359152" cy="2926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0" y="350215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090F"/>
                </a:solidFill>
              </a:rPr>
              <a:t>Navigation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01968" y="3831336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Navigator.push()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MaterialPageRoute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BottomNavigationBar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Drawer  /  AppBar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91524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Step 5 — State Management: Making Your App Alive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566928" cy="56692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68580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State? How Does Flutter React to Changes?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416052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95B0"/>
                </a:solidFill>
              </a:rPr>
              <a:t>THE KEY CONCEPT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810512"/>
            <a:ext cx="3886200" cy="621792"/>
          </a:xfrm>
          <a:prstGeom prst="rect">
            <a:avLst/>
          </a:prstGeom>
          <a:solidFill>
            <a:srgbClr val="0A1F0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= data that can change over time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needs the UI to update when it does.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514600"/>
            <a:ext cx="3886200" cy="2331720"/>
          </a:xfrm>
          <a:prstGeom prst="rect">
            <a:avLst/>
          </a:prstGeom>
          <a:solidFill>
            <a:srgbClr val="000D1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" y="260604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" y="260604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" y="260604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2788920"/>
            <a:ext cx="36301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_CounterState extends State&lt;Counter&gt; {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_count = 0;    // &lt;-- this is "state"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_increment() {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setState(() {    // &lt;-- tells Flutter to rebuild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_count++;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{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Column(children: [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Text('Count: $_count'),   // reads state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ElevatedButton(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onPressed: _increment,  // changes state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child: Text('Add'),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]);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389888"/>
            <a:ext cx="420624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481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95B0"/>
                </a:solidFill>
              </a:rPr>
              <a:t>THE setState() CYCLE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1810512"/>
            <a:ext cx="777240" cy="7772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8105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90F"/>
                </a:solidFill>
              </a:rPr>
              <a:t>User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5090F"/>
                </a:solidFill>
              </a:rPr>
              <a:t>interacts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77840" y="2194560"/>
            <a:ext cx="182880" cy="0"/>
          </a:xfrm>
          <a:prstGeom prst="line">
            <a:avLst/>
          </a:prstGeom>
          <a:noFill/>
          <a:ln w="19050">
            <a:solidFill>
              <a:srgbClr val="7A95B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760720" y="1810512"/>
            <a:ext cx="777240" cy="77724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0" y="18105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90F"/>
                </a:solidFill>
              </a:rPr>
              <a:t>setState()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5090F"/>
                </a:solidFill>
              </a:rPr>
              <a:t>called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537960" y="2194560"/>
            <a:ext cx="182880" cy="0"/>
          </a:xfrm>
          <a:prstGeom prst="line">
            <a:avLst/>
          </a:prstGeom>
          <a:noFill/>
          <a:ln w="19050">
            <a:solidFill>
              <a:srgbClr val="7A95B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720840" y="1810512"/>
            <a:ext cx="777240" cy="7772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18105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90F"/>
                </a:solidFill>
              </a:rPr>
              <a:t>Flutter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5090F"/>
                </a:solidFill>
              </a:rPr>
              <a:t>rebuilds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498080" y="2194560"/>
            <a:ext cx="182880" cy="0"/>
          </a:xfrm>
          <a:prstGeom prst="line">
            <a:avLst/>
          </a:prstGeom>
          <a:noFill/>
          <a:ln w="19050">
            <a:solidFill>
              <a:srgbClr val="7A95B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680960" y="1810512"/>
            <a:ext cx="777240" cy="7772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0" y="18105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90F"/>
                </a:solidFill>
              </a:rPr>
              <a:t>UI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5090F"/>
                </a:solidFill>
              </a:rPr>
              <a:t>updates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3127248"/>
            <a:ext cx="420624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2186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95B0"/>
                </a:solidFill>
              </a:rPr>
              <a:t>STATE MANAGEMENT LADDER  (learn in order)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3520440"/>
            <a:ext cx="1005840" cy="2651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520440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90F"/>
                </a:solidFill>
              </a:rPr>
              <a:t>Beginner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897880" y="35387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setState()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858768"/>
            <a:ext cx="1005840" cy="265176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858768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90F"/>
                </a:solidFill>
              </a:rPr>
              <a:t>Intermediate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897880" y="38770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/ Riverpod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4197096"/>
            <a:ext cx="1005840" cy="2651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4197096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90F"/>
                </a:solidFill>
              </a:rPr>
              <a:t>Advanced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897880" y="42153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 / Cubit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4535424"/>
            <a:ext cx="1005840" cy="2651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2" name="Text 40"/>
          <p:cNvSpPr/>
          <p:nvPr/>
        </p:nvSpPr>
        <p:spPr>
          <a:xfrm>
            <a:off x="4800600" y="4535424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90F"/>
                </a:solidFill>
              </a:rPr>
              <a:t>Expert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897880" y="45537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Redux / GetX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91524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0B4C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Step 6 — Packages, Assets &amp; Navigation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566928" cy="566928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68580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 Your App — The Flutter Ecosystem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138988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00"/>
                </a:solidFill>
              </a:rPr>
              <a:t>🔥  MUST-KNOW PACKAGES FOR BEGINNERS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1627632" cy="8229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19072"/>
            <a:ext cx="1627632" cy="274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" y="171907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90F"/>
                </a:solidFill>
              </a:rPr>
              <a:t>API calls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" y="2029968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0" y="1719072"/>
            <a:ext cx="1627632" cy="8229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1719072"/>
            <a:ext cx="1627632" cy="274320"/>
          </a:xfrm>
          <a:prstGeom prst="rect">
            <a:avLst/>
          </a:prstGeom>
          <a:solidFill>
            <a:srgbClr val="00B4CC"/>
          </a:solidFill>
          <a:ln/>
        </p:spPr>
      </p:sp>
      <p:sp>
        <p:nvSpPr>
          <p:cNvPr id="15" name="Text 13"/>
          <p:cNvSpPr/>
          <p:nvPr/>
        </p:nvSpPr>
        <p:spPr>
          <a:xfrm>
            <a:off x="2066544" y="171907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90F"/>
                </a:solidFill>
              </a:rPr>
              <a:t>State mgmt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66544" y="2029968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49040" y="1719072"/>
            <a:ext cx="1627632" cy="822960"/>
          </a:xfrm>
          <a:prstGeom prst="rect">
            <a:avLst/>
          </a:prstGeom>
          <a:solidFill>
            <a:srgbClr val="0D1B2A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1719072"/>
            <a:ext cx="1627632" cy="2743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9" name="Text 17"/>
          <p:cNvSpPr/>
          <p:nvPr/>
        </p:nvSpPr>
        <p:spPr>
          <a:xfrm>
            <a:off x="3803904" y="171907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90F"/>
                </a:solidFill>
              </a:rPr>
              <a:t>Local storage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03904" y="2029968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shared_prefs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0" y="1719072"/>
            <a:ext cx="1627632" cy="822960"/>
          </a:xfrm>
          <a:prstGeom prst="rect">
            <a:avLst/>
          </a:prstGeom>
          <a:solidFill>
            <a:srgbClr val="0D1B2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1719072"/>
            <a:ext cx="1627632" cy="274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5541264" y="171907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90F"/>
                </a:solidFill>
              </a:rPr>
              <a:t>Navigation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41264" y="2029968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go_router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23760" y="1719072"/>
            <a:ext cx="1627632" cy="822960"/>
          </a:xfrm>
          <a:prstGeom prst="rect">
            <a:avLst/>
          </a:prstGeom>
          <a:solidFill>
            <a:srgbClr val="0D1B2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1719072"/>
            <a:ext cx="1627632" cy="2743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7278624" y="171907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90F"/>
                </a:solidFill>
              </a:rPr>
              <a:t>Image loading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78624" y="2029968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cached_net_image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697480"/>
            <a:ext cx="4160520" cy="2258568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788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95B0"/>
                </a:solidFill>
              </a:rPr>
              <a:t>ADDING A PACKAGE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3090672"/>
            <a:ext cx="3886200" cy="1755648"/>
          </a:xfrm>
          <a:prstGeom prst="rect">
            <a:avLst/>
          </a:prstGeom>
          <a:solidFill>
            <a:srgbClr val="000D1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318211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" y="318211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1832" y="318211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364992"/>
            <a:ext cx="363016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Add to pubspec.yaml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dependencies: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http: ^1.2.0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Install it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pub get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Import in Dart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'package:http/http.dart' as http;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Use it!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res = await http.get(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Uri.parse('https://api.example.com'));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2697480"/>
            <a:ext cx="4206240" cy="2258568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788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95B0"/>
                </a:solidFill>
              </a:rPr>
              <a:t>BASIC NAVIGATION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00600" y="3090672"/>
            <a:ext cx="3931920" cy="1755648"/>
          </a:xfrm>
          <a:prstGeom prst="rect">
            <a:avLst/>
          </a:prstGeom>
          <a:solidFill>
            <a:srgbClr val="000D1A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28616" y="318211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29784" y="318211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30952" y="318211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28616" y="3364992"/>
            <a:ext cx="36758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Push to a new screen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Navigator.push(context,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MaterialPageRoute(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builder: (_) =&gt; SecondScreen(),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Pop back to previous screen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Navigator.pop(context);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Pass data to new screen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Navigator.push(context,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MaterialPageRoute(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builder: (_) =&gt;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DetailScreen(item: myItem),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91524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🔥  What Makes Students Excited About Flutter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Hook Factors — Why Students Stay Motivated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17373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2743200" cy="3657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👁️  Instant Visual Feedback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609344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reload shows your changes in &lt; 1 second. No waiting. You see results immediately. This is addictive.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" y="2304288"/>
            <a:ext cx="2633472" cy="521208"/>
          </a:xfrm>
          <a:prstGeom prst="rect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33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2257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"I changed a color and saw it update before I even released Enter." 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743200" cy="1737360"/>
          </a:xfrm>
          <a:prstGeom prst="rect">
            <a:avLst/>
          </a:prstGeom>
          <a:solidFill>
            <a:srgbClr val="0D1B2A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188720"/>
            <a:ext cx="2743200" cy="3657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Real App on Your Phone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609344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30 minutes you have a working app running on your own device — not a simulation.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55264" y="2304288"/>
            <a:ext cx="2633472" cy="521208"/>
          </a:xfrm>
          <a:prstGeom prst="rect">
            <a:avLst/>
          </a:prstGeom>
          <a:solidFill>
            <a:srgbClr val="FFB800">
              <a:alpha val="10000"/>
            </a:srgbClr>
          </a:solidFill>
          <a:ln w="12700">
            <a:solidFill>
              <a:srgbClr val="FFB800">
                <a:alpha val="33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32257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"I showed my mum my first app that same evening." 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743200" cy="1737360"/>
          </a:xfrm>
          <a:prstGeom prst="rect">
            <a:avLst/>
          </a:prstGeom>
          <a:solidFill>
            <a:srgbClr val="0D1B2A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188720"/>
            <a:ext cx="2743200" cy="3657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 Build Games &amp; Fun Projects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36208" y="1609344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isn't just for business apps. Quizzes, games, music apps — students build what they love.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81344" y="2304288"/>
            <a:ext cx="2633472" cy="521208"/>
          </a:xfrm>
          <a:prstGeom prst="rect">
            <a:avLst/>
          </a:prstGeom>
          <a:solidFill>
            <a:srgbClr val="2ECC71">
              <a:alpha val="10000"/>
            </a:srgbClr>
          </a:solidFill>
          <a:ln w="12700">
            <a:solidFill>
              <a:srgbClr val="2ECC71">
                <a:alpha val="33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32257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Like the Goblin Slayer game we already built together! "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063240"/>
            <a:ext cx="2743200" cy="1737360"/>
          </a:xfrm>
          <a:prstGeom prst="rect">
            <a:avLst/>
          </a:prstGeom>
          <a:solidFill>
            <a:srgbClr val="0D1B2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063240"/>
            <a:ext cx="2743200" cy="3657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Deploy Everywhere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" y="3483864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code runs on phone, web browser and desktop. Show your project anywhere.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" y="4178808"/>
            <a:ext cx="2633472" cy="521208"/>
          </a:xfrm>
          <a:prstGeom prst="rect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19709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"My portfolio app runs as a website AND on iOS." "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3063240"/>
            <a:ext cx="2743200" cy="1737360"/>
          </a:xfrm>
          <a:prstGeom prst="rect">
            <a:avLst/>
          </a:prstGeom>
          <a:solidFill>
            <a:srgbClr val="0D1B2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3063240"/>
            <a:ext cx="2743200" cy="3657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Career &amp; Freelance Value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10128" y="3483864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developers earn more per project because they deliver for all platforms. Market demand is high.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55264" y="4178808"/>
            <a:ext cx="2633472" cy="521208"/>
          </a:xfrm>
          <a:prstGeom prst="rect">
            <a:avLst/>
          </a:prstGeom>
          <a:solidFill>
            <a:srgbClr val="FF6B6B">
              <a:alpha val="10000"/>
            </a:srgbClr>
          </a:solidFill>
          <a:ln w="12700">
            <a:solidFill>
              <a:srgbClr val="FF6B6B">
                <a:alpha val="33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419709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Upwork, Fiverr, local agencies — all need Flutter devs. "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3063240"/>
            <a:ext cx="2743200" cy="17373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3063240"/>
            <a:ext cx="2743200" cy="365760"/>
          </a:xfrm>
          <a:prstGeom prst="rect">
            <a:avLst/>
          </a:prstGeom>
          <a:solidFill>
            <a:srgbClr val="00B4CC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 Community &amp; Open Source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36208" y="3483864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packages, join Discord, attend Flutter events. It feels bigger than just code.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81344" y="4178808"/>
            <a:ext cx="2633472" cy="521208"/>
          </a:xfrm>
          <a:prstGeom prst="rect">
            <a:avLst/>
          </a:prstGeom>
          <a:solidFill>
            <a:srgbClr val="00B4CC">
              <a:alpha val="10000"/>
            </a:srgbClr>
          </a:solidFill>
          <a:ln w="12700">
            <a:solidFill>
              <a:srgbClr val="00B4CC">
                <a:alpha val="33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419709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"My PR got merged into a package with 4k stars." "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91524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Flutter vs The Alternatives — How to Position 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Flutter over React Native, Kotlin or Swift?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152144"/>
            <a:ext cx="1956816" cy="384048"/>
          </a:xfrm>
          <a:prstGeom prst="rect">
            <a:avLst/>
          </a:prstGeom>
          <a:solidFill>
            <a:srgbClr val="112236"/>
          </a:solidFill>
          <a:ln w="19050">
            <a:solidFill>
              <a:srgbClr val="7A95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5214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9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1152144"/>
            <a:ext cx="1865376" cy="384048"/>
          </a:xfrm>
          <a:prstGeom prst="rect">
            <a:avLst/>
          </a:prstGeom>
          <a:solidFill>
            <a:srgbClr val="112236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04872" y="115214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Flutter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152144"/>
            <a:ext cx="1865376" cy="384048"/>
          </a:xfrm>
          <a:prstGeom prst="rect">
            <a:avLst/>
          </a:prstGeom>
          <a:solidFill>
            <a:srgbClr val="112236"/>
          </a:solidFill>
          <a:ln w="19050">
            <a:solidFill>
              <a:srgbClr val="61DA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115214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1D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Native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152144"/>
            <a:ext cx="1865376" cy="384048"/>
          </a:xfrm>
          <a:prstGeom prst="rect">
            <a:avLst/>
          </a:prstGeom>
          <a:solidFill>
            <a:srgbClr val="112236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15214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(Kotlin/Swift)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591056"/>
            <a:ext cx="1956816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59105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31720" y="1591056"/>
            <a:ext cx="1865376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159105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(easy)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97680" y="1591056"/>
            <a:ext cx="1865376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159105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1591056"/>
            <a:ext cx="1865376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59105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/ Swift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1984248"/>
            <a:ext cx="1956816" cy="347472"/>
          </a:xfrm>
          <a:prstGeom prst="rect">
            <a:avLst/>
          </a:prstGeom>
          <a:solidFill>
            <a:srgbClr val="091524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98424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31720" y="1984248"/>
            <a:ext cx="1865376" cy="347472"/>
          </a:xfrm>
          <a:prstGeom prst="rect">
            <a:avLst/>
          </a:prstGeom>
          <a:solidFill>
            <a:srgbClr val="091524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198424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97680" y="1984248"/>
            <a:ext cx="1865376" cy="347472"/>
          </a:xfrm>
          <a:prstGeom prst="rect">
            <a:avLst/>
          </a:prstGeom>
          <a:solidFill>
            <a:srgbClr val="091524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198424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1984248"/>
            <a:ext cx="1865376" cy="347472"/>
          </a:xfrm>
          <a:prstGeom prst="rect">
            <a:avLst/>
          </a:prstGeom>
          <a:solidFill>
            <a:srgbClr val="091524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198424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377440"/>
            <a:ext cx="1956816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37744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Reload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31720" y="2377440"/>
            <a:ext cx="1865376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23160" y="23774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&lt;1 sec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97680" y="2377440"/>
            <a:ext cx="1865376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23774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~2 sec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2377440"/>
            <a:ext cx="1865376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23774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2770632"/>
            <a:ext cx="1956816" cy="347472"/>
          </a:xfrm>
          <a:prstGeom prst="rect">
            <a:avLst/>
          </a:prstGeom>
          <a:solidFill>
            <a:srgbClr val="091524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77063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331720" y="2770632"/>
            <a:ext cx="1865376" cy="347472"/>
          </a:xfrm>
          <a:prstGeom prst="rect">
            <a:avLst/>
          </a:prstGeom>
          <a:solidFill>
            <a:srgbClr val="091524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23160" y="277063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(all)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97680" y="2770632"/>
            <a:ext cx="1865376" cy="347472"/>
          </a:xfrm>
          <a:prstGeom prst="rect">
            <a:avLst/>
          </a:prstGeom>
          <a:solidFill>
            <a:srgbClr val="091524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0" y="277063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2770632"/>
            <a:ext cx="1865376" cy="347472"/>
          </a:xfrm>
          <a:prstGeom prst="rect">
            <a:avLst/>
          </a:prstGeom>
          <a:solidFill>
            <a:srgbClr val="091524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277063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language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163824"/>
            <a:ext cx="1956816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16382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331720" y="3163824"/>
            <a:ext cx="1865376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23160" y="316382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Low-Medium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297680" y="3163824"/>
            <a:ext cx="1865376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0" y="316382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63640" y="3163824"/>
            <a:ext cx="1865376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316382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3557016"/>
            <a:ext cx="1956816" cy="347472"/>
          </a:xfrm>
          <a:prstGeom prst="rect">
            <a:avLst/>
          </a:prstGeom>
          <a:solidFill>
            <a:srgbClr val="091524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55701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consistency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331720" y="3557016"/>
            <a:ext cx="1865376" cy="347472"/>
          </a:xfrm>
          <a:prstGeom prst="rect">
            <a:avLst/>
          </a:prstGeom>
          <a:solidFill>
            <a:srgbClr val="091524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23160" y="355701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Pixel-perfect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297680" y="3557016"/>
            <a:ext cx="1865376" cy="347472"/>
          </a:xfrm>
          <a:prstGeom prst="rect">
            <a:avLst/>
          </a:prstGeom>
          <a:solidFill>
            <a:srgbClr val="091524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89120" y="355701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Bridge gaps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263640" y="3557016"/>
            <a:ext cx="1865376" cy="347472"/>
          </a:xfrm>
          <a:prstGeom prst="rect">
            <a:avLst/>
          </a:prstGeom>
          <a:solidFill>
            <a:srgbClr val="091524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55080" y="355701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Native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" y="3950208"/>
            <a:ext cx="1956816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395020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331720" y="3950208"/>
            <a:ext cx="1865376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23160" y="395020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Growing fast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297680" y="3950208"/>
            <a:ext cx="1865376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0" y="395020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Stable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263640" y="3950208"/>
            <a:ext cx="1865376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55080" y="395020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Always demand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74320" y="4343400"/>
            <a:ext cx="1956816" cy="347472"/>
          </a:xfrm>
          <a:prstGeom prst="rect">
            <a:avLst/>
          </a:prstGeom>
          <a:solidFill>
            <a:srgbClr val="091524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5760" y="434340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331720" y="4343400"/>
            <a:ext cx="1865376" cy="347472"/>
          </a:xfrm>
          <a:prstGeom prst="rect">
            <a:avLst/>
          </a:prstGeom>
          <a:solidFill>
            <a:srgbClr val="091524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423160" y="434340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MVPs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297680" y="4343400"/>
            <a:ext cx="1865376" cy="347472"/>
          </a:xfrm>
          <a:prstGeom prst="rect">
            <a:avLst/>
          </a:prstGeom>
          <a:solidFill>
            <a:srgbClr val="091524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89120" y="434340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devs, web bg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263640" y="4343400"/>
            <a:ext cx="1865376" cy="347472"/>
          </a:xfrm>
          <a:prstGeom prst="rect">
            <a:avLst/>
          </a:prstGeom>
          <a:solidFill>
            <a:srgbClr val="091524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55080" y="434340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experts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0A140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1480" y="47640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</a:rPr>
              <a:t>🏆  Verdict for students: Flutter = fastest path from idea → working app on all platforms. Ideal first cross-platform framework.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91524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Motivating Project Ideas for 3rd Year Students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Something You Actually Want — That's the Secret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152144"/>
            <a:ext cx="2834640" cy="3840480"/>
          </a:xfrm>
          <a:prstGeom prst="rect">
            <a:avLst/>
          </a:prstGeom>
          <a:solidFill>
            <a:srgbClr val="0D1B2A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52144"/>
            <a:ext cx="2834640" cy="38404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521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090F"/>
                </a:solidFill>
              </a:rPr>
              <a:t>BEGINNER  (Week 1-2)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1627632"/>
            <a:ext cx="2615184" cy="713232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68249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Tip Calculator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" y="2011680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2ECC71">
              <a:alpha val="20000"/>
            </a:srgbClr>
          </a:solidFill>
          <a:ln w="6350">
            <a:solidFill>
              <a:srgbClr val="2ECC71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0116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setState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261872" y="2011680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2ECC71">
              <a:alpha val="20000"/>
            </a:srgbClr>
          </a:solidFill>
          <a:ln w="6350">
            <a:solidFill>
              <a:srgbClr val="2ECC71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20116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TextFields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048256" y="2011680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2ECC71">
              <a:alpha val="20000"/>
            </a:srgbClr>
          </a:solidFill>
          <a:ln w="6350">
            <a:solidFill>
              <a:srgbClr val="2ECC71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48256" y="20116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84048" y="2459736"/>
            <a:ext cx="2615184" cy="713232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51460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🎲 Dice Roller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" y="2843784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2ECC71">
              <a:alpha val="20000"/>
            </a:srgbClr>
          </a:solidFill>
          <a:ln w="6350">
            <a:solidFill>
              <a:srgbClr val="2ECC71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84378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261872" y="2843784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2ECC71">
              <a:alpha val="20000"/>
            </a:srgbClr>
          </a:solidFill>
          <a:ln w="6350">
            <a:solidFill>
              <a:srgbClr val="2ECC71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1872" y="284378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Image.asset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048256" y="2843784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2ECC71">
              <a:alpha val="20000"/>
            </a:srgbClr>
          </a:solidFill>
          <a:ln w="6350">
            <a:solidFill>
              <a:srgbClr val="2ECC71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8256" y="284378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84048" y="3291840"/>
            <a:ext cx="2615184" cy="713232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34670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To-Do List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" y="3675888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2ECC71">
              <a:alpha val="20000"/>
            </a:srgbClr>
          </a:solidFill>
          <a:ln w="6350">
            <a:solidFill>
              <a:srgbClr val="2ECC71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6758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ListView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261872" y="3675888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2ECC71">
              <a:alpha val="20000"/>
            </a:srgbClr>
          </a:solidFill>
          <a:ln w="6350">
            <a:solidFill>
              <a:srgbClr val="2ECC71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61872" y="36758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setState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048256" y="3675888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2ECC71">
              <a:alpha val="20000"/>
            </a:srgbClr>
          </a:solidFill>
          <a:ln w="6350">
            <a:solidFill>
              <a:srgbClr val="2ECC71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8256" y="36758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Add/Delete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84048" y="4123944"/>
            <a:ext cx="2615184" cy="713232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417880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🌤️ Weather App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" y="4507992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2ECC71">
              <a:alpha val="20000"/>
            </a:srgbClr>
          </a:solidFill>
          <a:ln w="6350">
            <a:solidFill>
              <a:srgbClr val="2ECC71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450799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261872" y="4507992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2ECC71">
              <a:alpha val="20000"/>
            </a:srgbClr>
          </a:solidFill>
          <a:ln w="6350">
            <a:solidFill>
              <a:srgbClr val="2ECC71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61872" y="450799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048256" y="4507992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2ECC71">
              <a:alpha val="20000"/>
            </a:srgbClr>
          </a:solidFill>
          <a:ln w="6350">
            <a:solidFill>
              <a:srgbClr val="2ECC71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48256" y="450799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218688" y="1152144"/>
            <a:ext cx="2834640" cy="3840480"/>
          </a:xfrm>
          <a:prstGeom prst="rect">
            <a:avLst/>
          </a:prstGeom>
          <a:solidFill>
            <a:srgbClr val="0D1B2A"/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18688" y="1152144"/>
            <a:ext cx="2834640" cy="384048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3" name="Text 41"/>
          <p:cNvSpPr/>
          <p:nvPr/>
        </p:nvSpPr>
        <p:spPr>
          <a:xfrm>
            <a:off x="3310128" y="11521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090F"/>
                </a:solidFill>
              </a:rPr>
              <a:t>INTERMEDIATE  (Week 3-4)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328416" y="1627632"/>
            <a:ext cx="2615184" cy="713232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19856" y="168249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Mini Game (like Goblin Slayer!)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419856" y="2011680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FB800">
              <a:alpha val="20000"/>
            </a:srgbClr>
          </a:solidFill>
          <a:ln w="635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19856" y="20116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206240" y="2011680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FB800">
              <a:alpha val="20000"/>
            </a:srgbClr>
          </a:solidFill>
          <a:ln w="635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0" y="20116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992624" y="2011680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FB800">
              <a:alpha val="20000"/>
            </a:srgbClr>
          </a:solidFill>
          <a:ln w="635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92624" y="20116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328416" y="2459736"/>
            <a:ext cx="2615184" cy="713232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19856" y="251460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📰 News Reader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419856" y="2843784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FB800">
              <a:alpha val="20000"/>
            </a:srgbClr>
          </a:solidFill>
          <a:ln w="635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19856" y="284378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ListView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206240" y="2843784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FB800">
              <a:alpha val="20000"/>
            </a:srgbClr>
          </a:solidFill>
          <a:ln w="635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06240" y="284378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992624" y="2843784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FB800">
              <a:alpha val="20000"/>
            </a:srgbClr>
          </a:solidFill>
          <a:ln w="635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92624" y="284378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Navigation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3328416" y="3291840"/>
            <a:ext cx="2615184" cy="713232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19856" y="334670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🍕 Recipe Book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419856" y="3675888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FB800">
              <a:alpha val="20000"/>
            </a:srgbClr>
          </a:solidFill>
          <a:ln w="635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19856" y="36758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206240" y="3675888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FB800">
              <a:alpha val="20000"/>
            </a:srgbClr>
          </a:solidFill>
          <a:ln w="635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06240" y="36758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992624" y="3675888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FB800">
              <a:alpha val="20000"/>
            </a:srgbClr>
          </a:solidFill>
          <a:ln w="635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92624" y="36758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Images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3328416" y="4123944"/>
            <a:ext cx="2615184" cy="713232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19856" y="417880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Chat UI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3419856" y="4507992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FB800">
              <a:alpha val="20000"/>
            </a:srgbClr>
          </a:solidFill>
          <a:ln w="635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19856" y="450799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206240" y="4507992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FB800">
              <a:alpha val="20000"/>
            </a:srgbClr>
          </a:solidFill>
          <a:ln w="635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06240" y="450799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Realtime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992624" y="4507992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FB800">
              <a:alpha val="20000"/>
            </a:srgbClr>
          </a:solidFill>
          <a:ln w="635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92624" y="450799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6163056" y="1152144"/>
            <a:ext cx="2834640" cy="38404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63056" y="1152144"/>
            <a:ext cx="2834640" cy="3840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8" name="Text 76"/>
          <p:cNvSpPr/>
          <p:nvPr/>
        </p:nvSpPr>
        <p:spPr>
          <a:xfrm>
            <a:off x="6254496" y="11521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090F"/>
                </a:solidFill>
              </a:rPr>
              <a:t>ADVANCED  (Final Project)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272784" y="1627632"/>
            <a:ext cx="2615184" cy="713232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64224" y="168249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🏥 Health Tracker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6364224" y="2011680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64224" y="20116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Charts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7150608" y="2011680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50608" y="20116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SharedPrefs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7936992" y="2011680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936992" y="20116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6272784" y="2459736"/>
            <a:ext cx="2615184" cy="713232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364224" y="251460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🛒 E-Commerce UI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6364224" y="2843784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364224" y="284378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7150608" y="2843784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50608" y="284378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7936992" y="2843784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936992" y="284378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Stripe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6272784" y="3291840"/>
            <a:ext cx="2615184" cy="713232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364224" y="334670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📍 Map &amp; Location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6364224" y="3675888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364224" y="36758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google_maps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7150608" y="3675888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150608" y="36758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Geolocation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7936992" y="3675888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936992" y="36758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Markers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6272784" y="4123944"/>
            <a:ext cx="2615184" cy="713232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364224" y="417880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AI Chatbot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6364224" y="4507992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364224" y="450799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API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7150608" y="4507992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150608" y="450799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Streams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7936992" y="4507992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936992" y="450799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UI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91524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0B4C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Resources &amp; Community — Where to Go Next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2816352" cy="42976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"/>
            <a:ext cx="2816352" cy="3840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836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📘  Official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152144"/>
            <a:ext cx="2633472" cy="640080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52144"/>
            <a:ext cx="45720" cy="6400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" y="120700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flutter.dev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docs, codelabs, cookbook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901952"/>
            <a:ext cx="2633472" cy="640080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901952"/>
            <a:ext cx="45720" cy="6400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" y="195681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pub.dev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" y="22311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registry — find anything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2633472" cy="640080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651760"/>
            <a:ext cx="45720" cy="6400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" y="27066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dart.dev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" y="29809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language tour &amp; docs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401568"/>
            <a:ext cx="2633472" cy="640080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401568"/>
            <a:ext cx="45720" cy="6400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" y="345643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Flutter Codelabs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" y="37307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hands-on tutorials by Google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151376"/>
            <a:ext cx="2633472" cy="640080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51376"/>
            <a:ext cx="45720" cy="6400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" y="420624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DartPad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" y="44805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Dart/Flutter in the browser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658368"/>
            <a:ext cx="2816352" cy="4297680"/>
          </a:xfrm>
          <a:prstGeom prst="rect">
            <a:avLst/>
          </a:prstGeom>
          <a:solidFill>
            <a:srgbClr val="0D1B2A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658368"/>
            <a:ext cx="2816352" cy="384048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0" name="Text 28"/>
          <p:cNvSpPr/>
          <p:nvPr/>
        </p:nvSpPr>
        <p:spPr>
          <a:xfrm>
            <a:off x="3291840" y="65836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 Learn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91840" y="1152144"/>
            <a:ext cx="2633472" cy="640080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1152144"/>
            <a:ext cx="45720" cy="64008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3" name="Text 31"/>
          <p:cNvSpPr/>
          <p:nvPr/>
        </p:nvSpPr>
        <p:spPr>
          <a:xfrm>
            <a:off x="3419856" y="120700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Net Ninja (YouTube)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19856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free Flutter course series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91840" y="1901952"/>
            <a:ext cx="2633472" cy="640080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1901952"/>
            <a:ext cx="45720" cy="64008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7" name="Text 35"/>
          <p:cNvSpPr/>
          <p:nvPr/>
        </p:nvSpPr>
        <p:spPr>
          <a:xfrm>
            <a:off x="3419856" y="195681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 Coder (YouTube)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19856" y="22311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&amp; advanced topics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91840" y="2651760"/>
            <a:ext cx="2633472" cy="640080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2651760"/>
            <a:ext cx="45720" cy="64008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1" name="Text 39"/>
          <p:cNvSpPr/>
          <p:nvPr/>
        </p:nvSpPr>
        <p:spPr>
          <a:xfrm>
            <a:off x="3419856" y="27066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Flutter &amp; Dart – Udemy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19856" y="29809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 Schwarzmüller course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91840" y="3401568"/>
            <a:ext cx="2633472" cy="640080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91840" y="3401568"/>
            <a:ext cx="45720" cy="64008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5" name="Text 43"/>
          <p:cNvSpPr/>
          <p:nvPr/>
        </p:nvSpPr>
        <p:spPr>
          <a:xfrm>
            <a:off x="3419856" y="345643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Brewery (Udemy)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419856" y="37307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Angela Yu – beginner friendly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91840" y="4151376"/>
            <a:ext cx="2633472" cy="640080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840" y="4151376"/>
            <a:ext cx="45720" cy="64008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9" name="Text 47"/>
          <p:cNvSpPr/>
          <p:nvPr/>
        </p:nvSpPr>
        <p:spPr>
          <a:xfrm>
            <a:off x="3419856" y="420624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zapp.run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419856" y="44805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playground in browser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26480" y="658368"/>
            <a:ext cx="2816352" cy="4297680"/>
          </a:xfrm>
          <a:prstGeom prst="rect">
            <a:avLst/>
          </a:prstGeom>
          <a:solidFill>
            <a:srgbClr val="0D1B2A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26480" y="658368"/>
            <a:ext cx="2816352" cy="38404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3" name="Text 51"/>
          <p:cNvSpPr/>
          <p:nvPr/>
        </p:nvSpPr>
        <p:spPr>
          <a:xfrm>
            <a:off x="6217920" y="65836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 Community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217920" y="1152144"/>
            <a:ext cx="2633472" cy="640080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17920" y="1152144"/>
            <a:ext cx="45720" cy="6400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6" name="Text 54"/>
          <p:cNvSpPr/>
          <p:nvPr/>
        </p:nvSpPr>
        <p:spPr>
          <a:xfrm>
            <a:off x="6345936" y="120700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r/FlutterDev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345936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— questions &amp; showcase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217920" y="1901952"/>
            <a:ext cx="2633472" cy="640080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17920" y="1901952"/>
            <a:ext cx="45720" cy="6400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0" name="Text 58"/>
          <p:cNvSpPr/>
          <p:nvPr/>
        </p:nvSpPr>
        <p:spPr>
          <a:xfrm>
            <a:off x="6345936" y="195681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Flutter Discord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345936" y="22311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help from 100k+ devs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217920" y="2651760"/>
            <a:ext cx="2633472" cy="640080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17920" y="2651760"/>
            <a:ext cx="45720" cy="6400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4" name="Text 62"/>
          <p:cNvSpPr/>
          <p:nvPr/>
        </p:nvSpPr>
        <p:spPr>
          <a:xfrm>
            <a:off x="6345936" y="27066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Overflow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345936" y="29809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#flutter tag — search first!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217920" y="3401568"/>
            <a:ext cx="2633472" cy="640080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17920" y="3401568"/>
            <a:ext cx="45720" cy="6400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8" name="Text 66"/>
          <p:cNvSpPr/>
          <p:nvPr/>
        </p:nvSpPr>
        <p:spPr>
          <a:xfrm>
            <a:off x="6345936" y="345643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Flutter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345936" y="37307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source, file issues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217920" y="4151376"/>
            <a:ext cx="2633472" cy="640080"/>
          </a:xfrm>
          <a:prstGeom prst="rect">
            <a:avLst/>
          </a:prstGeom>
          <a:solidFill>
            <a:srgbClr val="112236"/>
          </a:solidFill>
          <a:ln w="6350">
            <a:solidFill>
              <a:srgbClr val="1A3A5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17920" y="4151376"/>
            <a:ext cx="45720" cy="6400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72" name="Text 70"/>
          <p:cNvSpPr/>
          <p:nvPr/>
        </p:nvSpPr>
        <p:spPr>
          <a:xfrm>
            <a:off x="6345936" y="420624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Flutter Meetups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345936" y="44805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and online events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91524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🗺️  Your Flutter Learning Roadmap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8046720" cy="0"/>
          </a:xfrm>
          <a:prstGeom prst="line">
            <a:avLst/>
          </a:prstGeom>
          <a:noFill/>
          <a:ln w="25400">
            <a:solidFill>
              <a:srgbClr val="1A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54480"/>
            <a:ext cx="402336" cy="40233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🛠️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111556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2029968"/>
            <a:ext cx="132588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29968"/>
            <a:ext cx="13258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2103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&amp; Hello World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6072" y="250545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SDK, flutter doctor, first run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85416" y="1554480"/>
            <a:ext cx="402336" cy="402336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84248" y="111556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11096" y="2029968"/>
            <a:ext cx="132588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11096" y="2029968"/>
            <a:ext cx="1325880" cy="36576"/>
          </a:xfrm>
          <a:prstGeom prst="rect">
            <a:avLst/>
          </a:prstGeom>
          <a:solidFill>
            <a:srgbClr val="00B4CC"/>
          </a:solidFill>
          <a:ln/>
        </p:spPr>
      </p:sp>
      <p:sp>
        <p:nvSpPr>
          <p:cNvPr id="18" name="Text 16"/>
          <p:cNvSpPr/>
          <p:nvPr/>
        </p:nvSpPr>
        <p:spPr>
          <a:xfrm>
            <a:off x="1984248" y="2103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Widgets &amp; Layout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84248" y="250545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Column, Row, Text, Image, Button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593592" y="1554480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92424" y="111556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19272" y="2029968"/>
            <a:ext cx="132588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9272" y="2029968"/>
            <a:ext cx="1325880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5" name="Text 23"/>
          <p:cNvSpPr/>
          <p:nvPr/>
        </p:nvSpPr>
        <p:spPr>
          <a:xfrm>
            <a:off x="3392424" y="2103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&amp; Interaction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92424" y="250545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setState, hot reload, counter app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01768" y="1554480"/>
            <a:ext cx="402336" cy="402336"/>
          </a:xfrm>
          <a:prstGeom prst="ellipse">
            <a:avLst/>
          </a:prstGeom>
          <a:solidFill>
            <a:srgbClr val="FFB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111556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27448" y="2029968"/>
            <a:ext cx="132588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27448" y="2029968"/>
            <a:ext cx="1325880" cy="36576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103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Navigation &amp; Data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250545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http, JSON, packages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09944" y="1554480"/>
            <a:ext cx="402336" cy="40233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9944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🎮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08776" y="111556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35624" y="2029968"/>
            <a:ext cx="132588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35624" y="2029968"/>
            <a:ext cx="132588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9" name="Text 37"/>
          <p:cNvSpPr/>
          <p:nvPr/>
        </p:nvSpPr>
        <p:spPr>
          <a:xfrm>
            <a:off x="6208776" y="2103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Real Project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08776" y="250545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game or your own idea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818120" y="1554480"/>
            <a:ext cx="402336" cy="40233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18120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616952" y="111556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4+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543800" y="2029968"/>
            <a:ext cx="132588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43800" y="2029968"/>
            <a:ext cx="132588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6" name="Text 44"/>
          <p:cNvSpPr/>
          <p:nvPr/>
        </p:nvSpPr>
        <p:spPr>
          <a:xfrm>
            <a:off x="7616952" y="2103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Polish &amp; Deploy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616952" y="250545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Firebase, Google Play / web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74320" y="3749040"/>
            <a:ext cx="8595360" cy="0"/>
          </a:xfrm>
          <a:prstGeom prst="line">
            <a:avLst/>
          </a:prstGeom>
          <a:noFill/>
          <a:ln w="12700">
            <a:solidFill>
              <a:srgbClr val="1A3A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38221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95B0"/>
                </a:solidFill>
              </a:rPr>
              <a:t>3 PRINCIPLES THAT SEPARATE GREAT STUDENTS FROM GOOD ONES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" y="4133088"/>
            <a:ext cx="2816352" cy="850392"/>
          </a:xfrm>
          <a:prstGeom prst="rect">
            <a:avLst/>
          </a:prstGeom>
          <a:solidFill>
            <a:srgbClr val="0D1B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1696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Build → Break → Fix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11480" y="4480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things on purpose. You learn most when debugging.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0" y="4133088"/>
            <a:ext cx="2816352" cy="850392"/>
          </a:xfrm>
          <a:prstGeom prst="rect">
            <a:avLst/>
          </a:prstGeom>
          <a:solidFill>
            <a:srgbClr val="0D1B2A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37560" y="41696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Show Your Work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337560" y="4480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your app to someone every week. Accountability matters.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26480" y="4133088"/>
            <a:ext cx="2816352" cy="850392"/>
          </a:xfrm>
          <a:prstGeom prst="rect">
            <a:avLst/>
          </a:prstGeom>
          <a:solidFill>
            <a:srgbClr val="0D1B2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63640" y="41696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🧪  Clone Before Create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263640" y="4480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an app you love (WhatsApp UI, TikTok scroll) to learn fast.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1944</Words>
  <Application>Microsoft Office PowerPoint</Application>
  <PresentationFormat>On-screen Show (16:9)</PresentationFormat>
  <Paragraphs>449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Project Guide – From Zero to App</dc:title>
  <dc:subject>PptxGenJS Presentation</dc:subject>
  <dc:creator>PptxGenJS</dc:creator>
  <cp:lastModifiedBy>CTS</cp:lastModifiedBy>
  <cp:revision>1</cp:revision>
  <dcterms:created xsi:type="dcterms:W3CDTF">2026-04-13T22:05:31Z</dcterms:created>
  <dcterms:modified xsi:type="dcterms:W3CDTF">2026-04-13T22:09:25Z</dcterms:modified>
</cp:coreProperties>
</file>