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69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Payne, "Flutter App Development: How to Write for iOS and Android at Once" (Apress, 2024), Chapter 5.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70–71 (Figure 5-1 and opening framing).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70–72 (Meet the Button Family; Figure 5-2; onPressed usage).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72–73 (ElevatedButton; TextButton and IconButton examples).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p. 73 (Figure 5-3; FAB usage within Scaffold).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73–74 (SegmentedButton example and discussion).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74–75 (CupertinoButton guidance and import; Dismissible definition + example).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p. 75 (Custom gestures motivation and gesture types table; note about Pan vs Drag).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75–78 (Steps 1–4; Step 1 gesture/action table; wrapping each Person with GestureDetector).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p. 78 (Step 4 table mapping gestures to GestureDetector callbacks).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78–79 (Example 1; Figure 5-4; onLongPress handler).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80–81 (Example 2; Figure 5-5; scale-based pinch-out logic).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pp. 81–82 (Example 3; Figure 5-6; horizontal drag start/update/end logic).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Rap Payne (2024), Chapter 5, p. 83 (Conclusion: gestures are intuitive; event handlers may be async and use await).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97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Gestures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buttons, Dismissible, and GestureDetector patterns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777240"/>
            <a:ext cx="3474720" cy="5394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/mnt/data/ch5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71786"/>
            <a:ext cx="3291840" cy="50058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Development (Rap Payne, 2024)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gestures matter in Flutter UI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59" y="676656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frames gestures as the bridge from UI to behavior.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698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 of gesture handling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widgets: gestures are “pre-baked” (e.g., buttons know how to be pressed).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widgets: you decide gestures + behaviors, then implement them with GestureDetector.Common gestures: tap, double-tap, long press, swipe (drag), pinch (scale).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1024128"/>
            <a:ext cx="4754880" cy="5394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86600" y="1225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UI with many gestures</a:t>
            </a:r>
            <a:endParaRPr lang="en-US" sz="1300" dirty="0"/>
          </a:p>
        </p:txBody>
      </p:sp>
      <p:pic>
        <p:nvPicPr>
          <p:cNvPr id="10" name="Image 0" descr="/mnt/data/fig5_1_sho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731" y="1527048"/>
            <a:ext cx="3918857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564" y="539496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gestures: the Button family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59" y="699516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are designed to respond to presses via onPressed.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69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widgets “know” their purpose: be pressed and run a callback.Every button exposes an onPressed function that returns void.Different button types are just specialized UX presentations.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715768"/>
            <a:ext cx="5852160" cy="1417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5394960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IconButton(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icon: const Icon(Icons.delete),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The callback function must return 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onPressed: () =&gt; print("tapped"),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069848"/>
            <a:ext cx="4754880" cy="3520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86600" y="1280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button widgets</a:t>
            </a:r>
            <a:endParaRPr lang="en-US" sz="1300" dirty="0"/>
          </a:p>
        </p:txBody>
      </p:sp>
      <p:pic>
        <p:nvPicPr>
          <p:cNvPr id="12" name="Image 0" descr="/mnt/data/button_family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44" y="1527048"/>
            <a:ext cx="3685032" cy="28346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58000" y="4773168"/>
            <a:ext cx="4754880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4773168"/>
            <a:ext cx="47548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4974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“press” widgets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78040" y="532180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TextButton • ElevatedButton • IconButton • FloatingActionButton • SegmentedButton • CupertinoButton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in detail: Elevated vs flat buttons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5043" y="64465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visual emphasis and platform conventions.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3545738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61288"/>
            <a:ext cx="3545738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62456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ElevatedButton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290565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to “float” above the page.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 want a strong call-to-action.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127248"/>
            <a:ext cx="3088538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91840"/>
            <a:ext cx="2631338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ElevatedButton(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onPressed: () =&gt; {},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const Text("ElevatedButton"),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2978" y="1161288"/>
            <a:ext cx="3545738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978" y="1161288"/>
            <a:ext cx="354573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3018" y="1362456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TextButton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3018" y="1709928"/>
            <a:ext cx="290565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subtle, flat button.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secondary actions (e.g., BACK, UNDO).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51578" y="3127248"/>
            <a:ext cx="3088538" cy="1417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0178" y="3291840"/>
            <a:ext cx="2631338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TextButton(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onPressed: () =&gt; {},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const Text("TextButton"),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1597" y="1161288"/>
            <a:ext cx="3545738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51597" y="1161288"/>
            <a:ext cx="354573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1637" y="1362456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IconButton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1637" y="1709928"/>
            <a:ext cx="290565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TextButton but with an icon.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icon is universally understood (delete, edit, share…).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80197" y="3127248"/>
            <a:ext cx="3088538" cy="1417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8797" y="3291840"/>
            <a:ext cx="2631338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IconButton(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icon: const Icon(Icons.delete),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onPressed: () =&gt; {},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FloatingActionButton (FAB)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59" y="731520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prominent workflow “next step” button, typically in the lower-right.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698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FABs are useful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visible: gives users a clear “do the thing” affordance.Usually tied to the primary action in a screen’s workflow.Often provided via Scaffold.floatingActionButton.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807208"/>
            <a:ext cx="5943600" cy="2788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5486400" cy="2514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build(BuildContext context)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Scaffold(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appBar: ...,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...,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floatingActionButton: FloatingActionButton(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const Icon(Icons.help),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onPressed: (){},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069848"/>
            <a:ext cx="4709160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2801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5-3 (cropped): FAB in the UI</a:t>
            </a:r>
            <a:endParaRPr lang="en-US" sz="1200" dirty="0"/>
          </a:p>
        </p:txBody>
      </p:sp>
      <p:pic>
        <p:nvPicPr>
          <p:cNvPr id="12" name="Image 0" descr="/mnt/data/fig5_3_f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64820"/>
            <a:ext cx="4343400" cy="12104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903720" y="3904488"/>
            <a:ext cx="4709160" cy="2606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03720" y="3904488"/>
            <a:ext cx="470916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41056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integration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23760" y="4453128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Material apps, FABs are considered one of the key scaffold regions (appBar, body, floatingActionButton).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SegmentedButton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662044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related options presented as a single control.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81861"/>
            <a:ext cx="5806440" cy="5760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69848"/>
            <a:ext cx="580644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7101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it’s for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buttons treated as one unit.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 single-selection or multi-selection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filters, modes, and toggles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onSelectionChanged callback typically updates state.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5349240" cy="3611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63240"/>
            <a:ext cx="4892040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SegmentedButton(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emptySelectionAllowed: true,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multiSelectionEnabled: true,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selected: selectedValue, // current selection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onSelectionChanged: (value)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setState(() =&gt; selectedValue = value),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segments: const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ButtonSegment(label: Text('Option 1'), value: 'option1'),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ButtonSegment(label: Text('Option 2'), value: 'option2'),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ButtonSegment(label: Text('Option 3'), value: 'option3'),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1069848"/>
            <a:ext cx="489204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1069848"/>
            <a:ext cx="48920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27101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to remember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618488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selected: the current value(s)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segments: the choices (label + value)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emptySelectionAllowed / multiSelectionEnabled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3355848"/>
            <a:ext cx="48920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3355848"/>
            <a:ext cx="4892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55701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904488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SegmentedButton when your options are mutually related and you want them to read as a single control (instead of several independent buttons).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built-ins: CupertinoButton and Dismissible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6355" y="717804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styling + swipe-to-dismiss behavior.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69848"/>
            <a:ext cx="5806440" cy="2697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69848"/>
            <a:ext cx="58064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7101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CupertinoButton (iOS style)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5166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iPhones. If you use Cupertino widgets, you’ll often wrap your app in CupertinoApp instead of MaterialApp.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import: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44368"/>
            <a:ext cx="548640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'package:flutter/cupertino.dart';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995928"/>
            <a:ext cx="5806440" cy="2834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995928"/>
            <a:ext cx="58064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9709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Dismissible (swipe gesture)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44568"/>
            <a:ext cx="5166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for one purpose: respond to a swipe. Wrap a widget with Dismissible to handle “swipe it away” interactions.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pattern: set background / secondaryBackground and handle onDismissed(direction).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1069848"/>
            <a:ext cx="4892040" cy="5760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2801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Dismissible example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1618488"/>
            <a:ext cx="4434840" cy="4251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783080"/>
            <a:ext cx="3977640" cy="3977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Dismissible(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Blue if swiped right, red if swiped 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Container(color: Colors.blue),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secondaryBackground: Container(color: Colors.red),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onDismissed: (direction)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print("You swiped $direction"),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SomeWidget(),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6053328"/>
            <a:ext cx="443484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616305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you want swipe behavior without dismissal, use GestureDetector instead.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built-ins aren’t enough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59" y="674863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widgets need custom gestures—and you get to invent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69848"/>
            <a:ext cx="60350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69848"/>
            <a:ext cx="603504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710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widgets understand certain gestures because their developers coded those behaviors.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widgets must do the same—but you can go beyond simple presses.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310128"/>
            <a:ext cx="6035040" cy="3383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310128"/>
            <a:ext cx="6035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1129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gesture vocabulary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858768"/>
            <a:ext cx="53949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Tap: press (includes double-tap)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LongPress: hold for ~1–2 seconds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pinch/unpinch (separate fingers)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Drag: swipe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Pan is similar to Drag; many apps can treat them alike.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1069848"/>
            <a:ext cx="4800600" cy="5623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3167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gestures like a mini-API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1801368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Choose gestures users will discover naturally.2) Make each gesture map to a clear, predictable action.3) Keep interactions consistent across the app.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86600" y="3218688"/>
            <a:ext cx="214884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364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64040" y="3218688"/>
            <a:ext cx="214884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6920" y="3364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LongPress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4041648"/>
            <a:ext cx="214884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41879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64040" y="4041648"/>
            <a:ext cx="214884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41879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GestureDetector: a practical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9272" y="639004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4-step approach for adding gestures to custom widgets.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69848"/>
            <a:ext cx="580644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69848"/>
            <a:ext cx="580644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7101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Decide on your gestures and behaviors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your custom widget as normal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a GestureDetector widget (wrap or nest)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Associate each gesture event with its behavior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47288"/>
            <a:ext cx="5806440" cy="3246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447288"/>
            <a:ext cx="58064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4845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→ action (example design)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78808"/>
            <a:ext cx="53492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88536"/>
            <a:ext cx="21785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75838" y="4288536"/>
            <a:ext cx="27134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81728"/>
            <a:ext cx="534924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91456"/>
            <a:ext cx="21785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5838" y="4791456"/>
            <a:ext cx="27134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 the nice 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184648"/>
            <a:ext cx="53492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94376"/>
            <a:ext cx="21785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75838" y="5294376"/>
            <a:ext cx="27134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 the naughty list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687568"/>
            <a:ext cx="534924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797296"/>
            <a:ext cx="21785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(reverse-pinch)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75838" y="5797296"/>
            <a:ext cx="27134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new person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6190488"/>
            <a:ext cx="53492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6300216"/>
            <a:ext cx="21785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75838" y="6300216"/>
            <a:ext cx="27134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that person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1069848"/>
            <a:ext cx="4892040" cy="5623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12801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 widget with GestureDetector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1645920"/>
            <a:ext cx="4434840" cy="2057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810512"/>
            <a:ext cx="3977640" cy="1783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ListView(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_peopleObjects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.map((person)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GestureDetector(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Person(person: person),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).toList(),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38587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 is invisible—it only listens for events.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20840" y="4453128"/>
            <a:ext cx="489204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0840" y="4453128"/>
            <a:ext cx="4892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465429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mindset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0880" y="5001768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gestures like API endpoints: design first, then wire each event handler to a clearly named method.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 events: quick reference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7529" y="690282"/>
            <a:ext cx="10969806" cy="140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event callback that matches the gesture you designed.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69848"/>
            <a:ext cx="11000232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69848"/>
            <a:ext cx="11000232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71016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 supports many events (including advanced *Start/*End/*Cancel variants). To stay sane, map each UX gesture to a small set of callbacks.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41448"/>
            <a:ext cx="1100023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511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90184" y="25511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Event(s) to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98648"/>
            <a:ext cx="11000232" cy="42062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083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(press)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0184" y="30083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55848"/>
            <a:ext cx="1100023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655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Double-tap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90184" y="34655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onDoubleTap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813048"/>
            <a:ext cx="11000232" cy="42062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227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90184" y="39227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onLongPress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70248"/>
            <a:ext cx="1100023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799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Side-to-side swipe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90184" y="43799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onHorizontalDragUpdate, Start, 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727448"/>
            <a:ext cx="11000232" cy="42062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371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Up-and-down swipe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0184" y="48371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onVerticalDragUpdate, Start, 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5184648"/>
            <a:ext cx="1100023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943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swipe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90184" y="52943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onPanUpdate, Start, 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641848"/>
            <a:ext cx="11000232" cy="42062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751576"/>
            <a:ext cx="4721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90184" y="5751576"/>
            <a:ext cx="5821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onScaleUpdate, Start, End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6217920"/>
            <a:ext cx="1100023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632764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Start/Update/End patterns are ideal when direction, velocity, or distance matters (like swipes).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Reacting to a long press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687208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onLongPress to trigger actions that should not fire on simple taps.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69848"/>
            <a:ext cx="4572000" cy="5623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5-4 (cropped)</a:t>
            </a:r>
            <a:endParaRPr lang="en-US" sz="1200" dirty="0"/>
          </a:p>
        </p:txBody>
      </p:sp>
      <p:pic>
        <p:nvPicPr>
          <p:cNvPr id="8" name="Image 0" descr="/mnt/data/fig5_4_long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9299"/>
            <a:ext cx="4114800" cy="48304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0" y="1069848"/>
            <a:ext cx="6428232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1069848"/>
            <a:ext cx="642823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271016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52160" y="1618488"/>
            <a:ext cx="5788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press ignores quick taps and fires after the user presses for a longer time (about a second or two). In the example, the long press deletes a person from a list.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32120" y="3081528"/>
            <a:ext cx="6428232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246120"/>
            <a:ext cx="5971032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GestureDetector(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Person(person: person),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onLongPress: 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_people.remove(person);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print("Deleted ${person['first']}"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6281928"/>
            <a:ext cx="6428232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6355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long-press for “destructive or advanced” actions to reduce accidental triggers.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Pinching to add a new item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9272" y="665314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scale (pinch/unpinch) events and the scale property.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29400" y="1069848"/>
            <a:ext cx="4983480" cy="5623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12801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5-5 (cropped)</a:t>
            </a:r>
            <a:endParaRPr lang="en-US" sz="1200" dirty="0"/>
          </a:p>
        </p:txBody>
      </p:sp>
      <p:pic>
        <p:nvPicPr>
          <p:cNvPr id="8" name="Image 0" descr="/mnt/data/fig5_5_pi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57846"/>
            <a:ext cx="4526280" cy="46133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069848"/>
            <a:ext cx="580644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069848"/>
            <a:ext cx="58064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27101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618488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whether the user is pinching in or pinching out. A pinch-out (unpinch) indicates “make room” and can mean insert a new item between two existing ones.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3310128"/>
            <a:ext cx="5806440" cy="3429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3310128"/>
            <a:ext cx="58064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51129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3858768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events provide an event object with a scale value.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scale &gt; 1.0, it’s a pinch-out. The example triggers insertion when scale exceeds 2.0.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5138928"/>
            <a:ext cx="534924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5303520"/>
            <a:ext cx="4892040" cy="960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onScaleUpdate: (e)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(e.scale &gt; 2.0)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addPerson(context);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Swiping left or right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7337" y="66751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horizontal drag events to detect direction and trigger different actions.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69848"/>
            <a:ext cx="4572000" cy="5623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5-6 (cropped)</a:t>
            </a:r>
            <a:endParaRPr lang="en-US" sz="1200" dirty="0"/>
          </a:p>
        </p:txBody>
      </p:sp>
      <p:pic>
        <p:nvPicPr>
          <p:cNvPr id="8" name="Image 0" descr="/mnt/data/fig5_6_sw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35620"/>
            <a:ext cx="4114800" cy="50577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0" y="1069848"/>
            <a:ext cx="6428232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1069848"/>
            <a:ext cx="642823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271016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direction is determined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52160" y="1618488"/>
            <a:ext cx="57881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drags ignore Y-direction.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start X position, then compare it to the current X position during updates.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drag end, decide whether it was a left or right swipe.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32120" y="2990088"/>
            <a:ext cx="6428232" cy="3703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154680"/>
            <a:ext cx="5971032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swipeStartX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swipeDirection = "";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GestureDetector(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Person(person: person),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onHorizontalDragStart: (e)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swipeStartX = e.globalPosition.dx;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onHorizontalDragUpdate: (e)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swipeDirection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(e.globalPosition.dx &gt; swipeStartX) ? "Right" : "Left";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onHorizontalDragEnd: (e)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(swipeDirection == "Right")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updatePerson(person, status: "nice");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updatePerson(person, status: "naughty");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089" y="466344"/>
            <a:ext cx="12191695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"/>
            <a:ext cx="110029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9272" y="656934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for responsive, intuitive Flutter UX.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1000232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61288"/>
            <a:ext cx="11000232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62456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Chapter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10360152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widgets (buttons, dismissibles) come with common gestures already implemented.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custom widgets, use GestureDetector to listen for gestures and run behavior code.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the gesture to the right callback (tap, long press, horizontal drag, scale…).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Gestures are designed to be intuitive for users and predictable for developers.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handlers can be async and use await when appropriate.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5916168"/>
            <a:ext cx="11000232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60807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keep gesture handlers small—delegate to well-named methods (and test on real devices).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2235</Words>
  <Application>Microsoft Office PowerPoint</Application>
  <PresentationFormat>Widescreen</PresentationFormat>
  <Paragraphs>269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CTS</cp:lastModifiedBy>
  <cp:revision>3</cp:revision>
  <dcterms:created xsi:type="dcterms:W3CDTF">2026-03-01T20:44:04Z</dcterms:created>
  <dcterms:modified xsi:type="dcterms:W3CDTF">2026-03-01T21:54:28Z</dcterms:modified>
</cp:coreProperties>
</file>