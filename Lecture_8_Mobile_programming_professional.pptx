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4" d="100"/>
          <a:sy n="94" d="100"/>
        </p:scale>
        <p:origin x="245" y="-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269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- Visual asset: cropped figure extracted from uploaded PDF page 144.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Figure 9-1 and Figure 9-2 extracted from the uploaded PDF pages 144–145 for lecture illustration.
- Flutter App Development, Rap Payne, Chapter 9 (uploaded PDF).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Figure 9-1 and Figure 9-2 extracted from the uploaded PDF pages 144–145 for lecture illustration.
- Flutter App Development, Rap Payne, Chapter 9 (uploaded PDF).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Figure 9-1 and Figure 9-2 extracted from the uploaded PDF pages 144–145 for lecture illustration.
- Flutter App Development, Rap Payne, Chapter 9 (uploaded PDF).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Figure 9-1 and Figure 9-2 extracted from the uploaded PDF pages 144–145 for lecture illustration.
- Flutter App Development, Rap Payne, Chapter 9 (uploaded PDF).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Figure 9-1 and Figure 9-2 extracted from the uploaded PDF pages 144–145 for lecture illustration.
- Flutter App Development, Rap Payne, Chapter 9 (uploaded PDF).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Figure 9-1 and Figure 9-2 extracted from the uploaded PDF pages 144–145 for lecture illustration.
- Flutter App Development, Rap Payne, Chapter 9 (uploaded PDF).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Flutter App Development, Rap Payne, Chapter 9 and Chapter 10 (uploaded PDF in this chat).
- Lecture_7_Mobile_Programming.pptx (uploaded by user) used only as a style benchmark for lecture format.
- The final 3 slides contain a compact, lecture-friendly complete implementation adapted from the book’s chapter 9 example.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2C7F2">
              <a:alpha val="18000"/>
            </a:srgbClr>
          </a:solidFill>
          <a:ln w="12700">
            <a:solidFill>
              <a:srgbClr val="22C7F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C6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 • Mobile Programming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C8"/>
                </a:solidFill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D5EF6">
              <a:alpha val="90000"/>
            </a:srgbClr>
          </a:solidFill>
          <a:ln w="12700">
            <a:solidFill>
              <a:srgbClr val="6D5E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93554" y="1414054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26C6A2"/>
          </a:solidFill>
          <a:ln w="12700">
            <a:solidFill>
              <a:srgbClr val="26C6A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970532"/>
            <a:ext cx="62179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F3A"/>
                </a:solidFill>
              </a:rPr>
              <a:t>SEKSION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8368" y="694944"/>
            <a:ext cx="553016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Lecture 8 — REST API &amp; Themes në Flutter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58368" y="1399032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D2E4"/>
                </a:solidFill>
              </a:rPr>
              <a:t>Nga request-i HTTP te një aplikacion CRUD i stiluar mirë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190195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E2EF"/>
                </a:solidFill>
              </a:rPr>
              <a:t>Për studentë të vitit të tretë në Inxhinieri Kompjuterike • fokus te kuptimi konceptual, kodi praktik dhe vendimet e dizajnit.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" y="2450592"/>
            <a:ext cx="5029200" cy="0"/>
          </a:xfrm>
          <a:prstGeom prst="line">
            <a:avLst/>
          </a:prstGeom>
          <a:noFill/>
          <a:ln w="12700">
            <a:solidFill>
              <a:srgbClr val="3752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651760"/>
            <a:ext cx="521208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Në këtë seksion do të kalojmë nga teoria te implementimi i plotë: request/response, FutureBuilder, deserializimi i tipizuar, dhe më pas theming semantik me ColorScheme, TextTheme dhe widget-specific themes.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720840" y="749808"/>
            <a:ext cx="4800600" cy="5349240"/>
          </a:xfrm>
          <a:prstGeom prst="roundRect">
            <a:avLst>
              <a:gd name="adj" fmla="val 1524"/>
            </a:avLst>
          </a:prstGeom>
          <a:solidFill>
            <a:srgbClr val="10243F"/>
          </a:solidFill>
          <a:ln w="12700">
            <a:solidFill>
              <a:srgbClr val="1E3A64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5" name="Image 0" descr="/mnt/data/phone_1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532" y="960120"/>
            <a:ext cx="3173215" cy="489204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086600" y="5449824"/>
            <a:ext cx="406908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23760" y="5541264"/>
            <a:ext cx="3794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</a:rPr>
              <a:t>Flutter App Development • Rap Payne • Kap. 9–10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Lecture 8 • Hyrje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614607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Pse këta dy kapituj janë kritikë për Flutter?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0515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Kapitujt 9–10 janë pika ku aplikacioni kalon nga “demo UI” në produkt software.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30352" y="150876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81344" y="1508760"/>
            <a:ext cx="5468112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1353312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403604"/>
            <a:ext cx="1234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</a:rPr>
              <a:t>OUTCOMES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382512" y="135331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40360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</a:rPr>
              <a:t>PSE KANË RËNDËSI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49808" y="1783080"/>
            <a:ext cx="502920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3162" indent="-153162">
              <a:buSzPct val="100000"/>
              <a:buChar char="•"/>
            </a:pPr>
            <a:r>
              <a:rPr lang="en-US" sz="134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Të shpjegoni pse aplikacioni Flutter komunikon me API dhe jo drejtpërdrejt me databazën në cloud.</a:t>
            </a:r>
            <a:endParaRPr lang="en-US" sz="1340" dirty="0"/>
          </a:p>
          <a:p>
            <a:pPr marL="153162" indent="-153162">
              <a:buSzPct val="100000"/>
              <a:buChar char="•"/>
            </a:pPr>
            <a:r>
              <a:rPr lang="en-US" sz="134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Të zgjidhni mes GET, POST, PUT, PATCH dhe DELETE sipas semantikës së operacionit.</a:t>
            </a:r>
            <a:endParaRPr lang="en-US" sz="1340" dirty="0"/>
          </a:p>
          <a:p>
            <a:pPr marL="153162" indent="-153162">
              <a:buSzPct val="100000"/>
              <a:buChar char="•"/>
            </a:pPr>
            <a:r>
              <a:rPr lang="en-US" sz="134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Të lidhni përgjigjen e rrjetit me UI pa bllokuar aplikacionin: FutureBuilder, StreamBuilder, loader, empty state dhe error state.</a:t>
            </a:r>
            <a:endParaRPr lang="en-US" sz="1340" dirty="0"/>
          </a:p>
          <a:p>
            <a:pPr marL="153162" indent="-153162">
              <a:buSzPct val="100000"/>
              <a:buChar char="•"/>
            </a:pPr>
            <a:r>
              <a:rPr lang="en-US" sz="134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Të ndërtoni modele strongly typed dhe të deserializoni JSON në objekte Dart pa humbur qartësinë arkitekturore.</a:t>
            </a:r>
            <a:endParaRPr lang="en-US" sz="1340" dirty="0"/>
          </a:p>
          <a:p>
            <a:pPr marL="153162" indent="-153162">
              <a:buSzPct val="100000"/>
              <a:buChar char="•"/>
            </a:pPr>
            <a:r>
              <a:rPr lang="en-US" sz="134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Të dizajnoni një theme profesional me ColorScheme, TextTheme dhe widget-specific themes, në vend që të hardcode-oni stile kudo.</a:t>
            </a:r>
            <a:endParaRPr lang="en-US" sz="1340" dirty="0"/>
          </a:p>
        </p:txBody>
      </p:sp>
      <p:sp>
        <p:nvSpPr>
          <p:cNvPr id="15" name="Shape 13"/>
          <p:cNvSpPr/>
          <p:nvPr/>
        </p:nvSpPr>
        <p:spPr>
          <a:xfrm>
            <a:off x="6400800" y="1755648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65392" y="1938528"/>
            <a:ext cx="0" cy="822960"/>
          </a:xfrm>
          <a:prstGeom prst="line">
            <a:avLst/>
          </a:prstGeom>
          <a:noFill/>
          <a:ln w="38100">
            <a:solidFill>
              <a:srgbClr val="26C6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911096"/>
            <a:ext cx="4617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Pika e kthesës në semestër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20840" y="2148840"/>
            <a:ext cx="46177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 err="1">
                <a:solidFill>
                  <a:srgbClr val="132033"/>
                </a:solidFill>
              </a:rPr>
              <a:t>Këtu</a:t>
            </a:r>
            <a:r>
              <a:rPr lang="en-US" sz="1200" dirty="0">
                <a:solidFill>
                  <a:srgbClr val="132033"/>
                </a:solidFill>
              </a:rPr>
              <a:t> ne </a:t>
            </a:r>
            <a:r>
              <a:rPr lang="en-US" sz="1200" dirty="0" err="1">
                <a:solidFill>
                  <a:srgbClr val="132033"/>
                </a:solidFill>
              </a:rPr>
              <a:t>fillojmë</a:t>
            </a:r>
            <a:r>
              <a:rPr lang="en-US" sz="1200" dirty="0">
                <a:solidFill>
                  <a:srgbClr val="132033"/>
                </a:solidFill>
              </a:rPr>
              <a:t> të ndërtojnë aplikacione që </a:t>
            </a:r>
            <a:r>
              <a:rPr lang="en-US" sz="1200" dirty="0" err="1">
                <a:solidFill>
                  <a:srgbClr val="132033"/>
                </a:solidFill>
              </a:rPr>
              <a:t>kanë</a:t>
            </a:r>
            <a:r>
              <a:rPr lang="en-US" sz="1200" dirty="0">
                <a:solidFill>
                  <a:srgbClr val="132033"/>
                </a:solidFill>
              </a:rPr>
              <a:t> </a:t>
            </a:r>
            <a:r>
              <a:rPr lang="en-US" sz="1200" dirty="0" err="1">
                <a:solidFill>
                  <a:srgbClr val="132033"/>
                </a:solidFill>
              </a:rPr>
              <a:t>të</a:t>
            </a:r>
            <a:r>
              <a:rPr lang="en-US" sz="1200" dirty="0">
                <a:solidFill>
                  <a:srgbClr val="132033"/>
                </a:solidFill>
              </a:rPr>
              <a:t> </a:t>
            </a:r>
            <a:r>
              <a:rPr lang="en-US" sz="1200" dirty="0" err="1">
                <a:solidFill>
                  <a:srgbClr val="132033"/>
                </a:solidFill>
              </a:rPr>
              <a:t>dhëna</a:t>
            </a:r>
            <a:r>
              <a:rPr lang="en-US" sz="1200" dirty="0">
                <a:solidFill>
                  <a:srgbClr val="132033"/>
                </a:solidFill>
              </a:rPr>
              <a:t> reale, gjendje pritjeje, gabime rrjeti, strukturë kodesh dhe identitet vizual të qëndrueshëm.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3154680"/>
            <a:ext cx="498348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3162" indent="-153162">
              <a:buSzPct val="100000"/>
              <a:buChar char="•"/>
            </a:pPr>
            <a:r>
              <a:rPr lang="en-US" sz="13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Kapitulli 9 jep themelet e komunikimit klient–server: requests, JSON, asinkroni dhe një shembull të plotë CRUD.</a:t>
            </a:r>
            <a:endParaRPr lang="en-US" sz="1340" dirty="0"/>
          </a:p>
          <a:p>
            <a:pPr marL="153162" indent="-153162">
              <a:buSzPct val="100000"/>
              <a:buChar char="•"/>
            </a:pPr>
            <a:r>
              <a:rPr lang="en-US" sz="13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Kapitulli 10 e shndërron të njëjtin aplikacion në një produkt më të lexueshëm, më të mirëmbajtshëm dhe më konsistent vizualisht.</a:t>
            </a:r>
            <a:endParaRPr lang="en-US" sz="1340" dirty="0"/>
          </a:p>
          <a:p>
            <a:pPr marL="153162" indent="-153162">
              <a:buSzPct val="100000"/>
              <a:buChar char="•"/>
            </a:pPr>
            <a:r>
              <a:rPr lang="en-US" sz="13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Së bashku, këta kapituj janë ura mes zhvillimit teknik dhe cilësisë së UX/UI që pritet në projektet e vitit të tretë.</a:t>
            </a:r>
            <a:endParaRPr lang="en-US" sz="13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Lecture 8 • Strukturë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32033"/>
                </a:solidFill>
              </a:rPr>
              <a:t>Kohëzgjataj</a:t>
            </a:r>
            <a:r>
              <a:rPr lang="en-US" sz="2400" b="1" dirty="0">
                <a:solidFill>
                  <a:srgbClr val="132033"/>
                </a:solidFill>
              </a:rPr>
              <a:t> e </a:t>
            </a:r>
            <a:r>
              <a:rPr lang="en-US" sz="2400" b="1" dirty="0" err="1">
                <a:solidFill>
                  <a:srgbClr val="132033"/>
                </a:solidFill>
              </a:rPr>
              <a:t>shpjegimit</a:t>
            </a:r>
            <a:r>
              <a:rPr lang="en-US" sz="2400" b="1" dirty="0">
                <a:solidFill>
                  <a:srgbClr val="132033"/>
                </a:solidFill>
              </a:rPr>
              <a:t> (135 minuta)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Secili bllok është menduar si segment ligjërate + demo + diskutim teknik.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646305"/>
              </p:ext>
            </p:extLst>
          </p:nvPr>
        </p:nvGraphicFramePr>
        <p:xfrm>
          <a:off x="566928" y="1508760"/>
          <a:ext cx="10607040" cy="294436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Segmenti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Koha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Përmbajtja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Rezultati didaktik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 Hyrje në API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 min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Çfarë është API call, klient–server, request/response, JSON, endpoint-e.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Studenti kupton problem space-in dhe fjalorin bazë.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 HTTP methods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 min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GET/DELETE, POST/PUT/PATCH, headers, body, URI, status codes.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Studenti bën dallimin mes operacioneve CRUD dhe semantikës HTTP.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 UI + asinkroni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 min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Brute force, FutureBuilder, StreamBuilder, loading/error/empty states.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Studenti lidh rrjetin me widget tree pa anti-pattern-e.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 CRUD shembulli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 min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people_maintenance: listë, delete, upsert form, typed model, project structure.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Studenti sheh si ndërtohet një mini-app real me Flutter.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 Themes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 min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ColorScheme, TextTheme, AppBar/ListTile themes, copyWith, light/dark.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Studenti di të krijojë një design system minimal në Flutter.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6. Kod i plotë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 min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 slajde me kod të plotë të ligjëratës, gati për demonstrim në klasë.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Studenti mund ta rindërtojë projektin pas orës.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2C7F2">
              <a:alpha val="18000"/>
            </a:srgbClr>
          </a:solidFill>
          <a:ln w="12700">
            <a:solidFill>
              <a:srgbClr val="22C7F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C6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 • Mobile Programming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C8"/>
                </a:solidFill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D5EF6">
              <a:alpha val="90000"/>
            </a:srgbClr>
          </a:solidFill>
          <a:ln w="12700">
            <a:solidFill>
              <a:srgbClr val="6D5E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75147" y="1399032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26C6A2"/>
          </a:solidFill>
          <a:ln w="12700">
            <a:solidFill>
              <a:srgbClr val="26C6A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04088" y="1970532"/>
            <a:ext cx="62179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F3A"/>
                </a:solidFill>
              </a:rPr>
              <a:t>SEKSION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04088" y="548640"/>
            <a:ext cx="579468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Kapitulli 9 — RESTful API Calls with HTTP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58368" y="1399032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D2E4"/>
                </a:solidFill>
              </a:rPr>
              <a:t>Nga request-et bazë deri te shembulli i plotë CRUD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190195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E2EF"/>
                </a:solidFill>
              </a:rPr>
              <a:t>Për studentë të vitit të tretë në Inxhinieri Kompjuterike • fokus te kuptimi konceptual, kodi praktik dhe vendimet e dizajnit.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" y="2450592"/>
            <a:ext cx="5029200" cy="0"/>
          </a:xfrm>
          <a:prstGeom prst="line">
            <a:avLst/>
          </a:prstGeom>
          <a:noFill/>
          <a:ln w="12700">
            <a:solidFill>
              <a:srgbClr val="3752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651760"/>
            <a:ext cx="521208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Në këtë seksion do të kalojmë nga teoria te implementimi i plotë: request/response, FutureBuilder, deserializimi i tipizuar, dhe më pas theming semantik me ColorScheme, TextTheme dhe widget-specific themes.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720840" y="749808"/>
            <a:ext cx="4800600" cy="5349240"/>
          </a:xfrm>
          <a:prstGeom prst="roundRect">
            <a:avLst>
              <a:gd name="adj" fmla="val 1524"/>
            </a:avLst>
          </a:prstGeom>
          <a:solidFill>
            <a:srgbClr val="10243F"/>
          </a:solidFill>
          <a:ln w="12700">
            <a:solidFill>
              <a:srgbClr val="1E3A64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5" name="Image 0" descr="/mnt/data/phone_1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532" y="960120"/>
            <a:ext cx="3173215" cy="489204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086600" y="5449824"/>
            <a:ext cx="406908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23760" y="5541264"/>
            <a:ext cx="3794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</a:rPr>
              <a:t>Flutter App Development • Rap Payne • Kap. 9–10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Kapitulli 9 • Koncepti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Çfarë është një API call?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Në aplikacionet mobile, API është ndërfaqja standarde midis UI-së dhe shërbimeve të backend-it.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68880" y="2743200"/>
            <a:ext cx="502920" cy="292608"/>
          </a:xfrm>
          <a:prstGeom prst="chevron">
            <a:avLst/>
          </a:prstGeom>
          <a:solidFill>
            <a:srgbClr val="22C7F2"/>
          </a:solidFill>
          <a:ln w="12700">
            <a:solidFill>
              <a:srgbClr val="22C7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2779776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</a:rPr>
              <a:t>HTTPS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541264" y="2743200"/>
            <a:ext cx="502920" cy="292608"/>
          </a:xfrm>
          <a:prstGeom prst="chevron">
            <a:avLst/>
          </a:prstGeom>
          <a:solidFill>
            <a:srgbClr val="22C7F2"/>
          </a:solidFill>
          <a:ln w="12700">
            <a:solidFill>
              <a:srgbClr val="22C7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86984" y="2779776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</a:rPr>
              <a:t>SQL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1520" y="210312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221284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Flutter Client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450592"/>
            <a:ext cx="15544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UI, validim input-i, navigim, serializim/deserializim JSON, menaxhim i loading/error state.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71800" y="196596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08960" y="207568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API Server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0" y="2313432"/>
            <a:ext cx="22860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Autentikim, autorizim, business rules, validim i të dhënave, logging, rate limiting, versionim.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53328" y="210312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90488" y="221284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Databaza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90488" y="2450592"/>
            <a:ext cx="15544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Persistenca reale e të dhënave, query-t, constraints dhe transaksionet.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321040" y="1755648"/>
            <a:ext cx="3200400" cy="411480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485632" y="1938528"/>
            <a:ext cx="0" cy="3749040"/>
          </a:xfrm>
          <a:prstGeom prst="line">
            <a:avLst/>
          </a:prstGeom>
          <a:noFill/>
          <a:ln w="38100">
            <a:solidFill>
              <a:srgbClr val="6D5E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41080" y="1911096"/>
            <a:ext cx="2788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Pse jo lidhje direkte me DB?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41080" y="2148840"/>
            <a:ext cx="2788920" cy="3584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Një aplikacion publik nuk duhet të ketë kredenciale databaze brenda binarit. API shërben si shtresë kontrolli: kufizon operacionet, verifikon përdoruesin dhe mbron integritetin e të dhënave.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9808" y="4160520"/>
            <a:ext cx="72237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</a:rPr>
              <a:t>Formati tipik i të dhënave është JSON. Flutter e merr JSON si string, e dekodon në Map/List dhe më pas e kthen në modele Dart.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Kapitulli 9 • Lifecycle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Lifecycle i një request-i HTTP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Ky është rrjedhimi që duhet ta keni në mendje kur dizajnoni çdo ekran me data remote.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2194560"/>
            <a:ext cx="1325880" cy="21031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304288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Trigger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542032"/>
            <a:ext cx="10515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User action ose initState/Future i memoruar nis procesin.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67712" y="2194560"/>
            <a:ext cx="1325880" cy="210312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04872" y="2304288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Build URI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04872" y="2542032"/>
            <a:ext cx="10515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Path, query params, headers dhe eventualisht payload JSON.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9624" y="2194560"/>
            <a:ext cx="1325880" cy="21031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86784" y="2304288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Send request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86784" y="2542032"/>
            <a:ext cx="10515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Përdor package:http me await dhe try/catch.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31536" y="2194560"/>
            <a:ext cx="1325880" cy="210312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68696" y="2304288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Receive response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68696" y="2542032"/>
            <a:ext cx="10515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Lexo statusCode, headers dhe body. Mos supozo sukses.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13448" y="2194560"/>
            <a:ext cx="1325880" cy="21031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50608" y="2304288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Decode JSON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50608" y="2542032"/>
            <a:ext cx="10515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jsonDecode kthen Map ose List dinamike.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595360" y="2194560"/>
            <a:ext cx="1325880" cy="210312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732520" y="2304288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Map to model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32520" y="2542032"/>
            <a:ext cx="10515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fromJson / fromJsonArray krijon objekte strongly typed.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177272" y="2194560"/>
            <a:ext cx="1325880" cy="21031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314432" y="2304288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Render UI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14432" y="2542032"/>
            <a:ext cx="10515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FutureBuilder ose setState e kthen rezultatin në widget-e.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039112" y="2999232"/>
            <a:ext cx="201168" cy="164592"/>
          </a:xfrm>
          <a:prstGeom prst="chevron">
            <a:avLst/>
          </a:prstGeom>
          <a:solidFill>
            <a:srgbClr val="22C7F2"/>
          </a:solidFill>
          <a:ln w="12700">
            <a:solidFill>
              <a:srgbClr val="22C7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21024" y="2999232"/>
            <a:ext cx="201168" cy="164592"/>
          </a:xfrm>
          <a:prstGeom prst="chevron">
            <a:avLst/>
          </a:prstGeom>
          <a:solidFill>
            <a:srgbClr val="22C7F2"/>
          </a:solidFill>
          <a:ln w="12700">
            <a:solidFill>
              <a:srgbClr val="22C7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02936" y="2999232"/>
            <a:ext cx="201168" cy="164592"/>
          </a:xfrm>
          <a:prstGeom prst="chevron">
            <a:avLst/>
          </a:prstGeom>
          <a:solidFill>
            <a:srgbClr val="22C7F2"/>
          </a:solidFill>
          <a:ln w="12700">
            <a:solidFill>
              <a:srgbClr val="22C7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84848" y="2999232"/>
            <a:ext cx="201168" cy="164592"/>
          </a:xfrm>
          <a:prstGeom prst="chevron">
            <a:avLst/>
          </a:prstGeom>
          <a:solidFill>
            <a:srgbClr val="22C7F2"/>
          </a:solidFill>
          <a:ln w="12700">
            <a:solidFill>
              <a:srgbClr val="22C7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66760" y="2999232"/>
            <a:ext cx="201168" cy="164592"/>
          </a:xfrm>
          <a:prstGeom prst="chevron">
            <a:avLst/>
          </a:prstGeom>
          <a:solidFill>
            <a:srgbClr val="22C7F2"/>
          </a:solidFill>
          <a:ln w="12700">
            <a:solidFill>
              <a:srgbClr val="22C7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948672" y="2999232"/>
            <a:ext cx="201168" cy="164592"/>
          </a:xfrm>
          <a:prstGeom prst="chevron">
            <a:avLst/>
          </a:prstGeom>
          <a:solidFill>
            <a:srgbClr val="22C7F2"/>
          </a:solidFill>
          <a:ln w="12700">
            <a:solidFill>
              <a:srgbClr val="22C7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6384" y="470916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50976" y="4892040"/>
            <a:ext cx="0" cy="685800"/>
          </a:xfrm>
          <a:prstGeom prst="line">
            <a:avLst/>
          </a:prstGeom>
          <a:noFill/>
          <a:ln w="38100">
            <a:solidFill>
              <a:srgbClr val="F4B9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06424" y="4864608"/>
            <a:ext cx="10561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Mesazh pedagogjik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06424" y="5102352"/>
            <a:ext cx="1056132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Gabimet më të zakonshme në klasë ndodhin në tre pika: request i nisur brenda build(), injorimi i status code-it, dhe përdorimi i Map&lt;String, dynamic&gt; kudo pa model tipizuar.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Kapitulli 9 • HTTP verbs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Semantika e metodave HTTP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CRUD nuk është vetëm akronim; secila metodë ka kuptim specifik dhe duhet përdorur me qëllim.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600200"/>
          <a:ext cx="10515600" cy="230428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Metoda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Përdorimi tipik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Body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Idempotente?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Për studentin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Lexon një burim ose koleksion.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Korrespondon me “Read”; përdoret për listim dhe detaj.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Krijon një burim të ri.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Korrespondon me “Create”; serveri zakonisht gjeneron ID-në.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Zëvendëson një burim ekzistues.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Përdore kur dërgon gjendjen e plotë të objektit.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PATCH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Ndryshon vetëm një pjesë të burimit.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Jo / varet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Më ekonomik për update parcial, por API duhet ta mbështesë.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DELETE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Fshin një burim.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Zakonisht jo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Korrespondon me “Delete”; rifresko UI-n pas suksesit.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04672" y="4754880"/>
            <a:ext cx="333756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69264" y="4937760"/>
            <a:ext cx="0" cy="548640"/>
          </a:xfrm>
          <a:prstGeom prst="line">
            <a:avLst/>
          </a:prstGeom>
          <a:noFill/>
          <a:ln w="38100">
            <a:solidFill>
              <a:srgbClr val="26C6A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24712" y="491032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Rregull praktik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4712" y="5148072"/>
            <a:ext cx="29260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Mos përdor POST për çdo gjë vetëm sepse “funksionon”. Semantika ndihmon debug, dokumentim dhe bashkëpunim me backend-in.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34840" y="475488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99432" y="4937760"/>
            <a:ext cx="0" cy="548640"/>
          </a:xfrm>
          <a:prstGeom prst="line">
            <a:avLst/>
          </a:prstGeom>
          <a:noFill/>
          <a:ln w="38100">
            <a:solidFill>
              <a:srgbClr val="22C7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4910328"/>
            <a:ext cx="2971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PUT vs PATCH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754880" y="5148072"/>
            <a:ext cx="2971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PUT është më i thjeshtë për t’u kuptuar në klasë; PATCH është më i mirë kur dërgon vetëm fushat që kanë ndryshuar.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101584" y="475488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66176" y="4937760"/>
            <a:ext cx="0" cy="548640"/>
          </a:xfrm>
          <a:prstGeom prst="line">
            <a:avLst/>
          </a:prstGeom>
          <a:noFill/>
          <a:ln w="38100">
            <a:solidFill>
              <a:srgbClr val="6D5E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21624" y="4910328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DELETE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421624" y="5148072"/>
            <a:ext cx="2834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Shumë API kthejnë 204 No Content. Në atë rast, UI nuk ka body për ta parse-uar; ka vetëm status code për suksesin.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Kapitulli 9 • GET / DELETE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08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0847" y="585216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GET dhe DELETE në Flutter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55825" y="10698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Këto dy operacione janë hyrja më e mirë për studentët: request i thjeshtë, pak konfigurim dhe feedback i qartë në UI.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50876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99632" y="1508760"/>
            <a:ext cx="5367528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1353312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403604"/>
            <a:ext cx="1234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</a:rPr>
              <a:t>GET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0" y="135331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403604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13A3A"/>
                </a:solidFill>
              </a:rPr>
              <a:t>DELETE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68680" y="1783080"/>
            <a:ext cx="489204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Ndërto URI-n me Uri.parse() ose Uri.https() në vend të string concatenation naive.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Përdor await get(uri) dhe trajto latencën me loader në FutureBuilder ose me state të dedikuar.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Kontrollo res.statusCode përpara se të bësh jsonDecode; jo çdo response është sukses.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Nëse endpoint-i kthen listë, body dekodohet si List&lt;dynamic&gt;; më pas mapohet në Person.fromJson.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duhet të jetë read-only: mos mbështet logjikë të fshehtë që ndryshon serverin.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6419088" y="1783080"/>
            <a:ext cx="480060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zakonisht nuk ka body; URI zakonisht mban identifikuesin e burimit që do të fshihet.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Suksesi mund të vijë si 200 OK ose 204 No Content; në të dyja rastet rifresko ekranin.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Në UI përdor confirmation ose një affordance të qartë, sepse fshirja është operacion destruktiv.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 DELETE ke dy strategji: re-fetch i listës ose heqje lokale nga state. E para është më e thjeshtë për mësim.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Në klasë diskuto gjithmonë idempotencën: dërgimi i të njëjtit DELETE dy herë nuk duhet të prishë sistemin.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868680" y="4751619"/>
            <a:ext cx="10332720" cy="1100541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Shape 15"/>
          <p:cNvSpPr/>
          <p:nvPr/>
        </p:nvSpPr>
        <p:spPr>
          <a:xfrm flipV="1">
            <a:off x="1033272" y="5257800"/>
            <a:ext cx="13716" cy="274320"/>
          </a:xfrm>
          <a:prstGeom prst="line">
            <a:avLst/>
          </a:prstGeom>
          <a:noFill/>
          <a:ln w="38100">
            <a:solidFill>
              <a:srgbClr val="F4B9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6988" y="5093208"/>
            <a:ext cx="9921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Gabimi </a:t>
            </a:r>
            <a:r>
              <a:rPr lang="en-US" sz="1600" b="1" dirty="0" err="1">
                <a:solidFill>
                  <a:srgbClr val="0B1F3A"/>
                </a:solidFill>
              </a:rPr>
              <a:t>klasik</a:t>
            </a:r>
            <a:r>
              <a:rPr lang="en-US" sz="1600" b="1" dirty="0">
                <a:solidFill>
                  <a:srgbClr val="0B1F3A"/>
                </a:solidFill>
              </a:rPr>
              <a:t> me </a:t>
            </a:r>
            <a:r>
              <a:rPr lang="en-US" sz="1600" b="1" dirty="0" err="1">
                <a:solidFill>
                  <a:srgbClr val="0B1F3A"/>
                </a:solidFill>
              </a:rPr>
              <a:t>funksionin</a:t>
            </a:r>
            <a:r>
              <a:rPr lang="en-US" sz="1600" b="1" dirty="0">
                <a:solidFill>
                  <a:srgbClr val="0B1F3A"/>
                </a:solidFill>
              </a:rPr>
              <a:t> Delete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35227" y="5532120"/>
            <a:ext cx="992124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4800" dirty="0">
                <a:solidFill>
                  <a:srgbClr val="132033"/>
                </a:solidFill>
              </a:rPr>
              <a:t>DELETE thirret me sukses, por lista nuk ndryshon vizualisht sepse nuk u bë refresh i state-it ose nuk u rinis Future-ja e FutureBuilder</a:t>
            </a:r>
            <a:r>
              <a:rPr lang="en-US" sz="1200" dirty="0">
                <a:solidFill>
                  <a:srgbClr val="132033"/>
                </a:solidFill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Kapitulli 9 • POST / PUT / PATCH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09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Krijimi dhe përditësimi i të dhënave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Kur dërgojmë data te serveri, bëhen kritikë payload-i JSON, headers dhe validimi i input-it.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554479"/>
            <a:ext cx="109728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83080"/>
          <a:ext cx="10607040" cy="204825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Aspekti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PATCH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Qëllimi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Krijon një burim të ri.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Zëvendëson burimin ekzistues me gjendjen e re.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Ndryshon vetëm një pjesë të fushave.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URI tipike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/people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/people/42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/people/42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Body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Objekti i ri pa id ose me id të injoruar nga serveri.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Objekti i plotë i burimit.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Vetëm fushat që ndryshuan.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Kujdes didaktik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Studentët kuptojnë më lehtë dallimin “create”.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Shpjego se serveri e trajton si replace.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Diskutoje si optimizim dhe si API design choice.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7"/>
          <p:cNvSpPr/>
          <p:nvPr/>
        </p:nvSpPr>
        <p:spPr>
          <a:xfrm>
            <a:off x="862148" y="5027894"/>
            <a:ext cx="315468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05840" y="5166360"/>
            <a:ext cx="0" cy="320040"/>
          </a:xfrm>
          <a:prstGeom prst="line">
            <a:avLst/>
          </a:prstGeom>
          <a:noFill/>
          <a:ln w="38100">
            <a:solidFill>
              <a:srgbClr val="26C6A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24713" y="5138928"/>
            <a:ext cx="277977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Headers minimalë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61288" y="5376672"/>
            <a:ext cx="274320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32033"/>
                </a:solidFill>
              </a:rPr>
              <a:t>Content-Type: application/json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32033"/>
                </a:solidFill>
              </a:rPr>
              <a:t>Shpesh Accept: application/json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16690" y="5027894"/>
            <a:ext cx="324612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70832" y="5166360"/>
            <a:ext cx="0" cy="320040"/>
          </a:xfrm>
          <a:prstGeom prst="line">
            <a:avLst/>
          </a:prstGeom>
          <a:noFill/>
          <a:ln w="38100">
            <a:solidFill>
              <a:srgbClr val="22C7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26280" y="5138928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Payload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26280" y="5376672"/>
            <a:ext cx="283464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132033"/>
                </a:solidFill>
              </a:rPr>
              <a:t>body: jsonEncode(person.toJson())</a:t>
            </a:r>
            <a:endParaRPr lang="en-US" sz="4000" dirty="0"/>
          </a:p>
          <a:p>
            <a:pPr marL="0" indent="0">
              <a:buNone/>
            </a:pPr>
            <a:r>
              <a:rPr lang="en-US" sz="4000" dirty="0">
                <a:solidFill>
                  <a:srgbClr val="132033"/>
                </a:solidFill>
              </a:rPr>
              <a:t>Mos dërgo objekte Dart direkt</a:t>
            </a:r>
            <a:r>
              <a:rPr lang="en-US" sz="1200" dirty="0">
                <a:solidFill>
                  <a:srgbClr val="132033"/>
                </a:solidFill>
              </a:rPr>
              <a:t>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62672" y="5012218"/>
            <a:ext cx="301752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827264" y="5166360"/>
            <a:ext cx="0" cy="320040"/>
          </a:xfrm>
          <a:prstGeom prst="line">
            <a:avLst/>
          </a:prstGeom>
          <a:noFill/>
          <a:ln w="38100">
            <a:solidFill>
              <a:srgbClr val="6D5E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82712" y="5138928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Validation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982712" y="5376672"/>
            <a:ext cx="260604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32033"/>
                </a:solidFill>
              </a:rPr>
              <a:t>Fillo me validim në UI, por konsidero gjithmonë edhe validimin në backend.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Kapitulli 9 • Request anatomy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Çfarë ka brenda një request-i dhe një response-i?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Kjo është struktura minimale që duhet të analizoni sa herë që diçka nuk po funksionon.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9808" y="1645920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728216"/>
            <a:ext cx="4937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8C7DD"/>
                </a:solidFill>
              </a:rPr>
              <a:t>Request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59536" y="1901952"/>
            <a:ext cx="4992624" cy="2834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uri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Uri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_baseUrl/people/42'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headers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'Content-Type'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'application/json'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payload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jsonEncode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'name'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'Charlie Kelly'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'email'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'charlie@paddys.pub'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'phone'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'1-463-123-4447'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put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headers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headers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body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payload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36208" y="1645920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73368" y="1728216"/>
            <a:ext cx="4937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8C7DD"/>
                </a:solidFill>
              </a:rPr>
              <a:t>Response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345936" y="1901952"/>
            <a:ext cx="4992624" cy="2834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statusCode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'content-type'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statusCode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200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statusCode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300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jsonDecode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person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fromJson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Exception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'Server error: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statusCode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" y="5074920"/>
            <a:ext cx="106984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257800"/>
            <a:ext cx="0" cy="292608"/>
          </a:xfrm>
          <a:prstGeom prst="line">
            <a:avLst/>
          </a:prstGeom>
          <a:noFill/>
          <a:ln w="38100">
            <a:solidFill>
              <a:srgbClr val="F4B9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5230368"/>
            <a:ext cx="10287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Praktikë e mirë në laborator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69848" y="5468112"/>
            <a:ext cx="102870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Shikoni status code-in para parsing, logoni URI-n e saktë, dhe verifikoni nëse API ka kthyer vërtet JSON apo një mesazh gabimi që duket si tekst i zakonshëm.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Kapitulli 9 • UI binding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Nga response te widget-i: tre qasje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Kapitulli paraqet tre mekanizma mendimi; në ligjëratë është e rëndësishme të kuptohet jo vetëm si shkruhen, por kur duhen.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98424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1. “Brute force” me setState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221992"/>
            <a:ext cx="320040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E thërret request-in në initState() ose në onPressed(), ruan rezultatin në state lokal dhe bën redraw manual.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E mirë për prototipe dhe eksperimente të shpejta, por state transitions (loading / error / empty) duhen koduar me dorë.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70832" y="187452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07992" y="198424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2. FutureBuilder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07992" y="2221992"/>
            <a:ext cx="320040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UI deklaron qartë varësinë nga një Future. Flutter menaxhon tranzicionet waiting → done, ndërsa ti fokusohesh te degët e renderimit.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Është qasja më e pastër për shumicën e ekraneve “read once, render once”.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10144" y="187452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47304" y="198424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3. StreamBuilder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47304" y="2221992"/>
            <a:ext cx="320040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Për data që mund të ndryshojnë vazhdimisht: WebSocket, Firebase, sensorë, ose event streams.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Më reaktiv, por kërkon kujdes më të madh për lifecycle dhe cleanup.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" y="5120640"/>
            <a:ext cx="1014984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78992" y="5303520"/>
            <a:ext cx="0" cy="292608"/>
          </a:xfrm>
          <a:prstGeom prst="line">
            <a:avLst/>
          </a:prstGeom>
          <a:noFill/>
          <a:ln w="38100">
            <a:solidFill>
              <a:srgbClr val="26C6A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5276088"/>
            <a:ext cx="9738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Për vendimin në klasë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34440" y="5513832"/>
            <a:ext cx="97383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Për CRUD klasik me ekran liste dhe formë editimi, FutureBuilder është zakonisht default-i më i mirë. StreamBuilder nuk është “më modern”; është thjesht më i përshtatshëm për probleme të tjera.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Kapitulli 9 • setState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“Brute force” me setState — pse funksionon, dhe pse nuk mjafton gjithmonë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Është i vlefshëm pedagogjikisht sepse ekspozon qartë lidhjen mes data flow dhe renderimit të UI.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627632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36208" y="1627632"/>
            <a:ext cx="5285232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1874520"/>
            <a:ext cx="5029200" cy="3749040"/>
          </a:xfrm>
          <a:prstGeom prst="roundRect">
            <a:avLst>
              <a:gd name="adj" fmla="val 1951"/>
            </a:avLst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1956816"/>
            <a:ext cx="4754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8C7DD"/>
                </a:solidFill>
              </a:rPr>
              <a:t>Pattern minimal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50976" y="2130552"/>
            <a:ext cx="4809744" cy="33832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loading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people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error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initState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initState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_load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_load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fetchPeople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setState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people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fromJsonArray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loading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setState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error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toString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loading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82512" y="1901952"/>
            <a:ext cx="480060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Avantazhi kryesor: studenti sheh qartë se ndryshimi i state-it është arsyeja pse UI ridizenjohet.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Është i përshtatshëm për laboratorë të vegjël ku duam të shpjegojmë mekanikën pa shumë abstraksione shtesë.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Dobësia: me shumë ekrane, ky model prodhon boilerplate, duplikim dhe kombinime jo elegante të loading / data / error flags.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Anti-pattern klasik: thirrja e request-it brenda build(), gjë që mund të shkaktojë re-fetch të panevojshëm në çdo redraw.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6382512" y="4800600"/>
            <a:ext cx="4736592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47104" y="4983480"/>
            <a:ext cx="0" cy="347472"/>
          </a:xfrm>
          <a:prstGeom prst="line">
            <a:avLst/>
          </a:prstGeom>
          <a:noFill/>
          <a:ln w="38100">
            <a:solidFill>
              <a:srgbClr val="F4B9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02552" y="4956048"/>
            <a:ext cx="4325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Mesazh për provim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02552" y="5193792"/>
            <a:ext cx="432511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Duhet të dini pse setState është pedagogjikisht i dobishëm, por gjithashtu pse FutureBuilder jep ndarje më të mirë mes data acquisition dhe rendering.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Kapitulli 9 • FutureBuilder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FutureBuilder — pattern-i i pastër për ekranet me data remote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Mënyra profesionale është të modelosh në UI vetë faktin që data vjen në të ardhmen.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700784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783080"/>
            <a:ext cx="5166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8C7DD"/>
                </a:solidFill>
              </a:rPr>
              <a:t>Nga kapitulli: idea bazë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956816"/>
            <a:ext cx="5221224" cy="3931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FutureBuilder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future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fetchPeople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builder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snapshot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hasError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'Oh no! Error!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(!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hasData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'No people found'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people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fromJsonArray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ListView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children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people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PersonWidget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46520" y="178308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189280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1. Waiting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2130552"/>
            <a:ext cx="4572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UI shfaq loader ose placeholder ndërsa Future ende s’ka përfunduar.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46520" y="2816352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29260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2. Error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3163824"/>
            <a:ext cx="4572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Nëse Future përfundon me exception ose response i pavlefshëm, shfaqet degë e dedikuar error state.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46520" y="3849624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0" y="395935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3. Done +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4197096"/>
            <a:ext cx="4572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Vetëm kur kemi data valide ndërtojmë listën finale të widget-eve.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46520" y="4983480"/>
            <a:ext cx="4846320" cy="676656"/>
          </a:xfrm>
          <a:prstGeom prst="roundRect">
            <a:avLst>
              <a:gd name="adj" fmla="val 10811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11112" y="5166360"/>
            <a:ext cx="0" cy="310896"/>
          </a:xfrm>
          <a:prstGeom prst="line">
            <a:avLst/>
          </a:prstGeom>
          <a:noFill/>
          <a:ln w="38100">
            <a:solidFill>
              <a:srgbClr val="26C6A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5138928"/>
            <a:ext cx="4434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Kujdes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66560" y="5376672"/>
            <a:ext cx="44348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475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Në projektet reale Future-ja shpesh memoizohet (ruhet në state) që të mos ripërllogaritet sa herë rindërtohet widget-i.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Kapitulli 9 • StreamBuilder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Kur StreamBuilder është zgjidhja e duhur?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Jo çdo ekran me data e justifikon një stream; ky është një vendim arkitekturor, jo modë.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645920"/>
            <a:ext cx="1097280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874520"/>
          <a:ext cx="9326880" cy="1920240"/>
        </p:xfrm>
        <a:graphic>
          <a:graphicData uri="http://schemas.openxmlformats.org/drawingml/2006/table">
            <a:tbl>
              <a:tblPr/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Skenari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FutureBuilder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StreamBuilder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Lista e përdoruesve që ngarkohet në hapje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 zgjedhja natyrale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 panevojshëm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Chat / feed live / telemetry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Mund, por i vështirë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 zgjedhja natyrale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Firebase snapshots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Mund të komplikohet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 integrim reaktiv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Sensore / geolocation stream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Jo ideal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 model i duhur i të dhënave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41248" y="4828032"/>
            <a:ext cx="1060704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05840" y="5010912"/>
            <a:ext cx="0" cy="457200"/>
          </a:xfrm>
          <a:prstGeom prst="line">
            <a:avLst/>
          </a:prstGeom>
          <a:noFill/>
          <a:ln w="38100">
            <a:solidFill>
              <a:srgbClr val="6D5E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61288" y="4983480"/>
            <a:ext cx="10195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Mesazhi për studentët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61288" y="5221224"/>
            <a:ext cx="10195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Pyetja nuk është “Cili builder është më i avancuar?”, por “Cila është forma natyrale e të dhënave?”. Nëse vlera vjen një herë → Future. Nëse prodhohet vazhdimisht → Stream.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Kapitulli 9 • Strong typing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92912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Strongly typed classes: pse modeli Person është i domosdoshëm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Modelet tipizuara nuk janë luks; ato janë kufiri mes kodit të qëndrueshëm dhe “Map-spaghetti”.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1673352"/>
            <a:ext cx="3657600" cy="42976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874520"/>
            <a:ext cx="3291840" cy="3840480"/>
          </a:xfrm>
          <a:prstGeom prst="roundRect">
            <a:avLst>
              <a:gd name="adj" fmla="val 2222"/>
            </a:avLst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56816"/>
            <a:ext cx="3017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8C7DD"/>
                </a:solidFill>
              </a:rPr>
              <a:t>Modeli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78408" y="2130552"/>
            <a:ext cx="3072384" cy="3474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Person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 name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 email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 phone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required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required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required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required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53712" y="1828800"/>
            <a:ext cx="329184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bëhet më e lexueshme: PersonWidget(person: person) është shumë më i qartë se Map&lt;String, dynamic&gt;.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 bëhet më i sigurt; ndryshimet e fushave kapen më shpejt nga kompajleri dhe editor-i.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Modeli është vendi ku përqendrohet logjika e parse-it dhe normalizimit, jo widget tree.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119872" y="1847088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84464" y="2029968"/>
            <a:ext cx="0" cy="3063240"/>
          </a:xfrm>
          <a:prstGeom prst="line">
            <a:avLst/>
          </a:prstGeom>
          <a:noFill/>
          <a:ln w="38100">
            <a:solidFill>
              <a:srgbClr val="F4B9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9912" y="2002536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Çfarë humbet pa model?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39912" y="2240280"/>
            <a:ext cx="2834640" cy="2898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• Tipe jo të sigurta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• shumë indexing me string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• gabime runtime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• duplikim parse-i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• varësi të panevojshme të UI-së nga formati raw i API-së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19872" y="5468112"/>
            <a:ext cx="3246120" cy="411480"/>
          </a:xfrm>
          <a:prstGeom prst="roundRect">
            <a:avLst>
              <a:gd name="adj" fmla="val 17778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84464" y="5650992"/>
            <a:ext cx="0" cy="45720"/>
          </a:xfrm>
          <a:prstGeom prst="line">
            <a:avLst/>
          </a:prstGeom>
          <a:noFill/>
          <a:ln w="38100">
            <a:solidFill>
              <a:srgbClr val="26C6A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9912" y="5623560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Praktikë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39912" y="5861304"/>
            <a:ext cx="283464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Mbaji modelet në një folder /models dhe mos e përziej parse-in me rendering-un.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Kapitulli 9 • Deserializim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fromJson dhe fromJsonArray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Objekti Person duhet të dijë si të lindë nga JSON, jo ta delegojë këtë logjikë tek çdo ekran.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719072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801368"/>
            <a:ext cx="4846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8C7DD"/>
                </a:solidFill>
              </a:rPr>
              <a:t>Hydration pattern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975104"/>
            <a:ext cx="4901184" cy="3931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factory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fromJson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'id'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'email'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phone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'phone'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fromJsonArray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body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jsonDecode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fromJson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938528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JSON string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2176272"/>
            <a:ext cx="1234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body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44968" y="2194560"/>
            <a:ext cx="256032" cy="164592"/>
          </a:xfrm>
          <a:prstGeom prst="chevron">
            <a:avLst/>
          </a:prstGeom>
          <a:solidFill>
            <a:srgbClr val="22C7F2"/>
          </a:solidFill>
          <a:ln w="12700">
            <a:solidFill>
              <a:srgbClr val="22C7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65008" y="182880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02168" y="1938528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List&lt;Map&gt;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02168" y="2176272"/>
            <a:ext cx="1234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jsonDecode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637776" y="2194560"/>
            <a:ext cx="256032" cy="164592"/>
          </a:xfrm>
          <a:prstGeom prst="chevron">
            <a:avLst/>
          </a:prstGeom>
          <a:solidFill>
            <a:srgbClr val="22C7F2"/>
          </a:solidFill>
          <a:ln w="12700">
            <a:solidFill>
              <a:srgbClr val="22C7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57816" y="182880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094976" y="1938528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List&lt;Person&gt;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94976" y="2176272"/>
            <a:ext cx="1234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fromJsonArray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99632" y="315468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64224" y="3337560"/>
            <a:ext cx="0" cy="1965960"/>
          </a:xfrm>
          <a:prstGeom prst="line">
            <a:avLst/>
          </a:prstGeom>
          <a:noFill/>
          <a:ln w="38100">
            <a:solidFill>
              <a:srgbClr val="22C7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9672" y="3310128"/>
            <a:ext cx="484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Pika teorike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19672" y="3547872"/>
            <a:ext cx="4846320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Ky quhet typed deserialization pattern. Për studentët e vitit të tretë është i rëndësishëm sepse krijon ndarje të pastër të përgjegjësive: rrjeti kthen JSON, modeli e përkthen, UI konsumon objektin e tipizuar.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Kapitulli 9 • Shembulli i madh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17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“people_maintenance” — arkitektura funksionale e shembullit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Në një shembull të vetëm mblidhen rrjeti, navigimi, form-at dhe rendering-u i listës.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645920"/>
            <a:ext cx="4297680" cy="448056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93208" y="1645920"/>
            <a:ext cx="2148840" cy="448056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88352" y="1645920"/>
            <a:ext cx="4160520" cy="448056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1" name="Image 0" descr="/mnt/data/phone_1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359" y="1874520"/>
            <a:ext cx="2491122" cy="3840480"/>
          </a:xfrm>
          <a:prstGeom prst="rect">
            <a:avLst/>
          </a:prstGeom>
        </p:spPr>
      </p:pic>
      <p:pic>
        <p:nvPicPr>
          <p:cNvPr id="12" name="Image 1" descr="/mnt/data/phone_16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2759" y="1874520"/>
            <a:ext cx="2491122" cy="38404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358384" y="3529584"/>
            <a:ext cx="1600200" cy="237744"/>
          </a:xfrm>
          <a:prstGeom prst="chevron">
            <a:avLst/>
          </a:prstGeom>
          <a:solidFill>
            <a:srgbClr val="22C7F2"/>
          </a:solidFill>
          <a:ln w="12700">
            <a:solidFill>
              <a:srgbClr val="22C7F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04104" y="3566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</a:rPr>
              <a:t>Tap / Navigate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1874520" y="5532120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List screen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8732520" y="553212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Upsert form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321808" y="20116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86400" y="2194560"/>
            <a:ext cx="0" cy="548640"/>
          </a:xfrm>
          <a:prstGeom prst="line">
            <a:avLst/>
          </a:prstGeom>
          <a:noFill/>
          <a:ln w="38100">
            <a:solidFill>
              <a:srgbClr val="26C6A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641848" y="2167128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CRUD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641848" y="2404872"/>
            <a:ext cx="1280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GET list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DELETE item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POST create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PUT update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321808" y="3154680"/>
            <a:ext cx="169164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486400" y="3337560"/>
            <a:ext cx="0" cy="960120"/>
          </a:xfrm>
          <a:prstGeom prst="line">
            <a:avLst/>
          </a:prstGeom>
          <a:noFill/>
          <a:ln w="38100">
            <a:solidFill>
              <a:srgbClr val="6D5EF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641848" y="3310128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UI flow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641848" y="3547872"/>
            <a:ext cx="128016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Lista thërret serverin, përdoruesi zgjedh kartën, forma ngarkohet me vlerat ekzistuese, ruajtja kthen përdoruesin te lista.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5321808" y="466344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486400" y="4846320"/>
            <a:ext cx="0" cy="685800"/>
          </a:xfrm>
          <a:prstGeom prst="line">
            <a:avLst/>
          </a:prstGeom>
          <a:noFill/>
          <a:ln w="38100">
            <a:solidFill>
              <a:srgbClr val="F4B942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641848" y="4818888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Didaktikë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5641848" y="5056632"/>
            <a:ext cx="128016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Një shembull i vetëm, por mbulon shumë kompetenca të kapitujve të mëparshëm.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Kapitulli 9 • List screen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Ekrani i listës: përgjegjësitë dhe UI states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Ky ekran është qendra e shembullit, sepse kombinon data fetching, rendering dhe navigim.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3794760" cy="44805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9" name="Image 0" descr="/mnt/data/phone_1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243" y="1874520"/>
            <a:ext cx="2550435" cy="39319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617720" y="1645920"/>
            <a:ext cx="69494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46320" y="1874520"/>
            <a:ext cx="640080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AppBar jep kontekstin e ekranit; përdoruesi duhet të kuptojë menjëherë se po sheh një koleksion njerëzish.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 zakonisht fillon si FutureBuilder që varet nga fetchPeople(). Kjo e bën loading state pjesë të dizajnit të ekranit, jo rast të veçantë.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Çdo kartë personi është widget më vete (PersonWidget). Kjo ul kompleksitetin e listës dhe e bën UI-n më të testueshme.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FloatingActionButton hap formën “upsert” pa argumente; në atë rast forma funksionon si Create.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 mbi kartën ekzistuese i kalon argumentet formës; kjo e kthen të njëjtin ekran në Update pa duplikuar UI.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4846320" y="5193792"/>
            <a:ext cx="640080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10912" y="5376672"/>
            <a:ext cx="0" cy="228600"/>
          </a:xfrm>
          <a:prstGeom prst="line">
            <a:avLst/>
          </a:prstGeom>
          <a:noFill/>
          <a:ln w="38100">
            <a:solidFill>
              <a:srgbClr val="26C6A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66360" y="5349240"/>
            <a:ext cx="5989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Katër gjendje që duhen modeluar qartë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166360" y="5586984"/>
            <a:ext cx="5989320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32033"/>
                </a:solidFill>
              </a:rPr>
              <a:t>loading, success, empty state, error state — një ekran profesional i bën të dukshme të katërta.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Kapitulli 9 • Upsert 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19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Upsert form: një ekran, dy operacione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“Upsert” është mënyra më elegante për të shpjeguar Create dhe Update pa ndërtuar dy forma të ndryshme.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0" y="164592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9" name="Image 0" descr="/mnt/data/phone_1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955" y="1828800"/>
            <a:ext cx="2580091" cy="3977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" y="1645920"/>
            <a:ext cx="63550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96112" y="1874520"/>
            <a:ext cx="589788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Nëse route merr një Person si argument, controllers inicializohen me vlerat ekzistuese; kjo është rruga e Update.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Nëse argumenti mungon, controllers mbeten bosh; kjo është rruga e Create.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Button-i i ruajtjes ose FAB bën validimin lokal të input-it para se të ndërtojë payload-in JSON.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Vendimi POST vs PUT bazohet zakonisht te ekzistenca e id-së; në këtë mënyrë logjika mbetet e qartë dhe e izoluar.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Në sukses, forma kthehet me Navigator.pop() dhe lista rifreskohet. Kjo lidhje mes navigimit dhe data refresh është pjesë e rëndësishme e kapitullit.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896112" y="5175504"/>
            <a:ext cx="5897880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060704" y="5358384"/>
            <a:ext cx="0" cy="256032"/>
          </a:xfrm>
          <a:prstGeom prst="line">
            <a:avLst/>
          </a:prstGeom>
          <a:noFill/>
          <a:ln w="38100">
            <a:solidFill>
              <a:srgbClr val="6D5E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16152" y="5330952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Mesazh arkitekturor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16152" y="5568696"/>
            <a:ext cx="548640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32033"/>
                </a:solidFill>
              </a:rPr>
              <a:t>I njëjti komponent UI mbështet dy flows sepse data model dhe business rule janë të qarta.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Kapitulli 9 • Struktura e projektit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20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Si ndahet projekti në file që mbahen të kuptueshme?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Qartësia e strukturës është po aq e rëndësishme sa vetë request-et.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3840480" cy="4343400"/>
          </a:xfrm>
          <a:prstGeom prst="roundRect">
            <a:avLst>
              <a:gd name="adj" fmla="val 1905"/>
            </a:avLst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32688" y="1938528"/>
            <a:ext cx="34290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main.dart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person.dart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people.dart          // service layer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list_people.dart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upsert_person.dart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person_widget.dart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theme.dart           // chapter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874520"/>
            <a:ext cx="621792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main.dart mban MaterialApp, routes dhe integrimin e përgjithshëm të aplikacionit.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person.dart përmban modelin strongly typed dhe logjikën e deserializimit nga JSON.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people.dart shërben si service layer: fetch, delete, upsert dhe detajet e HTTP-it jetojnë atje.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list_people.dart përmban logjikën e ekranit të listës; fokus në renderim dhe user flow.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upsert_person.dart mban formën dhe vendimin Create / Update.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person_widget.dart kapsulon pamjen e një elementi të listës, që lista të mos mbingarkohet me UI kod.</a:t>
            </a:r>
            <a:endParaRPr lang="en-US" sz="13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Kapitulli 9 • list_people.dart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21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Walkthrough i list_people.dart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Slajdi shpjegon përgjegjësinë e ekranit, jo thjesht sintaksën.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719072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801368"/>
            <a:ext cx="5166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8C7DD"/>
                </a:solidFill>
              </a:rPr>
              <a:t>Struktura bazë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975104"/>
            <a:ext cx="5221224" cy="3977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ListPeople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StatefulWidget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ListPeople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ListPeople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createState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_ListPeopleState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_ListPeopleState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ListPeople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Widget build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BuildContext context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Scaffold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appBar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AppBar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'People'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body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scaffoldBody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floatingActionButton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FloatingActionButton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child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Icon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Icons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onPressed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Navigator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pushNamed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'/upsert'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19088" y="1828800"/>
            <a:ext cx="466344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Widget-i është stateful sepse lista duhet të jetë në gjendje të rifreskohet pas delete ose update.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Scaffold e bën të qartë ndarjen mes AppBar, body dhe FAB — strukturë standarde Material që studenti duhet ta zotërojë.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Navigator.pushNamed(context, '/upsert') i jep ekranit të listës rolin e “hub”-it të flow-t CRUD.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Kapitulli e abstrakton scaffoldBody si getter; kjo është një teknikë e mirë për të ulur zhurmën brenda build().</a:t>
            </a:r>
            <a:endParaRPr lang="en-US" sz="13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Kapitulli 9 • GET implementation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22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GET request: nga FutureBuilder te lista e Person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Ky është momenti ku studentët shohin bashkëpunimin e rrjetit, modelit dhe UI-së.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719072"/>
            <a:ext cx="5669280" cy="4434840"/>
          </a:xfrm>
          <a:prstGeom prst="roundRect">
            <a:avLst>
              <a:gd name="adj" fmla="val 1649"/>
            </a:avLst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801368"/>
            <a:ext cx="53949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8C7DD"/>
                </a:solidFill>
              </a:rPr>
              <a:t>Thelbi i listës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975104"/>
            <a:ext cx="5449824" cy="4069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Widget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scaffoldBody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FutureBuilder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future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fetchPeople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snapshot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hasError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'Oh no! Error!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(!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hasData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'No people found'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List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people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fromJsonArray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List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Widget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personTiles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people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Widget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 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PersonWidget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editPerson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setState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Navigator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pushNamed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'/upsert'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arguments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ListView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children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personTiles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629400" y="1828800"/>
            <a:ext cx="46634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793992" y="2011680"/>
            <a:ext cx="0" cy="685800"/>
          </a:xfrm>
          <a:prstGeom prst="line">
            <a:avLst/>
          </a:prstGeom>
          <a:noFill/>
          <a:ln w="38100">
            <a:solidFill>
              <a:srgbClr val="26C6A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1984248"/>
            <a:ext cx="4251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Tri transformime me radhë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49440" y="2221992"/>
            <a:ext cx="425196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1) Response.body → 2) List&lt;Person&gt; → 3) List&lt;Widget&gt;.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Kjo është mënyra e duhur për ta shpjeguar në tabelë: data kalon nga rrjeti te modeli dhe vetëm në fund bëhet UI.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29400" y="315468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93992" y="3337560"/>
            <a:ext cx="0" cy="594360"/>
          </a:xfrm>
          <a:prstGeom prst="line">
            <a:avLst/>
          </a:prstGeom>
          <a:noFill/>
          <a:ln w="38100">
            <a:solidFill>
              <a:srgbClr val="22C7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3310128"/>
            <a:ext cx="4251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Vërejtje praktike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49440" y="3547872"/>
            <a:ext cx="42519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Në versione më të pjekura do të përdorje ndoshta ListView.builder për efikasitet. Për mësim, .map(...).toList() është më transparent.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29400" y="4352544"/>
            <a:ext cx="4663440" cy="1115568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93992" y="4535424"/>
            <a:ext cx="0" cy="749808"/>
          </a:xfrm>
          <a:prstGeom prst="line">
            <a:avLst/>
          </a:prstGeom>
          <a:noFill/>
          <a:ln w="38100">
            <a:solidFill>
              <a:srgbClr val="F4B9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4507992"/>
            <a:ext cx="4251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Çfarë duhet theksuar në klasë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0" y="4745736"/>
            <a:ext cx="425196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FutureBuilder menaxhon pritjen, Person.fromJsonArray menaxhon deserializimin, PersonWidget menaxhon pamjen e një elementi. Ndarja e përgjegjësive është ideja kryesore.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Kapitulli 9 • DELETE flow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23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DELETE: operacion i thjeshtë, por shumë i lehtë për t’u prishur në UI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Problemi zakonisht nuk është request-i vetë, por sinkronizimi i listës pas fshirjes.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61488" y="2880360"/>
            <a:ext cx="438912" cy="201168"/>
          </a:xfrm>
          <a:prstGeom prst="chevron">
            <a:avLst/>
          </a:prstGeom>
          <a:solidFill>
            <a:srgbClr val="22C7F2"/>
          </a:solidFill>
          <a:ln w="12700">
            <a:solidFill>
              <a:srgbClr val="22C7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0" y="2880360"/>
            <a:ext cx="438912" cy="201168"/>
          </a:xfrm>
          <a:prstGeom prst="chevron">
            <a:avLst/>
          </a:prstGeom>
          <a:solidFill>
            <a:srgbClr val="22C7F2"/>
          </a:solidFill>
          <a:ln w="12700">
            <a:solidFill>
              <a:srgbClr val="22C7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77072" y="2880360"/>
            <a:ext cx="438912" cy="201168"/>
          </a:xfrm>
          <a:prstGeom prst="chevron">
            <a:avLst/>
          </a:prstGeom>
          <a:solidFill>
            <a:srgbClr val="22C7F2"/>
          </a:solidFill>
          <a:ln w="12700">
            <a:solidFill>
              <a:srgbClr val="22C7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28600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2395728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1. User click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633472"/>
            <a:ext cx="16916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Përdoruesi prek ikonën e koshit në kartë.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214884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37560" y="225856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2. HTTP DELETE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496312"/>
            <a:ext cx="21945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DELETE /people/{id}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me URI që përmban identifikuesin e personit.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08192" y="214884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45352" y="225856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3. Server response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45352" y="2496312"/>
            <a:ext cx="21945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200 ose 204 → sukses.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4xx/5xx → gabim që duhet shfaqur.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15984" y="2148840"/>
            <a:ext cx="2240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53144" y="2258568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4. UI refresh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53144" y="2496312"/>
            <a:ext cx="19659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Rinise Future-n ose hiqe elementin nga state lokal.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4400" y="452628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78992" y="4709160"/>
            <a:ext cx="0" cy="594360"/>
          </a:xfrm>
          <a:prstGeom prst="line">
            <a:avLst/>
          </a:prstGeom>
          <a:noFill/>
          <a:ln w="38100">
            <a:solidFill>
              <a:srgbClr val="6D5E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4440" y="4681728"/>
            <a:ext cx="4434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Çfarë pyetje duhet të bëjë studenti?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34440" y="4919472"/>
            <a:ext cx="4434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A u dërgua request-i? A u kthye sukses? A u ndryshua state-i lokal? A u rindërtua widget tree? Pa këtë zinxhir debug-u, problemi mbetet i paqartë.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89320" y="452628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53912" y="4709160"/>
            <a:ext cx="0" cy="594360"/>
          </a:xfrm>
          <a:prstGeom prst="line">
            <a:avLst/>
          </a:prstGeom>
          <a:noFill/>
          <a:ln w="38100">
            <a:solidFill>
              <a:srgbClr val="26C6A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4681728"/>
            <a:ext cx="484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Rregull për laborator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4919472"/>
            <a:ext cx="484632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Mëso fillimisht qasjen “re-fetch pas delete”. Vetëm pasi ajo kuptohet, diskuto optimizimin me heqje lokale nga state për të kursyer request-e.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Kapitulli 9 • upsert_person.dart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24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Walkthrough i upsert_person.dart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Forma bën të qartë se UI dhe data flow duhet të projektohen bashkë.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719072"/>
            <a:ext cx="5303520" cy="4343400"/>
          </a:xfrm>
          <a:prstGeom prst="roundRect">
            <a:avLst>
              <a:gd name="adj" fmla="val 1684"/>
            </a:avLst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801368"/>
            <a:ext cx="5029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8C7DD"/>
                </a:solidFill>
              </a:rPr>
              <a:t>Vendimi Create vs Update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975104"/>
            <a:ext cx="5084064" cy="3977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Uri uri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Uri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_baseUrl/people'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headers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headers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body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payload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Uri uri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Uri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_baseUrl/people/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put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headers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headers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body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payload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91072" y="1810512"/>
            <a:ext cx="475488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 lexon nëse po redaktojmë një Person ekzistues apo po krijojmë një të ri. Ky vendim del nga prania e id-së.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Payload-i ndërtohet nga controller-at e fushave; është përgjegjësi e ekranit të mbledhë input-in, jo e service layer-it.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përdoret kur nuk ka id ekzistuese; PUT përdoret kur po zëvendësojmë gjendjen e një rekordi ekzistues.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Në demonstrim, JSONPlaceholder nuk persiston realisht të dhënat, por është i mjaftueshëm për të kuptuar klientin Flutter.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6291072" y="498348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55664" y="5166360"/>
            <a:ext cx="0" cy="411480"/>
          </a:xfrm>
          <a:prstGeom prst="line">
            <a:avLst/>
          </a:prstGeom>
          <a:noFill/>
          <a:ln w="38100">
            <a:solidFill>
              <a:srgbClr val="F4B9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11112" y="5061857"/>
            <a:ext cx="4343400" cy="241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Në provim / projekt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11112" y="5301888"/>
            <a:ext cx="44348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32033"/>
                </a:solidFill>
              </a:rPr>
              <a:t>Studenti duhet të dijë ta arsyetojë zgjedhjen POST vs PUT, jo vetëm ta memorizojë sintaksën e package:http</a:t>
            </a:r>
            <a:r>
              <a:rPr lang="en-US" sz="1200" dirty="0">
                <a:solidFill>
                  <a:srgbClr val="132033"/>
                </a:solidFill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Kapitulli 9 • Quality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Error handling, loading state dhe validim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Këto janë elementët që e bëjnë një demo të duket si software i vërtetë.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3520440" cy="44348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34256" y="1664208"/>
            <a:ext cx="3520440" cy="44348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10144" y="1664208"/>
            <a:ext cx="3520440" cy="44348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1901952"/>
            <a:ext cx="306324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49733" indent="-149733">
              <a:buSzPct val="100000"/>
              <a:buChar char="•"/>
            </a:pPr>
            <a:r>
              <a:rPr lang="en-US" sz="131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 e fsheh loading-un; përdor indicator ose placeholder të qartë.</a:t>
            </a:r>
            <a:endParaRPr lang="en-US" sz="1310" dirty="0"/>
          </a:p>
          <a:p>
            <a:pPr marL="149733" indent="-149733">
              <a:buSzPct val="100000"/>
              <a:buChar char="•"/>
            </a:pPr>
            <a:r>
              <a:rPr lang="en-US" sz="131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nuk duhet të duket “i ngrirë” ndërsa pret rrjetin.</a:t>
            </a:r>
            <a:endParaRPr lang="en-US" sz="1310" dirty="0"/>
          </a:p>
          <a:p>
            <a:pPr marL="149733" indent="-149733">
              <a:buSzPct val="100000"/>
              <a:buChar char="•"/>
            </a:pPr>
            <a:r>
              <a:rPr lang="en-US" sz="131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Në formë, çaktivizo save për të shmangur klikime të shumëfishta.</a:t>
            </a:r>
            <a:endParaRPr lang="en-US" sz="1310" dirty="0"/>
          </a:p>
        </p:txBody>
      </p:sp>
      <p:sp>
        <p:nvSpPr>
          <p:cNvPr id="12" name="Text 10"/>
          <p:cNvSpPr/>
          <p:nvPr/>
        </p:nvSpPr>
        <p:spPr>
          <a:xfrm>
            <a:off x="4553712" y="1901952"/>
            <a:ext cx="306324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49733" indent="-149733">
              <a:buSzPct val="100000"/>
              <a:buChar char="•"/>
            </a:pPr>
            <a:r>
              <a:rPr lang="en-US" sz="131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code ≥ 400 duhet trajtuar si gabim semantik, edhe nëse request-i teknikisht përfundoi.</a:t>
            </a:r>
            <a:endParaRPr lang="en-US" sz="1310" dirty="0"/>
          </a:p>
          <a:p>
            <a:pPr marL="149733" indent="-149733">
              <a:buSzPct val="100000"/>
              <a:buChar char="•"/>
            </a:pPr>
            <a:r>
              <a:rPr lang="en-US" sz="131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Shfaq mesazh përdoruesi dhe log të mjaftueshëm për debug.</a:t>
            </a:r>
            <a:endParaRPr lang="en-US" sz="1310" dirty="0"/>
          </a:p>
          <a:p>
            <a:pPr marL="149733" indent="-149733">
              <a:buSzPct val="100000"/>
              <a:buChar char="•"/>
            </a:pPr>
            <a:r>
              <a:rPr lang="en-US" sz="131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 bëj jsonDecode verbërisht mbi body të gabimit.</a:t>
            </a:r>
            <a:endParaRPr lang="en-US" sz="1310" dirty="0"/>
          </a:p>
        </p:txBody>
      </p:sp>
      <p:sp>
        <p:nvSpPr>
          <p:cNvPr id="13" name="Text 11"/>
          <p:cNvSpPr/>
          <p:nvPr/>
        </p:nvSpPr>
        <p:spPr>
          <a:xfrm>
            <a:off x="8211312" y="1901952"/>
            <a:ext cx="306324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49733" indent="-149733">
              <a:buSzPct val="100000"/>
              <a:buChar char="•"/>
            </a:pPr>
            <a:r>
              <a:rPr lang="en-US" sz="131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Kontrollo fushat e detyrueshme përpara request-it.</a:t>
            </a:r>
            <a:endParaRPr lang="en-US" sz="1310" dirty="0"/>
          </a:p>
          <a:p>
            <a:pPr marL="149733" indent="-149733">
              <a:buSzPct val="100000"/>
              <a:buChar char="•"/>
            </a:pPr>
            <a:r>
              <a:rPr lang="en-US" sz="131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Validimi i UI kursen rrjet, por nuk zëvendëson validimin e backend-it.</a:t>
            </a:r>
            <a:endParaRPr lang="en-US" sz="1310" dirty="0"/>
          </a:p>
          <a:p>
            <a:pPr marL="149733" indent="-149733">
              <a:buSzPct val="100000"/>
              <a:buChar char="•"/>
            </a:pPr>
            <a:r>
              <a:rPr lang="en-US" sz="131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SnackBar ose banner i suksesit ndihmon përdoruesin të kuptojë rezultatin e operacionit.</a:t>
            </a:r>
            <a:endParaRPr lang="en-US" sz="1310" dirty="0"/>
          </a:p>
        </p:txBody>
      </p:sp>
      <p:sp>
        <p:nvSpPr>
          <p:cNvPr id="14" name="Shape 12"/>
          <p:cNvSpPr/>
          <p:nvPr/>
        </p:nvSpPr>
        <p:spPr>
          <a:xfrm>
            <a:off x="1691640" y="1417320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83080" y="1467612"/>
            <a:ext cx="1143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</a:rPr>
              <a:t>Loading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367528" y="141732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58968" y="1467612"/>
            <a:ext cx="1051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13A3A"/>
                </a:solidFill>
              </a:rPr>
              <a:t>Error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034272" y="141732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25712" y="1467612"/>
            <a:ext cx="1280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</a:rPr>
              <a:t>Validation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Kapitulli 9 • Përmbledhje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Çfarë duhet të mbetet nga Kapitulli 9?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Në mbyllje, studenti duhet të jetë në gjendje ta rindërtojë konceptin pa e parë librin.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645920"/>
            <a:ext cx="6400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69480" y="1645920"/>
            <a:ext cx="4251960" cy="4480560"/>
          </a:xfrm>
          <a:prstGeom prst="roundRect">
            <a:avLst>
              <a:gd name="adj" fmla="val 1720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77824" y="1874520"/>
            <a:ext cx="589788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call = ndërfaqe e kontrolluar mes Flutter client dhe backend-it; databaza nuk ekspozohet drejtpërdrejt te aplikacioni publik.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GET/POST/PUT/PATCH/DELETE duhen zgjedhur sipas semantikës së operacionit, jo rastësisht.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Request-et janë asinkrone; UI duhet të modelojë loading, success, empty dhe error states.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FutureBuilder është pattern-i më i pastër për shumicën e ekraneve CRUD; StreamBuilder përdoret kur data vjen në rrjedhë të vazhdueshme.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Strongly typed models dhe fromJson janë kyç për kod të lexueshëm dhe mirëmbajtje afatgjatë.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43800" y="184708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Pyetje orientuese për seminar / provim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43800" y="2176272"/>
            <a:ext cx="352044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46304" indent="-146304">
              <a:buSzPct val="100000"/>
              <a:buChar char="•"/>
            </a:pPr>
            <a:r>
              <a:rPr lang="en-US" sz="128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 përdoret PUT në vend të POST?</a:t>
            </a:r>
            <a:endParaRPr lang="en-US" sz="1280" dirty="0"/>
          </a:p>
          <a:p>
            <a:pPr marL="146304" indent="-146304">
              <a:buSzPct val="100000"/>
              <a:buChar char="•"/>
            </a:pPr>
            <a:r>
              <a:rPr lang="en-US" sz="128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Pse FutureBuilder është zakonisht më i mirë se request-i brenda build()?</a:t>
            </a:r>
            <a:endParaRPr lang="en-US" sz="1280" dirty="0"/>
          </a:p>
          <a:p>
            <a:pPr marL="146304" indent="-146304">
              <a:buSzPct val="100000"/>
              <a:buChar char="•"/>
            </a:pPr>
            <a:r>
              <a:rPr lang="en-US" sz="128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Cilat janë përfitimet e typed deserialization?</a:t>
            </a:r>
            <a:endParaRPr lang="en-US" sz="1280" dirty="0"/>
          </a:p>
          <a:p>
            <a:pPr marL="146304" indent="-146304">
              <a:buSzPct val="100000"/>
              <a:buChar char="•"/>
            </a:pPr>
            <a:r>
              <a:rPr lang="en-US" sz="128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rifreskohet lista pas DELETE?</a:t>
            </a:r>
            <a:endParaRPr lang="en-US" sz="1280" dirty="0"/>
          </a:p>
          <a:p>
            <a:pPr marL="146304" indent="-146304">
              <a:buSzPct val="100000"/>
              <a:buChar char="•"/>
            </a:pPr>
            <a:r>
              <a:rPr lang="en-US" sz="128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Pse JSONPlaceholder është i mirë për mësim, por jo backend real?</a:t>
            </a:r>
            <a:endParaRPr lang="en-US" sz="12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2C7F2">
              <a:alpha val="18000"/>
            </a:srgbClr>
          </a:solidFill>
          <a:ln w="12700">
            <a:solidFill>
              <a:srgbClr val="22C7F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C6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 • Mobile Programming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75720" y="644652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C8"/>
                </a:solidFill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D5EF6">
              <a:alpha val="90000"/>
            </a:srgbClr>
          </a:solidFill>
          <a:ln w="12700">
            <a:solidFill>
              <a:srgbClr val="6D5E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7225" y="1426464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26C6A2"/>
          </a:solidFill>
          <a:ln w="12700">
            <a:solidFill>
              <a:srgbClr val="26C6A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970532"/>
            <a:ext cx="62179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F3A"/>
                </a:solidFill>
              </a:rPr>
              <a:t>SEKSION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8368" y="86868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Kapitulli 10 — Styling with Themes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58368" y="1399032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D2E4"/>
                </a:solidFill>
              </a:rPr>
              <a:t>Nga stile sporadike te një design system i qëndrueshëm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190195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E2EF"/>
                </a:solidFill>
              </a:rPr>
              <a:t>Për studentë të vitit të tretë në Inxhinieri Kompjuterike • fokus te kuptimi konceptual, kodi praktik dhe vendimet e dizajnit.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" y="2450592"/>
            <a:ext cx="5029200" cy="0"/>
          </a:xfrm>
          <a:prstGeom prst="line">
            <a:avLst/>
          </a:prstGeom>
          <a:noFill/>
          <a:ln w="12700">
            <a:solidFill>
              <a:srgbClr val="3752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651760"/>
            <a:ext cx="521208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Në këtë seksion do të kalojmë nga teoria te implementimi i plotë: request/response, FutureBuilder, deserializimi i tipizuar, dhe më pas theming semantik me ColorScheme, TextTheme dhe widget-specific themes.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720840" y="749808"/>
            <a:ext cx="4800600" cy="5349240"/>
          </a:xfrm>
          <a:prstGeom prst="roundRect">
            <a:avLst>
              <a:gd name="adj" fmla="val 1524"/>
            </a:avLst>
          </a:prstGeom>
          <a:solidFill>
            <a:srgbClr val="10243F"/>
          </a:solidFill>
          <a:ln w="12700">
            <a:solidFill>
              <a:srgbClr val="1E3A64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5" name="Image 0" descr="/mnt/data/phone_1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532" y="960120"/>
            <a:ext cx="3173215" cy="489204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086600" y="5449824"/>
            <a:ext cx="406908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23760" y="5541264"/>
            <a:ext cx="3794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</a:rPr>
              <a:t>Flutter App Development • Rap Payne • Kap. 9–10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Kapitulli 10 • Mental model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Thinking in Flutter styles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Gabimi më i zakonshëm është ta mendosh styling-un e Flutter si CSS. Libri thekson se analogjia nuk duhet çuar shumë larg.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664208"/>
            <a:ext cx="5440680" cy="4407408"/>
          </a:xfrm>
          <a:prstGeom prst="roundRect">
            <a:avLst>
              <a:gd name="adj" fmla="val 166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27648" y="1664208"/>
            <a:ext cx="5120640" cy="4407408"/>
          </a:xfrm>
          <a:prstGeom prst="roundRect">
            <a:avLst>
              <a:gd name="adj" fmla="val 1660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32688" y="1901952"/>
            <a:ext cx="493776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019" indent="-152019">
              <a:buSzPct val="100000"/>
              <a:buChar char="•"/>
            </a:pPr>
            <a:r>
              <a:rPr lang="en-US" sz="133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huazon ide nga Android, iOS dhe Web, por stilet nuk trashëgohen automatikisht si në CSS.</a:t>
            </a:r>
            <a:endParaRPr lang="en-US" sz="1330" dirty="0"/>
          </a:p>
          <a:p>
            <a:pPr marL="152019" indent="-152019">
              <a:buSzPct val="100000"/>
              <a:buChar char="•"/>
            </a:pPr>
            <a:r>
              <a:rPr lang="en-US" sz="133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Nuk mund të vendosësh thjesht një font te widget-i yt custom dhe të presësh që të gjithë Text-at brenda tij ta trashëgojnë magjikisht.</a:t>
            </a:r>
            <a:endParaRPr lang="en-US" sz="1330" dirty="0"/>
          </a:p>
          <a:p>
            <a:pPr marL="152019" indent="-152019">
              <a:buSzPct val="100000"/>
              <a:buChar char="•"/>
            </a:pPr>
            <a:r>
              <a:rPr lang="en-US" sz="133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Për ndryshime globale dhe konsistencë semantike, krijohet një Theme dhe aplikohet në MaterialApp.</a:t>
            </a:r>
            <a:endParaRPr lang="en-US" sz="1330" dirty="0"/>
          </a:p>
          <a:p>
            <a:pPr marL="152019" indent="-152019">
              <a:buSzPct val="100000"/>
              <a:buChar char="•"/>
            </a:pPr>
            <a:r>
              <a:rPr lang="en-US" sz="133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Kjo qasje e vendos dizajnin në nivel aplikacioni, jo në nivel instancash të rastit.</a:t>
            </a:r>
            <a:endParaRPr lang="en-US" sz="1330" dirty="0"/>
          </a:p>
        </p:txBody>
      </p:sp>
      <p:sp>
        <p:nvSpPr>
          <p:cNvPr id="11" name="Shape 9"/>
          <p:cNvSpPr/>
          <p:nvPr/>
        </p:nvSpPr>
        <p:spPr>
          <a:xfrm>
            <a:off x="6565392" y="1883664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729984" y="2066544"/>
            <a:ext cx="0" cy="685800"/>
          </a:xfrm>
          <a:prstGeom prst="line">
            <a:avLst/>
          </a:prstGeom>
          <a:noFill/>
          <a:ln w="38100">
            <a:solidFill>
              <a:srgbClr val="26C6A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85432" y="2039112"/>
            <a:ext cx="4160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Parimi themelor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85432" y="2276856"/>
            <a:ext cx="416052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Styles lokale zgjidhin përjashtime; Theme zgjidh sistemin. Në projekte të mëdha, problemi nuk është si të stilosh një Text, por si ta mbash të njëjtin vizual në gjithë aplikacionin.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65392" y="3218688"/>
            <a:ext cx="457200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29984" y="3401568"/>
            <a:ext cx="0" cy="1600200"/>
          </a:xfrm>
          <a:prstGeom prst="line">
            <a:avLst/>
          </a:prstGeom>
          <a:noFill/>
          <a:ln w="38100">
            <a:solidFill>
              <a:srgbClr val="6D5E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85432" y="3374136"/>
            <a:ext cx="4160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Pasojë arkitekturore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85432" y="3611880"/>
            <a:ext cx="416052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Theme është pjesë e maintainability. Kur ndryshon ngjyra bazë, typografia ose stilimi i AppBar-it, nuk dëshiron të prekësh 30 file. Dëshiron një “single source of truth” për dizajnin, njësoj siç dëshiron modelet tipizuara për të dhënat.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Kapitulli 10 • Local styles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29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Individual styles: kur janë të justifikuara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Libri fillon me nivelet e ulëta të stilimit që studenti të kuptojë mekanikën, pastaj kalon te theme.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04672" y="1828800"/>
            <a:ext cx="5303520" cy="4069080"/>
          </a:xfrm>
          <a:prstGeom prst="roundRect">
            <a:avLst>
              <a:gd name="adj" fmla="val 1798"/>
            </a:avLst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911096"/>
            <a:ext cx="5029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8C7DD"/>
                </a:solidFill>
              </a:rPr>
              <a:t>TextStyle i drejtpërdrejtë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0" y="2084832"/>
            <a:ext cx="5084064" cy="3703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aString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style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TextStyle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fontSize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12.0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fontWeight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FontWeight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Colors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fontStyle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FontStyle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italic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19088" y="1847088"/>
            <a:ext cx="466344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Është e arsyeshme kur ke një rast unik: një heading i vetëm, një mesazh i veçantë, ose një button që duhet të dallohet qartë.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Është e dobishme pedagogjikisht sepse tregon objektin TextStyle dhe marrëdhënien e tij me widget-in Text.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nëse fillon të bësh copy-paste të të njëjtit TextStyle në shumë widget-e, kjo është shenjë se duhet theme.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Mbi-stilizimi lokal e bën UI-n të paqëndrueshëm dhe e bën refactor-in të kushtueshëm.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6433457" y="4955724"/>
            <a:ext cx="4677809" cy="723027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0" y="5193792"/>
            <a:ext cx="0" cy="292608"/>
          </a:xfrm>
          <a:prstGeom prst="line">
            <a:avLst/>
          </a:prstGeom>
          <a:noFill/>
          <a:ln w="38100">
            <a:solidFill>
              <a:srgbClr val="F4B9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53566" y="5020383"/>
            <a:ext cx="4251960" cy="173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B1F3A"/>
                </a:solidFill>
              </a:rPr>
              <a:t>Pyetje</a:t>
            </a:r>
            <a:r>
              <a:rPr lang="en-US" sz="1200" b="1" dirty="0">
                <a:solidFill>
                  <a:srgbClr val="0B1F3A"/>
                </a:solidFill>
              </a:rPr>
              <a:t> </a:t>
            </a:r>
            <a:r>
              <a:rPr lang="en-US" sz="1200" b="1" dirty="0" err="1">
                <a:solidFill>
                  <a:srgbClr val="0B1F3A"/>
                </a:solidFill>
              </a:rPr>
              <a:t>rezyme</a:t>
            </a:r>
            <a:r>
              <a:rPr lang="en-US" sz="1200" b="1" dirty="0">
                <a:solidFill>
                  <a:srgbClr val="0B1F3A"/>
                </a:solidFill>
              </a:rPr>
              <a:t>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39128" y="5358384"/>
            <a:ext cx="42519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 err="1">
                <a:solidFill>
                  <a:srgbClr val="132033"/>
                </a:solidFill>
              </a:rPr>
              <a:t>Duam</a:t>
            </a:r>
            <a:r>
              <a:rPr lang="en-US" sz="1000" dirty="0">
                <a:solidFill>
                  <a:srgbClr val="132033"/>
                </a:solidFill>
              </a:rPr>
              <a:t> ta shohin stilimin lokal, por mbylle seksionin me pyetjen: “Si do ta ndryshonim këtë në 20 ekrane njëkohësisht?”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Kapitulli 10 • Themes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30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Mass-changing values: pse theme është “power tool”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Theme nuk është vetëm lehtësi estetike; është mekanizëm i shkallëzimit të dizajnit.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1920240"/>
            <a:ext cx="2148840" cy="23774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202996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ColorScheme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267712"/>
            <a:ext cx="187452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Paleta semantike: primary, surface, error, onPrimary, onSurface, etj.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2926080"/>
            <a:ext cx="438912" cy="201168"/>
          </a:xfrm>
          <a:prstGeom prst="chevron">
            <a:avLst/>
          </a:prstGeom>
          <a:solidFill>
            <a:srgbClr val="22C7F2"/>
          </a:solidFill>
          <a:ln w="12700">
            <a:solidFill>
              <a:srgbClr val="22C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39312" y="1920240"/>
            <a:ext cx="2148840" cy="23774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76472" y="202996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TextTheme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76472" y="2267712"/>
            <a:ext cx="187452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Hierarkia e teksteve: display, headline, title, body, label.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25312" y="2926080"/>
            <a:ext cx="438912" cy="201168"/>
          </a:xfrm>
          <a:prstGeom prst="chevron">
            <a:avLst/>
          </a:prstGeom>
          <a:solidFill>
            <a:srgbClr val="22C7F2"/>
          </a:solidFill>
          <a:ln w="12700">
            <a:solidFill>
              <a:srgbClr val="22C7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1920240"/>
            <a:ext cx="24688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202996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Widget themes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2267712"/>
            <a:ext cx="219456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AppBarTheme, ListTileTheme, InputDecorationTheme, button themes, etj.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52560" y="2926080"/>
            <a:ext cx="438912" cy="201168"/>
          </a:xfrm>
          <a:prstGeom prst="chevron">
            <a:avLst/>
          </a:prstGeom>
          <a:solidFill>
            <a:srgbClr val="22C7F2"/>
          </a:solidFill>
          <a:ln w="12700">
            <a:solidFill>
              <a:srgbClr val="22C7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28048" y="1920240"/>
            <a:ext cx="1691640" cy="23774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65208" y="2029968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ThemeData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65208" y="2267712"/>
            <a:ext cx="141732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Një objekt i vetëm që i bashkon dhe i ekspozon te MaterialApp.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4400" y="4892040"/>
            <a:ext cx="10241280" cy="786384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78992" y="5074920"/>
            <a:ext cx="0" cy="420624"/>
          </a:xfrm>
          <a:prstGeom prst="line">
            <a:avLst/>
          </a:prstGeom>
          <a:noFill/>
          <a:ln w="38100">
            <a:solidFill>
              <a:srgbClr val="26C6A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4440" y="5047488"/>
            <a:ext cx="9829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Përfitimi real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34440" y="5285232"/>
            <a:ext cx="9829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Kur ndryshon vetëm seed color, font family ose stilin e AppBar-it, aplikacioni i tërë adopton vendimin e ri. Kjo është arsyeja pse chapter 10 është kapitull softuerik, jo vetëm vizual.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Kapitulli 10 • ColorScheme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31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ColorScheme: ngjyrat duhet të kenë rol semantik, jo vetëm dekorativ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Në Flutter, ngjyrat shfaqen pothuajse kudo: tekst, border, background, ikonë, button, shadow.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645920"/>
            <a:ext cx="3840480" cy="44805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87552" y="1920240"/>
            <a:ext cx="502920" cy="256032"/>
          </a:xfrm>
          <a:prstGeom prst="roundRect">
            <a:avLst>
              <a:gd name="adj" fmla="val 28571"/>
            </a:avLst>
          </a:prstGeom>
          <a:solidFill>
            <a:srgbClr val="6D5EF6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1961388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033"/>
                </a:solidFill>
              </a:rPr>
              <a:t>primary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87552" y="2350008"/>
            <a:ext cx="502920" cy="256032"/>
          </a:xfrm>
          <a:prstGeom prst="roundRect">
            <a:avLst>
              <a:gd name="adj" fmla="val 28571"/>
            </a:avLst>
          </a:prstGeom>
          <a:solidFill>
            <a:srgbClr val="22C7F2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27632" y="2391156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033"/>
                </a:solidFill>
              </a:rPr>
              <a:t>secondary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87552" y="2779776"/>
            <a:ext cx="502920" cy="256032"/>
          </a:xfrm>
          <a:prstGeom prst="roundRect">
            <a:avLst>
              <a:gd name="adj" fmla="val 28571"/>
            </a:avLst>
          </a:prstGeom>
          <a:solidFill>
            <a:srgbClr val="26C6A2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27632" y="2820924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033"/>
                </a:solidFill>
              </a:rPr>
              <a:t>tertiary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87552" y="3209544"/>
            <a:ext cx="502920" cy="256032"/>
          </a:xfrm>
          <a:prstGeom prst="roundRect">
            <a:avLst>
              <a:gd name="adj" fmla="val 28571"/>
            </a:avLst>
          </a:prstGeom>
          <a:solidFill>
            <a:srgbClr val="EEF3F8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27632" y="3250692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033"/>
                </a:solidFill>
              </a:rPr>
              <a:t>surface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87552" y="3639312"/>
            <a:ext cx="502920" cy="256032"/>
          </a:xfrm>
          <a:prstGeom prst="roundRect">
            <a:avLst>
              <a:gd name="adj" fmla="val 28571"/>
            </a:avLst>
          </a:prstGeom>
          <a:solidFill>
            <a:srgbClr val="E45757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27632" y="3680460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033"/>
                </a:solidFill>
              </a:rPr>
              <a:t>error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87552" y="4069080"/>
            <a:ext cx="50292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27632" y="4110228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033"/>
                </a:solidFill>
              </a:rPr>
              <a:t>onPrimary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87552" y="4498848"/>
            <a:ext cx="502920" cy="256032"/>
          </a:xfrm>
          <a:prstGeom prst="roundRect">
            <a:avLst>
              <a:gd name="adj" fmla="val 28571"/>
            </a:avLst>
          </a:prstGeom>
          <a:solidFill>
            <a:srgbClr val="132033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27632" y="4539996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033"/>
                </a:solidFill>
              </a:rPr>
              <a:t>onSurface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1828800"/>
            <a:ext cx="640080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3162" indent="-153162">
              <a:buSzPct val="100000"/>
              <a:buChar char="•"/>
            </a:pPr>
            <a:r>
              <a:rPr lang="en-US" sz="13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/ secondary / tertiary nuk janë thjesht emra arbitrarë; ato japin shtresa prioritare të aksenteve vizuale.</a:t>
            </a:r>
            <a:endParaRPr lang="en-US" sz="1340" dirty="0"/>
          </a:p>
          <a:p>
            <a:pPr marL="153162" indent="-153162">
              <a:buSzPct val="100000"/>
              <a:buChar char="•"/>
            </a:pPr>
            <a:r>
              <a:rPr lang="en-US" sz="13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surface dhe background përdoren për sipërfaqe, karta dhe kontejnerë; “onSurface” përcakton tekstin që lexohet mbi to.</a:t>
            </a:r>
            <a:endParaRPr lang="en-US" sz="1340" dirty="0"/>
          </a:p>
          <a:p>
            <a:pPr marL="153162" indent="-153162">
              <a:buSzPct val="100000"/>
              <a:buChar char="•"/>
            </a:pPr>
            <a:r>
              <a:rPr lang="en-US" sz="13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i jep UI-së gjuhë vizuale të parashikueshme për gabime, validim dhe paralajmërime.</a:t>
            </a:r>
            <a:endParaRPr lang="en-US" sz="1340" dirty="0"/>
          </a:p>
          <a:p>
            <a:pPr marL="153162" indent="-153162">
              <a:buSzPct val="100000"/>
              <a:buChar char="•"/>
            </a:pPr>
            <a:r>
              <a:rPr lang="en-US" sz="13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 përdorni role semantike, është më e lehtë të krijoni edhe darkTheme, sepse nuk jeni të lidhur me ngjyra të hardcode-uara kudo.</a:t>
            </a:r>
            <a:endParaRPr lang="en-US" sz="1340" dirty="0"/>
          </a:p>
        </p:txBody>
      </p:sp>
      <p:sp>
        <p:nvSpPr>
          <p:cNvPr id="24" name="Shape 22"/>
          <p:cNvSpPr/>
          <p:nvPr/>
        </p:nvSpPr>
        <p:spPr>
          <a:xfrm>
            <a:off x="4800600" y="5010912"/>
            <a:ext cx="6400800" cy="676656"/>
          </a:xfrm>
          <a:prstGeom prst="roundRect">
            <a:avLst>
              <a:gd name="adj" fmla="val 10811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65192" y="5193792"/>
            <a:ext cx="0" cy="310896"/>
          </a:xfrm>
          <a:prstGeom prst="line">
            <a:avLst/>
          </a:prstGeom>
          <a:noFill/>
          <a:ln w="38100">
            <a:solidFill>
              <a:srgbClr val="F4B9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5166360"/>
            <a:ext cx="5989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Rregull dizajni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0" y="5404104"/>
            <a:ext cx="59893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Mos zgjidh 10 ngjyra “të bukura”. Zgjidh një skemë rolesh që i jep kuptim komponentëve dhe ruan kontrast të mjaftueshëm.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Kapitulli 10 • TextTheme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32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TextTheme: tipografia si kontratë e aplikacionit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Në aplikacionet studentore problemi kryesor nuk është mungesa e font-eve, por mungesa e hierarkisë tipografike.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9808" y="1737360"/>
            <a:ext cx="3840480" cy="42976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24128" y="1965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</a:rPr>
              <a:t>displayLarge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24128" y="24231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033"/>
                </a:solidFill>
              </a:rPr>
              <a:t>headlineMedium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4128" y="283464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33"/>
                </a:solidFill>
              </a:rPr>
              <a:t>titleMedium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24128" y="32186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bodyMedium — tekst për paragrafë, listime, shpjegime teknike.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36758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82"/>
                </a:solidFill>
              </a:rPr>
              <a:t>labelLarge — përdorur në butona dhe elementë veprimi.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1828800"/>
            <a:ext cx="630936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019" indent="-152019">
              <a:buSzPct val="100000"/>
              <a:buChar char="•"/>
            </a:pPr>
            <a:r>
              <a:rPr lang="en-US" sz="133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TextTheme vendos një gjuhë të përbashkët për tituj, nën-tituj, tekst trupi dhe labels në gjithë aplikacionin.</a:t>
            </a:r>
            <a:endParaRPr lang="en-US" sz="1330" dirty="0"/>
          </a:p>
          <a:p>
            <a:pPr marL="152019" indent="-152019">
              <a:buSzPct val="100000"/>
              <a:buChar char="•"/>
            </a:pPr>
            <a:r>
              <a:rPr lang="en-US" sz="133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 UI referon Theme.of(context).textTheme.bodyMedium, ajo nuk po kërkon vetëm madhësi fonti, por një rol tipografik të standardizuar.</a:t>
            </a:r>
            <a:endParaRPr lang="en-US" sz="1330" dirty="0"/>
          </a:p>
          <a:p>
            <a:pPr marL="152019" indent="-152019">
              <a:buSzPct val="100000"/>
              <a:buChar char="•"/>
            </a:pPr>
            <a:r>
              <a:rPr lang="en-US" sz="133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Në projekte të mëdha, kjo e bën shumë më të lehtë rritjen e lexueshmërisë në gjithë aplikacionin me vetëm pak ndryshime qendrore.</a:t>
            </a:r>
            <a:endParaRPr lang="en-US" sz="1330" dirty="0"/>
          </a:p>
          <a:p>
            <a:pPr marL="152019" indent="-152019">
              <a:buSzPct val="100000"/>
              <a:buChar char="•"/>
            </a:pPr>
            <a:r>
              <a:rPr lang="en-US" sz="133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Për leksione të programimit mobile, kjo është mënyra e duhur për t’u mësuar studentëve se dizajni është sistem, jo dekorim spontan.</a:t>
            </a:r>
            <a:endParaRPr lang="en-US" sz="133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Kapitulli 10 • Widget themes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33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Widget-specific themes: kontroll më granular mbi Material components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Pasi vendosen ngjyrat dhe tipografia, vjen shtresa që përshtat sjelljen vizuale të komponentëve konkretë.</a:t>
            </a:r>
            <a:endParaRPr lang="en-US" sz="10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783080"/>
          <a:ext cx="10607040" cy="2304288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Theme property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Çfarë standardizon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appBarTheme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Ngjyrën, foreground color, elevation, titleTextStyle dhe ndjesinë e header-it.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listTileTheme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tileColor, textColor, padding dhe ritmin e elementeve të listës.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inputDecorationTheme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Bordera, label style, focus state dhe pamjen e TextField/TextFormField.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textButtonTheme / elevatedButtonTheme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Forma, padding, ngjyrat dhe pesha vizuale e butonave.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snackBarTheme / dialogTheme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Feedback i përkohshëm dhe overlays me një stil koherent.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68680" y="5074920"/>
            <a:ext cx="10332720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33272" y="5257800"/>
            <a:ext cx="0" cy="347472"/>
          </a:xfrm>
          <a:prstGeom prst="line">
            <a:avLst/>
          </a:prstGeom>
          <a:noFill/>
          <a:ln w="38100">
            <a:solidFill>
              <a:srgbClr val="26C6A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88720" y="5230368"/>
            <a:ext cx="9921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Ideja e madhe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88720" y="5468112"/>
            <a:ext cx="9921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Theme specifike për widget-e nuk zëvendësojnë ColorScheme/TextTheme; ato i konkretizojnë ato vendime në komponentë Material që studenti i përdor çdo ditë.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Kapitulli 10 • theme.dart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34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“Put them together”: ThemeData në një file të veçantë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Libri rekomandon qartë theme.dart, sepse tema bëhet më verbose sesa duket në fillim.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9808" y="1737360"/>
            <a:ext cx="5715000" cy="4251960"/>
          </a:xfrm>
          <a:prstGeom prst="roundRect">
            <a:avLst>
              <a:gd name="adj" fmla="val 1720"/>
            </a:avLst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819656"/>
            <a:ext cx="54406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8C7DD"/>
                </a:solidFill>
              </a:rPr>
              <a:t>Nga kapitulli 10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59536" y="1993392"/>
            <a:ext cx="5495544" cy="3886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ThemeData themeData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ThemeData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colorScheme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_colorScheme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textTheme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_textTheme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appBarTheme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_appBarTheme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listTileTheme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_listTileThemeData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fontFamily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'Courier'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fontFamilyFallback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'monospace'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'serif'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720840" y="1847088"/>
            <a:ext cx="457200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 theme grumbullohet në theme.dart, MaterialApp mbetet i pastër dhe i lexueshëm.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Ky file bëhet vendi qendror ku diskutohen vendimet vizuale të projektit: ngjyra, tipografi, buttons, cards, list tiles, fields.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Në ekip ose në projekte universitare me shumë iterime, një file i tillë redukton konfuzionin dhe ndryshimet e shpërndara.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6720840" y="4709160"/>
            <a:ext cx="4572000" cy="987552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85432" y="4892040"/>
            <a:ext cx="0" cy="621792"/>
          </a:xfrm>
          <a:prstGeom prst="line">
            <a:avLst/>
          </a:prstGeom>
          <a:noFill/>
          <a:ln w="38100">
            <a:solidFill>
              <a:srgbClr val="6D5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4864608"/>
            <a:ext cx="4160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Lidhja me software engineering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0" y="5102352"/>
            <a:ext cx="41605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theme.dart është analog me service layer-in e kapitullit 9: i njëjti parim i centralizimit të përgjegjësive aplikohet edhe te dizajni.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Kapitulli 10 • MaterialApp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35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Si aplikohet tema në MaterialApp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Pasi ThemeData ekziston, integrimi është i thjeshtë — dhe kjo është pikërisht bukuria e qasjes.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1828800"/>
            <a:ext cx="4983480" cy="3611880"/>
          </a:xfrm>
          <a:prstGeom prst="roundRect">
            <a:avLst>
              <a:gd name="adj" fmla="val 2025"/>
            </a:avLst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11096"/>
            <a:ext cx="47091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8C7DD"/>
                </a:solidFill>
              </a:rPr>
              <a:t>Integrimi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86968" y="2084832"/>
            <a:ext cx="4764024" cy="3246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'./theme.dart'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MyApp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StatelessWidget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Widget build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BuildContext context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MaterialApp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title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'Themes and Styles Demo'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theme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themeData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routes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'/'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Dashboard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1938528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MaterialApp(theme: themeData)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2176272"/>
            <a:ext cx="42976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I gjithë subtree i Material widgets lexon Theme.of(context).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0" y="297180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308152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AppBar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3319272"/>
            <a:ext cx="18745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adopton appBarTheme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823960" y="297180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61120" y="308152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ListTile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61120" y="3319272"/>
            <a:ext cx="18745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adopton listTileTheme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0" y="452628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37960" y="463600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Text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37960" y="4873752"/>
            <a:ext cx="18745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adopton textTheme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23960" y="452628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961120" y="463600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Buttons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961120" y="4873752"/>
            <a:ext cx="18745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033"/>
                </a:solidFill>
              </a:rPr>
              <a:t>adoptojnë button themes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Kapitulli 10 • copyWith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36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Override për widget-e individuale me copyWith()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Default-et duhet të mbizotërojnë; përjashtimet ndërtohen duke i zgjeruar ato, jo duke i injoruar.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9808" y="18288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911096"/>
            <a:ext cx="5212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8C7DD"/>
                </a:solidFill>
              </a:rPr>
              <a:t>Pattern i rekomanduar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59536" y="2084832"/>
            <a:ext cx="5266944" cy="3840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TextStyle dangerButtonStyle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textTheme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labelLarge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copyWith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fontSize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18.0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fontWeight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FontWeight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Colors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TextButton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onPressed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deleteEverything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child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'Are you sure?'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style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dangerButtonStyle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46520" y="1828800"/>
            <a:ext cx="475488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copyWith() ruan lidhjen me sistemin ekzistues të temës, duke shmangur divergjencën e stilit.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Është ideal për raste si: button destruktiv, heading unik, banner i veçantë ose CTA që duhet të dalë në pah.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Nëse krijon stile nga zero shumë shpesh, humbet koherenca tipografike dhe e bën UI-n të pashkallëzueshëm.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6446520" y="470916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11112" y="4892040"/>
            <a:ext cx="0" cy="594360"/>
          </a:xfrm>
          <a:prstGeom prst="line">
            <a:avLst/>
          </a:prstGeom>
          <a:noFill/>
          <a:ln w="38100">
            <a:solidFill>
              <a:srgbClr val="F4B9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4864608"/>
            <a:ext cx="4343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Mesazhi i librit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66560" y="5102352"/>
            <a:ext cx="434340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Theme vendos default look-and-feel. copyWith() përdoret rrallë dhe me qëllim, vetëm kur një widget specifik duhet të devijojë në mënyrë të kontrolluar.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Kapitulli 10 • Colors &amp; dark mode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37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Ngjyrat, kontrasti dhe darkTheme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Libri e përmend qartë: MaterialApp nuk ka vetëm theme; ka edhe darkTheme.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9808" y="1719072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719072"/>
            <a:ext cx="4983480" cy="4389120"/>
          </a:xfrm>
          <a:prstGeom prst="roundRect">
            <a:avLst>
              <a:gd name="adj" fmla="val 1667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1920240"/>
            <a:ext cx="475488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Ngjyrat përdoren kudo: text, background, border, icons, buttons, shadows. Kjo do të thotë se një vendim i dobët në paletë përhapet shpejt.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Kontrasti nuk është luks estetik; është kërkesë e lexueshmërisë dhe aksesueshmërisë.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Në dark theme, rolet semantike (surface, onSurface, primary, error) bëhen edhe më të rëndësishme, sepse invertimi i thjeshtë i ngjyrave shpesh nuk mjafton.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510528" y="1965960"/>
            <a:ext cx="4572000" cy="1645920"/>
          </a:xfrm>
          <a:prstGeom prst="roundRect">
            <a:avLst>
              <a:gd name="adj" fmla="val 4444"/>
            </a:avLst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7688" y="2048256"/>
            <a:ext cx="42976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8C7DD"/>
                </a:solidFill>
              </a:rPr>
              <a:t>MaterialApp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620256" y="2221992"/>
            <a:ext cx="4352544" cy="1280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MaterialApp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lightThemeData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darkTheme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darkThemeData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10528" y="397764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75120" y="4160520"/>
            <a:ext cx="0" cy="868680"/>
          </a:xfrm>
          <a:prstGeom prst="line">
            <a:avLst/>
          </a:prstGeom>
          <a:noFill/>
          <a:ln w="38100">
            <a:solidFill>
              <a:srgbClr val="26C6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0568" y="4133088"/>
            <a:ext cx="4160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Rekomandim leksioni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30568" y="4370832"/>
            <a:ext cx="416052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Kur prezantoni themes, diskutoni edhe përdoruesin final: a lexohet mirë teksti? a dallohen state-t e gabimit? a ruhet kontrasti kur kalojmë nga light në dark?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Kapitulli 10 • Fonts &amp; checklist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38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Fonts, identitet vizual dhe checklist për projektet e studentëve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Në fund të kapitullit, libri prek edhe fonts; kjo është pjesë e rëndësishme e profesionalizmit të UI-së.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1700784"/>
            <a:ext cx="53492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36208" y="1700784"/>
            <a:ext cx="507492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1901952"/>
            <a:ext cx="484632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fontFamily dhe fontFamilyFallback lejojnë që projekti të ketë identitet vizual më të dallueshëm.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Zgjedhja e font-it nuk duhet të prishë lexueshmërinë; në aplikacione teknike shpesh fiton qartësia ndaj stilit ekstravagant.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Në temat reale, font-i duhet të harmonizohet me TextTheme dhe me hierarkinë ekzistuese të roleve tipografike.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6446520" y="1856232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Checklist i shpejtë para demonstrimit të aplikacionit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46520" y="2176272"/>
            <a:ext cx="448056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ka paletë të qartë dhe semantike?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janë titujt, tekstet dhe labels të standardizuara?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duken të njëjta AppBar, lista, buttons dhe fields?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ka light/dark story koherente?</a:t>
            </a:r>
            <a:endParaRPr lang="en-US" sz="1320" dirty="0"/>
          </a:p>
          <a:p>
            <a:pPr marL="150876" indent="-150876">
              <a:buSzPct val="100000"/>
              <a:buChar char="•"/>
            </a:pP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ka vetëm pak override të justifikuara me copyWith()?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96112" y="5074920"/>
            <a:ext cx="10058400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60704" y="5257800"/>
            <a:ext cx="0" cy="384048"/>
          </a:xfrm>
          <a:prstGeom prst="line">
            <a:avLst/>
          </a:prstGeom>
          <a:noFill/>
          <a:ln w="38100">
            <a:solidFill>
              <a:srgbClr val="6D5E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6152" y="5230368"/>
            <a:ext cx="9646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Përfundimi i kapitullit 10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16152" y="5468112"/>
            <a:ext cx="96469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Një aplikacion profesional nuk është vetëm “funktionon”. Duhet të ketë koherencë vizuale, ritëm tipografik dhe theme qendrore që e bëjnë kodin të mirëmbajtshëm.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Lecture 8 • Integrim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39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Kur Kapitulli 9 takohet me Kapitullin 10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Mësimi real është integrimi: data remote + structure e pastër + look-and-feel i qëndrueshëm.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691640"/>
            <a:ext cx="3291840" cy="4343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24528" y="1691640"/>
            <a:ext cx="3611880" cy="43434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0" y="169164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1" name="Image 0" descr="/mnt/data/phone_1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159" y="1874520"/>
            <a:ext cx="2342841" cy="36118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498848" y="1901952"/>
            <a:ext cx="306324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2084832"/>
            <a:ext cx="0" cy="731520"/>
          </a:xfrm>
          <a:prstGeom prst="line">
            <a:avLst/>
          </a:prstGeom>
          <a:noFill/>
          <a:ln w="38100">
            <a:solidFill>
              <a:srgbClr val="26C6A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18888" y="205740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Chapter 9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818888" y="2295144"/>
            <a:ext cx="26517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Rrjeti dhe modeli i të dhënave e bëjnë aplikacionin funksional: GET, DELETE, POST, PUT, FutureBuilder, Person.fromJson.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498848" y="3291840"/>
            <a:ext cx="306324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3474720"/>
            <a:ext cx="0" cy="731520"/>
          </a:xfrm>
          <a:prstGeom prst="line">
            <a:avLst/>
          </a:prstGeom>
          <a:noFill/>
          <a:ln w="38100">
            <a:solidFill>
              <a:srgbClr val="22C7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18888" y="344728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Chapter 10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18888" y="3685032"/>
            <a:ext cx="26517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ThemeData e bën aplikacionin të duket koherent: ColorScheme, TextTheme, AppBar/ListTile styles, copyWith kur duhet.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498848" y="4681728"/>
            <a:ext cx="306324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D9E2EF"/>
            </a:solidFill>
            <a:prstDash val="solid"/>
          </a:ln>
          <a:effectLst>
            <a:outerShdw blurRad="22860" dist="762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63440" y="4864608"/>
            <a:ext cx="0" cy="457200"/>
          </a:xfrm>
          <a:prstGeom prst="line">
            <a:avLst/>
          </a:prstGeom>
          <a:noFill/>
          <a:ln w="38100">
            <a:solidFill>
              <a:srgbClr val="F4B94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18888" y="4837176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Rezultati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818888" y="5074920"/>
            <a:ext cx="26517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33"/>
                </a:solidFill>
              </a:rPr>
              <a:t>Një CRUD app që jo vetëm funksionon, por edhe prezantohet mirë në demonstrim, projekt dhe portofol.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275320" y="1901952"/>
            <a:ext cx="288036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Kjo është arsyeja pse këta dy kapituj duhen mësuar bashkë.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 kapitullin 9 ke UI pa data reale.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 kapitullin 10 ke app funksional, por vizualisht i paqëndrueshëm.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Së bashku japin bazën e projekteve më serioze të semestrit.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Appendix • Kodi i plotë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40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Kodi i plotë i aplikacionit të ligjëratës — 1/3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main.dart + person.dart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1417320"/>
            <a:ext cx="5559552" cy="5285232"/>
          </a:xfrm>
          <a:prstGeom prst="roundRect">
            <a:avLst>
              <a:gd name="adj" fmla="val 1384"/>
            </a:avLst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499616"/>
            <a:ext cx="52852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8C7DD"/>
                </a:solidFill>
              </a:rPr>
              <a:t>main.dart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76656" y="1673352"/>
            <a:ext cx="5340096" cy="4919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// main.dart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'package:flutter/material.dart'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'people_list_screen.dart'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'upsert_person_screen.dart'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'theme.dart'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runApp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MyApp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MyApp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StatelessWidget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MyApp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Widget build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BuildContext context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MaterialApp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debugShowCheckedModeBanner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title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'Lecture 8 CRUD Demo'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theme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appTheme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routes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'/'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PeopleListScreen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'/upsert'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UpsertPersonScreen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27648" y="1417320"/>
            <a:ext cx="5266944" cy="5285232"/>
          </a:xfrm>
          <a:prstGeom prst="roundRect">
            <a:avLst>
              <a:gd name="adj" fmla="val 1389"/>
            </a:avLst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1499616"/>
            <a:ext cx="499262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8C7DD"/>
                </a:solidFill>
              </a:rPr>
              <a:t>person.dart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37376" y="1673352"/>
            <a:ext cx="5047488" cy="4919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// person.dart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'dart:convert'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Person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 name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 email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 phone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required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required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required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factory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fromJson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'id'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??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email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'email'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??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phone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'phone'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??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fromJsonArray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body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jsonDecode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fromJson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&gt;))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toJson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'id'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'name'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'email'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email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'phone'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phone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Appendix • Kodi i plotë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41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Kodi i plotë i aplikacionit të ligjëratës — 2/3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api_service.dart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1417320"/>
            <a:ext cx="11027664" cy="5285232"/>
          </a:xfrm>
          <a:prstGeom prst="roundRect">
            <a:avLst>
              <a:gd name="adj" fmla="val 1384"/>
            </a:avLst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499616"/>
            <a:ext cx="1075334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8C7DD"/>
                </a:solidFill>
              </a:rPr>
              <a:t>api_service.dart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76656" y="1673352"/>
            <a:ext cx="10808208" cy="4919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// api_service.dart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'dart:convert'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'package:http/http.dart'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'person.dart'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ApiService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 _baseUrl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'https://jsonplaceholder.typicode.com'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Future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fetchPeople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uri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Uri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_baseUrl/users'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Future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deletePerson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uri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Uri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_baseUrl/users/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delete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Future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upsertPerson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 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headers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'Content-Type'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'application/json'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payload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jsonEncode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toJson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uri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Uri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_baseUrl/users'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headers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headers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body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payload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uri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Uri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_baseUrl/users/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put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headers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headers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body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payload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3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Appendix • Kodi i plotë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336792"/>
            <a:ext cx="113385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2823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</a:rPr>
              <a:t>42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713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</a:rPr>
              <a:t>Kodi i plotë i aplikacionit të ligjëratës — 3/3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</a:rPr>
              <a:t>people_list_screen.dart + upsert_person_screen.dart + theme.dart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1417320"/>
            <a:ext cx="5852160" cy="5285232"/>
          </a:xfrm>
          <a:prstGeom prst="roundRect">
            <a:avLst>
              <a:gd name="adj" fmla="val 1384"/>
            </a:avLst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99616"/>
            <a:ext cx="5577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8C7DD"/>
                </a:solidFill>
              </a:rPr>
              <a:t>people_list_screen.dart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21208" y="1673352"/>
            <a:ext cx="5632704" cy="4919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400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// people_list_screen.dart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'package:flutter/material.dart'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'api_service.dart'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'person.dart'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PeopleListScreen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StatefulWidget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PeopleListScreen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PeopleListScreen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createState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_PeopleListScreenState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_PeopleListScreenState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PeopleListScreen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api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ApiService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late Future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peopleFuture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fetchPeople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refresh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setState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peopleFuture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fetchPeople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Widget build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BuildContext context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Scaffold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appBar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AppBar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'People'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body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FutureBuilder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future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peopleFuture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builder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snapshot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hasError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Center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'Error: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(!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hasData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Center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CircularProgressIndicator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people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fromJsonArray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ListView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children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people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ListTile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title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subtitle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•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onTap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Navigator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pushNamed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'/upsert'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arguments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refresh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trailing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IconButton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icon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Icon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Icons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delete_outline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onPressed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refresh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floatingActionButton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FloatingActionButton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onPressed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Navigator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pushNamed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'/upsert'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refresh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child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Icon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Icons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6382512" y="1417320"/>
            <a:ext cx="5394960" cy="5285232"/>
          </a:xfrm>
          <a:prstGeom prst="roundRect">
            <a:avLst>
              <a:gd name="adj" fmla="val 1384"/>
            </a:avLst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499616"/>
            <a:ext cx="5120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8C7DD"/>
                </a:solidFill>
              </a:rPr>
              <a:t>upsert_person_screen.dart + theme.dart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92240" y="1673352"/>
            <a:ext cx="5175504" cy="4919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400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// upsert_person_screen.dart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'package:flutter/material.dart'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'api_service.dart'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'person.dart'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'theme.dart'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UpsertPersonScreen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StatefulWidget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UpsertPersonScreen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UpsertPersonScreen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createState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_UpsertPersonScreenState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_UpsertPersonScreenState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UpsertPersonScreen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first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TextEditingController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email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TextEditingController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phone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TextEditingController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api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ApiService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didChangeDependencies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didChangeDependencies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person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??=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ModalRoute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)?.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arguments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first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email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phone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Future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save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updated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first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email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email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phone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phone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upsertPerson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(!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mounted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Navigator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Widget build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BuildContext context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Scaffold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appBar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AppBar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'Add person'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'Update a person'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body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Padding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padding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EdgeInsets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child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Column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children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TextField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first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decoration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InputDecoration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'Name'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TextField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phone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decoration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InputDecoration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'Phone'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TextField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email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decoration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InputDecoration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'Email'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floatingActionButton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FloatingActionButton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onPressed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save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child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Icon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Icons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 // theme.dart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appTheme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ThemeData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colorScheme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ColorScheme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fromSeed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seedColor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Colors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deepPurple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useMaterial3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6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10830</Words>
  <Application>Microsoft Office PowerPoint</Application>
  <PresentationFormat>Widescreen</PresentationFormat>
  <Paragraphs>706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Lecture_8_Mobile_programming</dc:title>
  <dc:subject>Lecture 8 Mobile Programming</dc:subject>
  <dc:creator>OpenAI</dc:creator>
  <cp:lastModifiedBy>CTS</cp:lastModifiedBy>
  <cp:revision>16</cp:revision>
  <dcterms:created xsi:type="dcterms:W3CDTF">2026-03-23T18:12:28Z</dcterms:created>
  <dcterms:modified xsi:type="dcterms:W3CDTF">2026-03-23T18:43:08Z</dcterms:modified>
</cp:coreProperties>
</file>