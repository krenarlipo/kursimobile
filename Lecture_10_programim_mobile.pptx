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4" d="100"/>
          <a:sy n="94" d="100"/>
        </p:scale>
        <p:origin x="24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213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Primary source: user-provided PDF of Rap Payne, Flutter App Development, cover page and Chapters 13-14, pp. 201-228.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audience and chapter scope on pages xxi-xxiv and chapter openings on pp. 201 and 219 of the provided PDF.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Based on the five-step layout process summarized in Chapter 11 and reiterated at the opening of Chapter 14, provided PDF pp. 177-181 and 219-220.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Primary material from Chapter 13 overflow warning bars and Chapter 14 alignment discussion, provided PDF pp. 202 and 221-222.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Rap Payne, Flutter App Development, Chapter 13 “Overflow Warning Bars,” provided PDF pp. 201-202; figure shown from page 202.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opening discussion in provided PDF p. 201 and sample overflow example on p. 204.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Sample code and figures from Chapter 13 “A Sample Problem to Solve,” provided PDF pp. 203-204.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“Our Options to Correct Overflows,” provided PDF p. 202.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“Allow the Children to Wrap,” provided PDF p. 205.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Wrap example and discussion in Chapter 13, provided PDF pp. 205-206.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“Squeeze the Children Until They Fit,” provided PDF pp. 206-207.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Flexible example and explanatory text in Chapter 13, provided PDF pp. 206-207.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“Another option for squeezing,” provided PDF p. 208.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“Allow the User to Scroll,” provided PDF pp. 208-209.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“SingleChildScrollView Widget,” provided PDF pp. 209-210.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“The ListView Widget,” provided PDF p. 211.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“ListView Is Memory Efficient,” provided PDF pp. 211-212.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“ListView Is Very Flexible” and “ListView.builder,” provided PDF pp. 212-213.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“ListView.builder,” provided PDF pp. 213-214.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“GridView Widget,” provided PDF p. 214.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“GridView.extent()”, provided PDF pp. 215-216 and Figures 13-8/13-9.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13 “GridView.count()”, provided PDF pp. 216-217 and Figures 13-10/13-11.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Synthesized from Chapter 13 strategies and examples, provided PDF pp. 202-217.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Summary synthesized from Chapter 13 conclusion and preceding sections, provided PDF p. 218 and pp. 202-217.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opening page, provided PDF p. 219.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“What if There’s Extra Space Left Over?” and beginning of mainAxisAlignment discussion, provided PDF p. 220.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“mainAxisAlignment,” provided PDF pp. 220-221 and Figure 14-1.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Figure 14-1 and its explanation, provided PDF p. 221.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“crossAxisAlignment,” provided PDF p. 222 and Figure 14-2.
[/Sources]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discussion of crossAxisAlignment and baseline, provided PDF pp. 222-223.
[/Sources]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“IntrinsicWidth,” provided PDF p. 223 and Figures 14-3/14-4.
[/Sources]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Figures 14-3, 14-4, and 14-5, provided PDF pp. 223-224.
[/Sources]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“Expanded Widget,” provided PDF p. 224.
[/Sources]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Figures 14-6 and 14-7, provided PDF pp. 224-225.
[/Sources]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Figure 14-8 and discussion, provided PDF p. 226.
[/Sources]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Figure 14-9 and flex explanation, provided PDF pp. 226-227.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Chapter 14 “Open Space with Expandeds” and Figure 14-10, provided PDF pp. 227-228.
[/Sources]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Synthesized from Chapter 14, provided PDF pp. 220-228.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Integrated synthesis from Chapters 13 and 14 using examples on provided PDF pp. 205, 211, and 221-228.
[/Sources]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Final recap synthesized from user-provided book chapters 13 and 14, pp. 201-228.
[/Sources]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FLUTTER LAYOUT MASTERCLASS</a:t>
            </a:r>
            <a:endParaRPr lang="en-US" sz="1200" dirty="0">
              <a:latin typeface="Rockwell" panose="02060603020205020403" pitchFamily="18" charset="0"/>
            </a:endParaRPr>
          </a:p>
        </p:txBody>
      </p:sp>
      <p:pic>
        <p:nvPicPr>
          <p:cNvPr id="6" name="Image 0" descr="/mnt/data/cover-001.png"/>
          <p:cNvPicPr>
            <a:picLocks noChangeAspect="1"/>
          </p:cNvPicPr>
          <p:nvPr/>
        </p:nvPicPr>
        <p:blipFill>
          <a:blip r:embed="rId3"/>
          <a:srcRect t="8235" b="8235"/>
          <a:stretch/>
        </p:blipFill>
        <p:spPr>
          <a:xfrm>
            <a:off x="7132320" y="502920"/>
            <a:ext cx="4572000" cy="5806440"/>
          </a:xfrm>
          <a:prstGeom prst="rect">
            <a:avLst/>
          </a:prstGeom>
        </p:spPr>
      </p:pic>
      <p:sp>
        <p:nvSpPr>
          <p:cNvPr id="7" name="Text 4"/>
          <p:cNvSpPr/>
          <p:nvPr/>
        </p:nvSpPr>
        <p:spPr>
          <a:xfrm>
            <a:off x="548640" y="777240"/>
            <a:ext cx="5852160" cy="1828800"/>
          </a:xfrm>
          <a:prstGeom prst="rect">
            <a:avLst/>
          </a:prstGeom>
          <a:noFill/>
          <a:ln/>
        </p:spPr>
        <p:txBody>
          <a:bodyPr wrap="square" lIns="0" tIns="0" rIns="0" bIns="0" rtlCol="0" anchor="ctr"/>
          <a:lstStyle/>
          <a:p>
            <a:pPr marL="0" indent="0">
              <a:buNone/>
            </a:pPr>
            <a:r>
              <a:rPr lang="en-US" sz="2800" b="1" dirty="0">
                <a:solidFill>
                  <a:srgbClr val="F6F1E8"/>
                </a:solidFill>
              </a:rPr>
              <a:t>Flutter Layout</a:t>
            </a:r>
            <a:endParaRPr lang="en-US" sz="2800" dirty="0"/>
          </a:p>
          <a:p>
            <a:pPr marL="0" indent="0">
              <a:buNone/>
            </a:pPr>
            <a:r>
              <a:rPr lang="en-US" sz="2800" b="1" dirty="0">
                <a:solidFill>
                  <a:srgbClr val="F6F1E8"/>
                </a:solidFill>
              </a:rPr>
              <a:t>Fixing Overflows</a:t>
            </a:r>
            <a:endParaRPr lang="en-US" sz="2800" dirty="0"/>
          </a:p>
          <a:p>
            <a:pPr marL="0" indent="0">
              <a:buNone/>
            </a:pPr>
            <a:r>
              <a:rPr lang="en-US" sz="2800" b="1" dirty="0">
                <a:solidFill>
                  <a:srgbClr val="F6F1E8"/>
                </a:solidFill>
              </a:rPr>
              <a:t>and Filling Extra Space</a:t>
            </a:r>
            <a:endParaRPr lang="en-US" sz="2800" dirty="0"/>
          </a:p>
        </p:txBody>
      </p:sp>
      <p:sp>
        <p:nvSpPr>
          <p:cNvPr id="8" name="Text 5"/>
          <p:cNvSpPr/>
          <p:nvPr/>
        </p:nvSpPr>
        <p:spPr>
          <a:xfrm>
            <a:off x="566928" y="2788920"/>
            <a:ext cx="5577840" cy="822960"/>
          </a:xfrm>
          <a:prstGeom prst="rect">
            <a:avLst/>
          </a:prstGeom>
          <a:noFill/>
          <a:ln/>
        </p:spPr>
        <p:txBody>
          <a:bodyPr wrap="square" lIns="0" tIns="0" rIns="0" bIns="0" rtlCol="0" anchor="ctr"/>
          <a:lstStyle/>
          <a:p>
            <a:pPr marL="0" indent="0">
              <a:buNone/>
            </a:pPr>
            <a:r>
              <a:rPr lang="en-US" sz="1400" dirty="0">
                <a:solidFill>
                  <a:srgbClr val="C8C4BC"/>
                </a:solidFill>
              </a:rPr>
              <a:t>Professional lecture deck for third-year computer engineering students</a:t>
            </a:r>
            <a:endParaRPr lang="en-US" sz="1400" dirty="0"/>
          </a:p>
          <a:p>
            <a:pPr marL="0" indent="0">
              <a:buNone/>
            </a:pPr>
            <a:r>
              <a:rPr lang="en-US" sz="1400" dirty="0">
                <a:solidFill>
                  <a:srgbClr val="C8C4BC"/>
                </a:solidFill>
              </a:rPr>
              <a:t>Based on Chapter 13 and Chapter 14 of Flutter App Development (Rap Payne, 2024).</a:t>
            </a:r>
            <a:endParaRPr lang="en-US" sz="1400" dirty="0"/>
          </a:p>
        </p:txBody>
      </p:sp>
      <p:sp>
        <p:nvSpPr>
          <p:cNvPr id="9" name="Shape 6"/>
          <p:cNvSpPr/>
          <p:nvPr/>
        </p:nvSpPr>
        <p:spPr>
          <a:xfrm>
            <a:off x="566928" y="3794760"/>
            <a:ext cx="5394960" cy="685800"/>
          </a:xfrm>
          <a:prstGeom prst="roundRect">
            <a:avLst>
              <a:gd name="adj" fmla="val 8000"/>
            </a:avLst>
          </a:prstGeom>
          <a:solidFill>
            <a:srgbClr val="202020"/>
          </a:solidFill>
          <a:ln w="12700">
            <a:solidFill>
              <a:srgbClr val="F2C300"/>
            </a:solidFill>
            <a:prstDash val="solid"/>
          </a:ln>
        </p:spPr>
      </p:sp>
      <p:sp>
        <p:nvSpPr>
          <p:cNvPr id="10" name="Text 7"/>
          <p:cNvSpPr/>
          <p:nvPr/>
        </p:nvSpPr>
        <p:spPr>
          <a:xfrm>
            <a:off x="676656" y="3867912"/>
            <a:ext cx="5175504" cy="539496"/>
          </a:xfrm>
          <a:prstGeom prst="rect">
            <a:avLst/>
          </a:prstGeom>
          <a:noFill/>
          <a:ln/>
        </p:spPr>
        <p:txBody>
          <a:bodyPr wrap="square" lIns="0" tIns="0" rIns="0" bIns="0" rtlCol="0" anchor="ctr">
            <a:normAutofit/>
          </a:bodyPr>
          <a:lstStyle/>
          <a:p>
            <a:pPr marL="0" indent="0">
              <a:buNone/>
            </a:pPr>
            <a:r>
              <a:rPr lang="en-US" sz="1400" b="1" dirty="0">
                <a:solidFill>
                  <a:srgbClr val="FFD95A"/>
                </a:solidFill>
              </a:rPr>
              <a:t>Focus: responsive layouts, constraints, overflow recovery, and intelligent space allocation</a:t>
            </a:r>
            <a:endParaRPr lang="en-US" sz="1400" dirty="0"/>
          </a:p>
        </p:txBody>
      </p:sp>
      <p:sp>
        <p:nvSpPr>
          <p:cNvPr id="11" name="Text 8"/>
          <p:cNvSpPr/>
          <p:nvPr/>
        </p:nvSpPr>
        <p:spPr>
          <a:xfrm>
            <a:off x="585216" y="4709160"/>
            <a:ext cx="3657600" cy="228600"/>
          </a:xfrm>
          <a:prstGeom prst="rect">
            <a:avLst/>
          </a:prstGeom>
          <a:noFill/>
          <a:ln/>
        </p:spPr>
        <p:txBody>
          <a:bodyPr wrap="square" rtlCol="0" anchor="ctr"/>
          <a:lstStyle/>
          <a:p>
            <a:pPr marL="0" indent="0">
              <a:buNone/>
            </a:pPr>
            <a:r>
              <a:rPr lang="en-US" sz="1500" b="1" dirty="0">
                <a:solidFill>
                  <a:srgbClr val="FFD95A"/>
                </a:solidFill>
              </a:rPr>
              <a:t>40-slide instructional presentation</a:t>
            </a:r>
            <a:endParaRPr lang="en-US" sz="1500" dirty="0"/>
          </a:p>
        </p:txBody>
      </p:sp>
      <p:sp>
        <p:nvSpPr>
          <p:cNvPr id="13" name="Text 9"/>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a:t>
            </a:r>
            <a:endParaRPr lang="en-US" sz="900" dirty="0"/>
          </a:p>
        </p:txBody>
      </p:sp>
      <p:sp>
        <p:nvSpPr>
          <p:cNvPr id="14" name="Text 10"/>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SCOPE AND AUDIENCE</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Source, scope, and expected background</a:t>
            </a:r>
            <a:endParaRPr lang="en-US" sz="2400" dirty="0"/>
          </a:p>
        </p:txBody>
      </p:sp>
      <p:sp>
        <p:nvSpPr>
          <p:cNvPr id="7" name="Text 5"/>
          <p:cNvSpPr/>
          <p:nvPr/>
        </p:nvSpPr>
        <p:spPr>
          <a:xfrm>
            <a:off x="481692" y="1024128"/>
            <a:ext cx="6312247" cy="411480"/>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Why these chapters matter in a production Flutter workflow</a:t>
            </a:r>
            <a:endParaRPr lang="en-US" sz="1200" dirty="0">
              <a:latin typeface="Rockwell" panose="02060603020205020403" pitchFamily="18" charset="0"/>
            </a:endParaRPr>
          </a:p>
        </p:txBody>
      </p:sp>
      <p:sp>
        <p:nvSpPr>
          <p:cNvPr id="8" name="Text 6"/>
          <p:cNvSpPr/>
          <p:nvPr/>
        </p:nvSpPr>
        <p:spPr>
          <a:xfrm>
            <a:off x="381305" y="1883664"/>
            <a:ext cx="6400800" cy="4297680"/>
          </a:xfrm>
          <a:prstGeom prst="rect">
            <a:avLst/>
          </a:prstGeom>
          <a:noFill/>
          <a:ln/>
        </p:spPr>
        <p:txBody>
          <a:bodyPr wrap="square" lIns="635" tIns="635" rIns="635" bIns="635" rtlCol="0" anchor="t">
            <a:normAutofit/>
          </a:bodyPr>
          <a:lstStyle/>
          <a:p>
            <a:pPr marL="177800" indent="-177800">
              <a:buSzPct val="100000"/>
              <a:buChar char="•"/>
            </a:pPr>
            <a:r>
              <a:rPr lang="en-US" dirty="0">
                <a:solidFill>
                  <a:srgbClr val="F6F1E8"/>
                </a:solidFill>
              </a:rPr>
              <a:t>The book positions Chapter 13 as the answer to “what do we do when we are trying to draw more than fits on the screen?” and Chapter 14 as the complement: “what do we do when there is less content than screen space?”</a:t>
            </a:r>
            <a:endParaRPr lang="en-US" dirty="0"/>
          </a:p>
          <a:p>
            <a:pPr marL="177800" indent="-177800">
              <a:buSzPct val="100000"/>
              <a:buChar char="•"/>
            </a:pPr>
            <a:r>
              <a:rPr lang="en-US" dirty="0">
                <a:solidFill>
                  <a:srgbClr val="F6F1E8"/>
                </a:solidFill>
              </a:rPr>
              <a:t>These chapters sit inside a five-step layout process: layout the scene, position widgets, fix overflows, fill extra space, and then fine-tune positioning.</a:t>
            </a:r>
            <a:endParaRPr lang="en-US" dirty="0"/>
          </a:p>
          <a:p>
            <a:pPr marL="177800" indent="-177800">
              <a:buSzPct val="100000"/>
              <a:buChar char="•"/>
            </a:pPr>
            <a:r>
              <a:rPr lang="en-US" dirty="0">
                <a:solidFill>
                  <a:srgbClr val="F6F1E8"/>
                </a:solidFill>
              </a:rPr>
              <a:t>The author explicitly targets developers who already know an object-oriented language and want practical Flutter engineering patterns rather than theory alone.</a:t>
            </a:r>
            <a:endParaRPr lang="en-US" dirty="0"/>
          </a:p>
          <a:p>
            <a:pPr marL="177800" indent="-177800">
              <a:buSzPct val="100000"/>
              <a:buChar char="•"/>
            </a:pPr>
            <a:r>
              <a:rPr lang="en-US" dirty="0">
                <a:solidFill>
                  <a:srgbClr val="F6F1E8"/>
                </a:solidFill>
              </a:rPr>
              <a:t>For third-year computer engineers, the useful lens is constraint-driven design: every widget tree is solving a geometry problem under changing display conditions.</a:t>
            </a:r>
            <a:endParaRPr lang="en-US" dirty="0"/>
          </a:p>
        </p:txBody>
      </p:sp>
      <p:sp>
        <p:nvSpPr>
          <p:cNvPr id="9" name="Shape 7"/>
          <p:cNvSpPr/>
          <p:nvPr/>
        </p:nvSpPr>
        <p:spPr>
          <a:xfrm>
            <a:off x="7315200" y="1234440"/>
            <a:ext cx="4343400" cy="5074920"/>
          </a:xfrm>
          <a:prstGeom prst="roundRect">
            <a:avLst>
              <a:gd name="adj" fmla="val 1684"/>
            </a:avLst>
          </a:prstGeom>
          <a:solidFill>
            <a:srgbClr val="F7F7F7"/>
          </a:solidFill>
          <a:ln w="12700">
            <a:solidFill>
              <a:srgbClr val="F2C300"/>
            </a:solidFill>
            <a:prstDash val="solid"/>
          </a:ln>
        </p:spPr>
      </p:sp>
      <p:pic>
        <p:nvPicPr>
          <p:cNvPr id="10" name="Image 0" descr="/mnt/data/render/page-221.png"/>
          <p:cNvPicPr>
            <a:picLocks noChangeAspect="1"/>
          </p:cNvPicPr>
          <p:nvPr/>
        </p:nvPicPr>
        <p:blipFill>
          <a:blip r:embed="rId3"/>
          <a:stretch>
            <a:fillRect/>
          </a:stretch>
        </p:blipFill>
        <p:spPr>
          <a:xfrm>
            <a:off x="7836461" y="1271016"/>
            <a:ext cx="3300879" cy="500176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a:t>
            </a:r>
            <a:endParaRPr lang="en-US" sz="900" dirty="0"/>
          </a:p>
        </p:txBody>
      </p:sp>
      <p:sp>
        <p:nvSpPr>
          <p:cNvPr id="13"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305" y="-566928"/>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CONTEXT</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The five-step Flutter layout pipeline</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rPr>
              <a:t>Chapters 13 and 14 cover steps 3 and 4</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2081541621"/>
              </p:ext>
            </p:extLst>
          </p:nvPr>
        </p:nvGraphicFramePr>
        <p:xfrm>
          <a:off x="411479" y="1764790"/>
          <a:ext cx="6951921" cy="4069081"/>
        </p:xfrm>
        <a:graphic>
          <a:graphicData uri="http://schemas.openxmlformats.org/drawingml/2006/table">
            <a:tbl>
              <a:tblPr/>
              <a:tblGrid>
                <a:gridCol w="571391">
                  <a:extLst>
                    <a:ext uri="{9D8B030D-6E8A-4147-A177-3AD203B41FA5}">
                      <a16:colId xmlns:a16="http://schemas.microsoft.com/office/drawing/2014/main" val="20000"/>
                    </a:ext>
                  </a:extLst>
                </a:gridCol>
                <a:gridCol w="1904636">
                  <a:extLst>
                    <a:ext uri="{9D8B030D-6E8A-4147-A177-3AD203B41FA5}">
                      <a16:colId xmlns:a16="http://schemas.microsoft.com/office/drawing/2014/main" val="20001"/>
                    </a:ext>
                  </a:extLst>
                </a:gridCol>
                <a:gridCol w="4475894">
                  <a:extLst>
                    <a:ext uri="{9D8B030D-6E8A-4147-A177-3AD203B41FA5}">
                      <a16:colId xmlns:a16="http://schemas.microsoft.com/office/drawing/2014/main" val="20002"/>
                    </a:ext>
                  </a:extLst>
                </a:gridCol>
              </a:tblGrid>
              <a:tr h="522634">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Step</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Intent</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Representative widgets</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688550">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Layout the whole scene</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MaterialApp, Scaffold, AppBar, SafeArea</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688550">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2</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Position widgets relative to each other</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Row, Column, Flex, MediaQuery</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958163">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3</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Fix overflows when content exceeds constraints</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Wrap, Flexible, FittedBox, SingleChildScrollView, ListView, GridView</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688550">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Fill extra space elegantly</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mainAxisAlignment, crossAxisAlignment, IntrinsicWidth, Expanded, Spacer, SizedBox</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522634">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5</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Fine-tune placement</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400" dirty="0">
                          <a:solidFill>
                            <a:srgbClr val="F6F1E8"/>
                          </a:solidFill>
                          <a:latin typeface="Aptos" pitchFamily="34" charset="0"/>
                          <a:ea typeface="Aptos" pitchFamily="34" charset="-122"/>
                          <a:cs typeface="Aptos" pitchFamily="34" charset="-120"/>
                        </a:rPr>
                        <a:t>Padding, Margin, Alignment, Container decorations</a:t>
                      </a:r>
                      <a:endParaRPr lang="en-US" sz="14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bl>
          </a:graphicData>
        </a:graphic>
      </p:graphicFrame>
      <p:sp>
        <p:nvSpPr>
          <p:cNvPr id="9" name="Text 6"/>
          <p:cNvSpPr/>
          <p:nvPr/>
        </p:nvSpPr>
        <p:spPr>
          <a:xfrm>
            <a:off x="7696503" y="822961"/>
            <a:ext cx="3870657" cy="3324496"/>
          </a:xfrm>
          <a:prstGeom prst="rect">
            <a:avLst/>
          </a:prstGeom>
          <a:noFill/>
          <a:ln/>
        </p:spPr>
        <p:txBody>
          <a:bodyPr wrap="square" lIns="635" tIns="635" rIns="635" bIns="635" rtlCol="0" anchor="t">
            <a:normAutofit/>
          </a:bodyPr>
          <a:lstStyle/>
          <a:p>
            <a:pPr marL="177800" indent="-177800">
              <a:buSzPct val="100000"/>
              <a:buChar char="•"/>
            </a:pPr>
            <a:r>
              <a:rPr lang="en-US" sz="1650" dirty="0">
                <a:solidFill>
                  <a:srgbClr val="F6F1E8"/>
                </a:solidFill>
              </a:rPr>
              <a:t>This sequence is pedagogically important: overflow fixes only make sense after you understand how widgets are already being positioned.</a:t>
            </a:r>
            <a:endParaRPr lang="en-US" sz="1650" dirty="0"/>
          </a:p>
          <a:p>
            <a:pPr marL="177800" indent="-177800">
              <a:buSzPct val="100000"/>
              <a:buChar char="•"/>
            </a:pPr>
            <a:r>
              <a:rPr lang="en-US" sz="1650" dirty="0">
                <a:solidFill>
                  <a:srgbClr val="F6F1E8"/>
                </a:solidFill>
              </a:rPr>
              <a:t>Likewise, space-filling rules are not cosmetic. They are a second-stage optimization applied after correctness has been restored.</a:t>
            </a:r>
            <a:endParaRPr lang="en-US" sz="1650" dirty="0"/>
          </a:p>
          <a:p>
            <a:pPr marL="177800" indent="-177800">
              <a:buSzPct val="100000"/>
              <a:buChar char="•"/>
            </a:pPr>
            <a:r>
              <a:rPr lang="en-US" sz="1650" dirty="0">
                <a:solidFill>
                  <a:srgbClr val="F6F1E8"/>
                </a:solidFill>
              </a:rPr>
              <a:t>In exam terms: solve for fit first, aesthetics second.</a:t>
            </a:r>
            <a:endParaRPr lang="en-US" sz="1650" dirty="0"/>
          </a:p>
        </p:txBody>
      </p:sp>
      <p:sp>
        <p:nvSpPr>
          <p:cNvPr id="10" name="Shape 7"/>
          <p:cNvSpPr/>
          <p:nvPr/>
        </p:nvSpPr>
        <p:spPr>
          <a:xfrm>
            <a:off x="7845552" y="4104356"/>
            <a:ext cx="3520440" cy="1071149"/>
          </a:xfrm>
          <a:prstGeom prst="roundRect">
            <a:avLst>
              <a:gd name="adj" fmla="val 10000"/>
            </a:avLst>
          </a:prstGeom>
          <a:solidFill>
            <a:srgbClr val="202020"/>
          </a:solidFill>
          <a:ln w="12700">
            <a:solidFill>
              <a:srgbClr val="F2C300"/>
            </a:solidFill>
            <a:prstDash val="solid"/>
          </a:ln>
        </p:spPr>
      </p:sp>
      <p:sp>
        <p:nvSpPr>
          <p:cNvPr id="11" name="Text 8"/>
          <p:cNvSpPr/>
          <p:nvPr/>
        </p:nvSpPr>
        <p:spPr>
          <a:xfrm>
            <a:off x="8065008" y="3257551"/>
            <a:ext cx="3169049" cy="2777488"/>
          </a:xfrm>
          <a:prstGeom prst="rect">
            <a:avLst/>
          </a:prstGeom>
          <a:noFill/>
          <a:ln/>
        </p:spPr>
        <p:txBody>
          <a:bodyPr wrap="square" lIns="0" tIns="0" rIns="0" bIns="0" rtlCol="0" anchor="ctr">
            <a:normAutofit/>
          </a:bodyPr>
          <a:lstStyle/>
          <a:p>
            <a:pPr marL="0" indent="0">
              <a:buNone/>
            </a:pPr>
            <a:r>
              <a:rPr lang="en-US" sz="1400" b="1" dirty="0">
                <a:solidFill>
                  <a:srgbClr val="FFD95A"/>
                </a:solidFill>
              </a:rPr>
              <a:t>Key engineering idea: every layout problem is a constraints problem, not a pixel-painting problem.</a:t>
            </a:r>
            <a:endParaRPr lang="en-US" sz="1400" dirty="0"/>
          </a:p>
        </p:txBody>
      </p:sp>
      <p:sp>
        <p:nvSpPr>
          <p:cNvPr id="13" name="Text 9"/>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a:t>
            </a:r>
            <a:endParaRPr lang="en-US" sz="900" dirty="0"/>
          </a:p>
        </p:txBody>
      </p:sp>
      <p:sp>
        <p:nvSpPr>
          <p:cNvPr id="14" name="Text 10"/>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ROADMAP</a:t>
            </a:r>
            <a:endParaRPr lang="en-US" sz="14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Two complementary failure modes in layout</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rPr>
              <a:t>Overflow and leftover space often occur in different regions of the same scene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3867938363"/>
              </p:ext>
            </p:extLst>
          </p:nvPr>
        </p:nvGraphicFramePr>
        <p:xfrm>
          <a:off x="379912" y="1717548"/>
          <a:ext cx="7406640" cy="1990344"/>
        </p:xfrm>
        <a:graphic>
          <a:graphicData uri="http://schemas.openxmlformats.org/drawingml/2006/table">
            <a:tbl>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Condition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Symptom in UI</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Primary question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Typical recovery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Insufficient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Yellow/black warning bars in debug, clipped content in release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Which content must remain visible and interactive?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Wrap it, compress it, or make it scroll</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Excess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Loose composition, awkward gaps, uneven rhythm</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Where should the free room be allocated?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Align, stretch, expand, or insert controlled whitespace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bl>
          </a:graphicData>
        </a:graphic>
      </p:graphicFrame>
      <p:sp>
        <p:nvSpPr>
          <p:cNvPr id="9" name="Text 6"/>
          <p:cNvSpPr/>
          <p:nvPr/>
        </p:nvSpPr>
        <p:spPr>
          <a:xfrm>
            <a:off x="594360" y="4617720"/>
            <a:ext cx="7223760" cy="1234440"/>
          </a:xfrm>
          <a:prstGeom prst="rect">
            <a:avLst/>
          </a:prstGeom>
          <a:noFill/>
          <a:ln/>
        </p:spPr>
        <p:txBody>
          <a:bodyPr wrap="square" lIns="635" tIns="635" rIns="635" bIns="635" rtlCol="0" anchor="t">
            <a:normAutofit/>
          </a:bodyPr>
          <a:lstStyle/>
          <a:p>
            <a:pPr marL="177800" indent="-177800">
              <a:buSzPct val="100000"/>
              <a:buChar char="•"/>
            </a:pPr>
            <a:r>
              <a:rPr lang="en-US" sz="1600" dirty="0">
                <a:solidFill>
                  <a:srgbClr val="F6F1E8"/>
                </a:solidFill>
              </a:rPr>
              <a:t>Flutter does not “guess” the best visual answer. It reports the geometry issue and then relies on the developer to encode the right policy.</a:t>
            </a:r>
            <a:endParaRPr lang="en-US" sz="1600" dirty="0"/>
          </a:p>
          <a:p>
            <a:pPr marL="177800" indent="-177800">
              <a:buSzPct val="100000"/>
              <a:buChar char="•"/>
            </a:pPr>
            <a:r>
              <a:rPr lang="en-US" sz="1600" dirty="0">
                <a:solidFill>
                  <a:srgbClr val="F6F1E8"/>
                </a:solidFill>
              </a:rPr>
              <a:t>The right policy depends on content semantics: words wrap naturally; photos often scale; records, feeds, and catalogs usually scroll.</a:t>
            </a:r>
            <a:endParaRPr lang="en-US" sz="1600" dirty="0"/>
          </a:p>
        </p:txBody>
      </p:sp>
      <p:sp>
        <p:nvSpPr>
          <p:cNvPr id="10" name="Shape 7"/>
          <p:cNvSpPr/>
          <p:nvPr/>
        </p:nvSpPr>
        <p:spPr>
          <a:xfrm>
            <a:off x="8183880" y="1417320"/>
            <a:ext cx="3520440" cy="2011680"/>
          </a:xfrm>
          <a:prstGeom prst="roundRect">
            <a:avLst>
              <a:gd name="adj" fmla="val 3636"/>
            </a:avLst>
          </a:prstGeom>
          <a:solidFill>
            <a:srgbClr val="F7F7F7"/>
          </a:solidFill>
          <a:ln w="12700">
            <a:solidFill>
              <a:srgbClr val="F2C300"/>
            </a:solidFill>
            <a:prstDash val="solid"/>
          </a:ln>
        </p:spPr>
      </p:sp>
      <p:pic>
        <p:nvPicPr>
          <p:cNvPr id="11" name="Image 0" descr="/mnt/data/crops/overflow_bars.png"/>
          <p:cNvPicPr>
            <a:picLocks noChangeAspect="1"/>
          </p:cNvPicPr>
          <p:nvPr/>
        </p:nvPicPr>
        <p:blipFill>
          <a:blip r:embed="rId3"/>
          <a:stretch>
            <a:fillRect/>
          </a:stretch>
        </p:blipFill>
        <p:spPr>
          <a:xfrm>
            <a:off x="8292761" y="1453896"/>
            <a:ext cx="3302677" cy="1938528"/>
          </a:xfrm>
          <a:prstGeom prst="rect">
            <a:avLst/>
          </a:prstGeom>
        </p:spPr>
      </p:pic>
      <p:sp>
        <p:nvSpPr>
          <p:cNvPr id="12" name="Shape 8"/>
          <p:cNvSpPr/>
          <p:nvPr/>
        </p:nvSpPr>
        <p:spPr>
          <a:xfrm>
            <a:off x="8183880" y="3749040"/>
            <a:ext cx="3520440" cy="2148840"/>
          </a:xfrm>
          <a:prstGeom prst="roundRect">
            <a:avLst>
              <a:gd name="adj" fmla="val 3404"/>
            </a:avLst>
          </a:prstGeom>
          <a:solidFill>
            <a:srgbClr val="F7F7F7"/>
          </a:solidFill>
          <a:ln w="12700">
            <a:solidFill>
              <a:srgbClr val="F2C300"/>
            </a:solidFill>
            <a:prstDash val="solid"/>
          </a:ln>
        </p:spPr>
      </p:sp>
      <p:pic>
        <p:nvPicPr>
          <p:cNvPr id="13" name="Image 1" descr="/mnt/data/render/page-241.png"/>
          <p:cNvPicPr>
            <a:picLocks noChangeAspect="1"/>
          </p:cNvPicPr>
          <p:nvPr/>
        </p:nvPicPr>
        <p:blipFill>
          <a:blip r:embed="rId4"/>
          <a:stretch>
            <a:fillRect/>
          </a:stretch>
        </p:blipFill>
        <p:spPr>
          <a:xfrm>
            <a:off x="9259183" y="3785616"/>
            <a:ext cx="1369834" cy="2075688"/>
          </a:xfrm>
          <a:prstGeom prst="rect">
            <a:avLst/>
          </a:prstGeom>
        </p:spPr>
      </p:pic>
      <p:sp>
        <p:nvSpPr>
          <p:cNvPr id="15" name="Text 9"/>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4</a:t>
            </a:r>
            <a:endParaRPr lang="en-US" sz="900" dirty="0"/>
          </a:p>
        </p:txBody>
      </p:sp>
      <p:sp>
        <p:nvSpPr>
          <p:cNvPr id="16" name="Text 10"/>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CHAPTER 13</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Overflow warning bars are a diagnostic, not a crash</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Flutter warns loudly in debug mode when a widget paints outside its box</a:t>
            </a:r>
            <a:endParaRPr lang="en-US" sz="1200" dirty="0">
              <a:latin typeface="Rockwell" panose="02060603020205020403" pitchFamily="18" charset="0"/>
            </a:endParaRPr>
          </a:p>
        </p:txBody>
      </p:sp>
      <p:sp>
        <p:nvSpPr>
          <p:cNvPr id="8" name="Text 6"/>
          <p:cNvSpPr/>
          <p:nvPr/>
        </p:nvSpPr>
        <p:spPr>
          <a:xfrm>
            <a:off x="331470" y="1700457"/>
            <a:ext cx="6217920" cy="4206240"/>
          </a:xfrm>
          <a:prstGeom prst="rect">
            <a:avLst/>
          </a:prstGeom>
          <a:noFill/>
          <a:ln/>
        </p:spPr>
        <p:txBody>
          <a:bodyPr wrap="square" lIns="635" tIns="635" rIns="635" bIns="635" rtlCol="0" anchor="t">
            <a:normAutofit/>
          </a:bodyPr>
          <a:lstStyle/>
          <a:p>
            <a:pPr marL="177800" indent="-177800">
              <a:buSzPct val="100000"/>
              <a:buChar char="•"/>
            </a:pPr>
            <a:r>
              <a:rPr lang="en-US" sz="1650" dirty="0">
                <a:solidFill>
                  <a:srgbClr val="F6F1E8"/>
                </a:solidFill>
              </a:rPr>
              <a:t>The author is explicit: an overflow is “not a fatal error, but it’s bad.” In debug mode Flutter overlays yellow-and-black stripes plus the number of overflowed pixels.</a:t>
            </a:r>
            <a:endParaRPr lang="en-US" sz="1650" dirty="0"/>
          </a:p>
          <a:p>
            <a:pPr marL="177800" indent="-177800">
              <a:buSzPct val="100000"/>
              <a:buChar char="•"/>
            </a:pPr>
            <a:r>
              <a:rPr lang="en-US" sz="1650" dirty="0">
                <a:solidFill>
                  <a:srgbClr val="F6F1E8"/>
                </a:solidFill>
              </a:rPr>
              <a:t>In release builds, the app does not show the warning bars. The overflowing widget is simply clipped, which can hide data or remove interaction affordances.</a:t>
            </a:r>
            <a:endParaRPr lang="en-US" sz="1650" dirty="0"/>
          </a:p>
          <a:p>
            <a:pPr marL="177800" indent="-177800">
              <a:buSzPct val="100000"/>
              <a:buChar char="•"/>
            </a:pPr>
            <a:r>
              <a:rPr lang="en-US" sz="1650" dirty="0">
                <a:solidFill>
                  <a:srgbClr val="F6F1E8"/>
                </a:solidFill>
              </a:rPr>
              <a:t>Therefore the warning is a design-time observability feature. Treat it the same way you would treat a compiler warning about undefined behavior: not immediately fatal, but unsafe to ignore.</a:t>
            </a:r>
            <a:endParaRPr lang="en-US" sz="1650" dirty="0"/>
          </a:p>
          <a:p>
            <a:pPr marL="177800" indent="-177800">
              <a:buSzPct val="100000"/>
              <a:buChar char="•"/>
            </a:pPr>
            <a:r>
              <a:rPr lang="en-US" sz="1650" dirty="0">
                <a:solidFill>
                  <a:srgbClr val="F6F1E8"/>
                </a:solidFill>
              </a:rPr>
              <a:t>For students: the key mistake is assuming that “works on my phone” means the layout is solved. Rotation, text scaling, localization, and smaller screens invalidate that assumption.</a:t>
            </a:r>
            <a:endParaRPr lang="en-US" sz="1650" dirty="0"/>
          </a:p>
        </p:txBody>
      </p:sp>
      <p:sp>
        <p:nvSpPr>
          <p:cNvPr id="9" name="Shape 7"/>
          <p:cNvSpPr/>
          <p:nvPr/>
        </p:nvSpPr>
        <p:spPr>
          <a:xfrm>
            <a:off x="7225047" y="1078992"/>
            <a:ext cx="4526280" cy="5394960"/>
          </a:xfrm>
          <a:prstGeom prst="roundRect">
            <a:avLst>
              <a:gd name="adj" fmla="val 1616"/>
            </a:avLst>
          </a:prstGeom>
          <a:solidFill>
            <a:srgbClr val="F7F7F7"/>
          </a:solidFill>
          <a:ln w="12700">
            <a:solidFill>
              <a:srgbClr val="F2C300"/>
            </a:solidFill>
            <a:prstDash val="solid"/>
          </a:ln>
        </p:spPr>
      </p:sp>
      <p:pic>
        <p:nvPicPr>
          <p:cNvPr id="10" name="Image 0" descr="/mnt/data/render/page-222.png"/>
          <p:cNvPicPr>
            <a:picLocks noChangeAspect="1"/>
          </p:cNvPicPr>
          <p:nvPr/>
        </p:nvPicPr>
        <p:blipFill>
          <a:blip r:embed="rId3"/>
          <a:stretch>
            <a:fillRect/>
          </a:stretch>
        </p:blipFill>
        <p:spPr>
          <a:xfrm>
            <a:off x="7848423" y="1142673"/>
            <a:ext cx="3512087" cy="532180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5</a:t>
            </a:r>
            <a:endParaRPr lang="en-US" sz="900" dirty="0"/>
          </a:p>
        </p:txBody>
      </p:sp>
      <p:sp>
        <p:nvSpPr>
          <p:cNvPr id="13"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CHAPTER 13</a:t>
            </a:r>
            <a:endParaRPr lang="en-US" sz="14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Why overflows are normal in real systems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A responsive UI is expected to encounter constraint mismatches</a:t>
            </a:r>
            <a:endParaRPr lang="en-US" sz="1200" dirty="0">
              <a:latin typeface="Rockwell" panose="02060603020205020403" pitchFamily="18" charset="0"/>
            </a:endParaRPr>
          </a:p>
        </p:txBody>
      </p:sp>
      <p:sp>
        <p:nvSpPr>
          <p:cNvPr id="8" name="Text 6"/>
          <p:cNvSpPr/>
          <p:nvPr/>
        </p:nvSpPr>
        <p:spPr>
          <a:xfrm>
            <a:off x="502920" y="1371600"/>
            <a:ext cx="7315200" cy="4480560"/>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latin typeface="Rockwell" panose="02060603020205020403" pitchFamily="18" charset="0"/>
              </a:rPr>
              <a:t>The chapter starts with a blunt premise: “Your widgets will never fit your screen.” The point is not pessimism; it is variability. A perfect fit on one device is a coincidence, not a stable property.</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Overflows emerge because constraints change across device classes, orientations, system text scales, and data sizes. A static widget tree is executed against dynamic constraints.</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This makes Flutter layout closer to constraint solving than pixel design. Every Row, Column, Flex, or scrollable must encode what should happen when demand exceeds supply.</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Engineering consequence: always design a fallback policy before the bug report arrives. A layout without a fallback policy is incomplete.</a:t>
            </a:r>
            <a:endParaRPr lang="en-US" sz="2000" dirty="0">
              <a:latin typeface="Rockwell" panose="02060603020205020403" pitchFamily="18" charset="0"/>
            </a:endParaRPr>
          </a:p>
        </p:txBody>
      </p:sp>
      <p:sp>
        <p:nvSpPr>
          <p:cNvPr id="9" name="Shape 7"/>
          <p:cNvSpPr/>
          <p:nvPr/>
        </p:nvSpPr>
        <p:spPr>
          <a:xfrm>
            <a:off x="8138160" y="886968"/>
            <a:ext cx="3154680" cy="1188720"/>
          </a:xfrm>
          <a:prstGeom prst="roundRect">
            <a:avLst>
              <a:gd name="adj" fmla="val 9677"/>
            </a:avLst>
          </a:prstGeom>
          <a:solidFill>
            <a:srgbClr val="202020"/>
          </a:solidFill>
          <a:ln w="12700">
            <a:solidFill>
              <a:srgbClr val="F2C300"/>
            </a:solidFill>
            <a:prstDash val="solid"/>
          </a:ln>
        </p:spPr>
      </p:sp>
      <p:sp>
        <p:nvSpPr>
          <p:cNvPr id="10" name="Text 8"/>
          <p:cNvSpPr/>
          <p:nvPr/>
        </p:nvSpPr>
        <p:spPr>
          <a:xfrm>
            <a:off x="8247888" y="1028700"/>
            <a:ext cx="2935224" cy="918973"/>
          </a:xfrm>
          <a:prstGeom prst="rect">
            <a:avLst/>
          </a:prstGeom>
          <a:noFill/>
          <a:ln/>
        </p:spPr>
        <p:txBody>
          <a:bodyPr wrap="square" lIns="0" tIns="0" rIns="0" bIns="0" rtlCol="0" anchor="ctr">
            <a:normAutofit/>
          </a:bodyPr>
          <a:lstStyle/>
          <a:p>
            <a:pPr marL="0" indent="0">
              <a:buNone/>
            </a:pPr>
            <a:r>
              <a:rPr lang="en-US" sz="1400" b="1" dirty="0">
                <a:solidFill>
                  <a:srgbClr val="FFD95A"/>
                </a:solidFill>
                <a:latin typeface="Rockwell" panose="02060603020205020403" pitchFamily="18" charset="0"/>
              </a:rPr>
              <a:t>Mental model: content demand &gt; available constraint budget = overflow</a:t>
            </a:r>
            <a:endParaRPr lang="en-US" sz="1400" dirty="0">
              <a:latin typeface="Rockwell" panose="02060603020205020403" pitchFamily="18" charset="0"/>
            </a:endParaRPr>
          </a:p>
        </p:txBody>
      </p:sp>
      <p:sp>
        <p:nvSpPr>
          <p:cNvPr id="11" name="Shape 9"/>
          <p:cNvSpPr/>
          <p:nvPr/>
        </p:nvSpPr>
        <p:spPr>
          <a:xfrm>
            <a:off x="8229600" y="2331720"/>
            <a:ext cx="3017520" cy="3474720"/>
          </a:xfrm>
          <a:prstGeom prst="roundRect">
            <a:avLst>
              <a:gd name="adj" fmla="val 2424"/>
            </a:avLst>
          </a:prstGeom>
          <a:solidFill>
            <a:srgbClr val="F7F7F7"/>
          </a:solidFill>
          <a:ln w="12700">
            <a:solidFill>
              <a:srgbClr val="F2C300"/>
            </a:solidFill>
            <a:prstDash val="solid"/>
          </a:ln>
        </p:spPr>
      </p:sp>
      <p:pic>
        <p:nvPicPr>
          <p:cNvPr id="12" name="Image 0" descr="/mnt/data/crops/row_overflow.png"/>
          <p:cNvPicPr>
            <a:picLocks noChangeAspect="1"/>
          </p:cNvPicPr>
          <p:nvPr/>
        </p:nvPicPr>
        <p:blipFill>
          <a:blip r:embed="rId3"/>
          <a:stretch>
            <a:fillRect/>
          </a:stretch>
        </p:blipFill>
        <p:spPr>
          <a:xfrm>
            <a:off x="8405313" y="2331720"/>
            <a:ext cx="2666094" cy="3438144"/>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6</a:t>
            </a:r>
            <a:endParaRPr lang="en-US" sz="900" dirty="0"/>
          </a:p>
        </p:txBody>
      </p:sp>
      <p:sp>
        <p:nvSpPr>
          <p:cNvPr id="15"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CHAPTER 13</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000" b="1" dirty="0">
                <a:solidFill>
                  <a:srgbClr val="F6F1E8"/>
                </a:solidFill>
                <a:latin typeface="Rockwell" panose="02060603020205020403" pitchFamily="18" charset="0"/>
                <a:ea typeface="Aptos Display" pitchFamily="34" charset="-122"/>
                <a:cs typeface="Aptos Display" pitchFamily="34" charset="-120"/>
              </a:rPr>
              <a:t>The sample problem: same data, different container</a:t>
            </a:r>
            <a:endParaRPr lang="en-US" sz="20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A Column works; the same children in a Row overflow</a:t>
            </a:r>
            <a:endParaRPr lang="en-US" sz="1200" dirty="0">
              <a:latin typeface="Rockwell" panose="02060603020205020403" pitchFamily="18" charset="0"/>
            </a:endParaRPr>
          </a:p>
        </p:txBody>
      </p:sp>
      <p:sp>
        <p:nvSpPr>
          <p:cNvPr id="8" name="Shape 6"/>
          <p:cNvSpPr/>
          <p:nvPr/>
        </p:nvSpPr>
        <p:spPr>
          <a:xfrm>
            <a:off x="530352" y="1325880"/>
            <a:ext cx="5029200" cy="1828800"/>
          </a:xfrm>
          <a:prstGeom prst="roundRect">
            <a:avLst>
              <a:gd name="adj" fmla="val 3000"/>
            </a:avLst>
          </a:prstGeom>
          <a:solidFill>
            <a:srgbClr val="0D0D0D"/>
          </a:solidFill>
          <a:ln w="12700">
            <a:solidFill>
              <a:srgbClr val="555555"/>
            </a:solidFill>
            <a:prstDash val="solid"/>
          </a:ln>
        </p:spPr>
      </p:sp>
      <p:sp>
        <p:nvSpPr>
          <p:cNvPr id="9" name="Text 7"/>
          <p:cNvSpPr/>
          <p:nvPr/>
        </p:nvSpPr>
        <p:spPr>
          <a:xfrm>
            <a:off x="640080" y="1417320"/>
            <a:ext cx="4809744" cy="164592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Widget build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BuildContext context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var</a:t>
            </a:r>
            <a:r>
              <a:rPr lang="en-US" sz="1400" dirty="0">
                <a:solidFill>
                  <a:srgbClr val="FFFFFF"/>
                </a:solidFill>
                <a:latin typeface="Consolas" pitchFamily="34" charset="0"/>
                <a:ea typeface="Consolas" pitchFamily="34" charset="-122"/>
                <a:cs typeface="Consolas" pitchFamily="34" charset="-120"/>
              </a:rPr>
              <a:t> wordWidgets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Word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toList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Shape 8"/>
          <p:cNvSpPr/>
          <p:nvPr/>
        </p:nvSpPr>
        <p:spPr>
          <a:xfrm>
            <a:off x="530352" y="3611880"/>
            <a:ext cx="5029200" cy="1828800"/>
          </a:xfrm>
          <a:prstGeom prst="roundRect">
            <a:avLst>
              <a:gd name="adj" fmla="val 3000"/>
            </a:avLst>
          </a:prstGeom>
          <a:solidFill>
            <a:srgbClr val="0D0D0D"/>
          </a:solidFill>
          <a:ln w="12700">
            <a:solidFill>
              <a:srgbClr val="555555"/>
            </a:solidFill>
            <a:prstDash val="solid"/>
          </a:ln>
        </p:spPr>
      </p:sp>
      <p:sp>
        <p:nvSpPr>
          <p:cNvPr id="11" name="Text 9"/>
          <p:cNvSpPr/>
          <p:nvPr/>
        </p:nvSpPr>
        <p:spPr>
          <a:xfrm>
            <a:off x="640080" y="3703320"/>
            <a:ext cx="4809744" cy="164592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Widget build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BuildContext context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var</a:t>
            </a:r>
            <a:r>
              <a:rPr lang="en-US" sz="1400" dirty="0">
                <a:solidFill>
                  <a:srgbClr val="FFFFFF"/>
                </a:solidFill>
                <a:latin typeface="Consolas" pitchFamily="34" charset="0"/>
                <a:ea typeface="Consolas" pitchFamily="34" charset="-122"/>
                <a:cs typeface="Consolas" pitchFamily="34" charset="-120"/>
              </a:rPr>
              <a:t> wordWidgets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Word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toList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2" name="Text 10"/>
          <p:cNvSpPr/>
          <p:nvPr/>
        </p:nvSpPr>
        <p:spPr>
          <a:xfrm>
            <a:off x="5806440" y="1325880"/>
            <a:ext cx="1828800" cy="4206240"/>
          </a:xfrm>
          <a:prstGeom prst="rect">
            <a:avLst/>
          </a:prstGeom>
          <a:noFill/>
          <a:ln/>
        </p:spPr>
        <p:txBody>
          <a:bodyPr wrap="square" lIns="635" tIns="635" rIns="635" bIns="635" rtlCol="0" anchor="t">
            <a:normAutofit/>
          </a:bodyPr>
          <a:lstStyle/>
          <a:p>
            <a:pPr marL="177800" indent="-177800">
              <a:buSzPct val="100000"/>
              <a:buChar char="•"/>
            </a:pPr>
            <a:r>
              <a:rPr lang="en-US" sz="1600" dirty="0">
                <a:solidFill>
                  <a:srgbClr val="F6F1E8"/>
                </a:solidFill>
                <a:latin typeface="Rockwell" panose="02060603020205020403" pitchFamily="18" charset="0"/>
              </a:rPr>
              <a:t>The child list is identical.</a:t>
            </a:r>
            <a:endParaRPr lang="en-US" sz="1600" dirty="0">
              <a:latin typeface="Rockwell" panose="02060603020205020403" pitchFamily="18" charset="0"/>
            </a:endParaRPr>
          </a:p>
          <a:p>
            <a:pPr marL="177800" indent="-177800">
              <a:buSzPct val="100000"/>
              <a:buChar char="•"/>
            </a:pPr>
            <a:r>
              <a:rPr lang="en-US" sz="1600" dirty="0">
                <a:solidFill>
                  <a:srgbClr val="F6F1E8"/>
                </a:solidFill>
                <a:latin typeface="Rockwell" panose="02060603020205020403" pitchFamily="18" charset="0"/>
              </a:rPr>
              <a:t>Only the axis changes.</a:t>
            </a:r>
            <a:endParaRPr lang="en-US" sz="1600" dirty="0">
              <a:latin typeface="Rockwell" panose="02060603020205020403" pitchFamily="18" charset="0"/>
            </a:endParaRPr>
          </a:p>
          <a:p>
            <a:pPr marL="177800" indent="-177800">
              <a:buSzPct val="100000"/>
              <a:buChar char="•"/>
            </a:pPr>
            <a:r>
              <a:rPr lang="en-US" sz="1600" dirty="0">
                <a:solidFill>
                  <a:srgbClr val="F6F1E8"/>
                </a:solidFill>
                <a:latin typeface="Rockwell" panose="02060603020205020403" pitchFamily="18" charset="0"/>
              </a:rPr>
              <a:t>Rows consume horizontal budget; Columns consume vertical budget.</a:t>
            </a:r>
            <a:endParaRPr lang="en-US" sz="1600" dirty="0">
              <a:latin typeface="Rockwell" panose="02060603020205020403" pitchFamily="18" charset="0"/>
            </a:endParaRPr>
          </a:p>
          <a:p>
            <a:pPr marL="177800" indent="-177800">
              <a:buSzPct val="100000"/>
              <a:buChar char="•"/>
            </a:pPr>
            <a:r>
              <a:rPr lang="en-US" sz="1600" dirty="0">
                <a:solidFill>
                  <a:srgbClr val="F6F1E8"/>
                </a:solidFill>
                <a:latin typeface="Rockwell" panose="02060603020205020403" pitchFamily="18" charset="0"/>
              </a:rPr>
              <a:t>Constraint direction determines failure mode.</a:t>
            </a:r>
            <a:endParaRPr lang="en-US" sz="1600" dirty="0">
              <a:latin typeface="Rockwell" panose="02060603020205020403" pitchFamily="18" charset="0"/>
            </a:endParaRPr>
          </a:p>
        </p:txBody>
      </p:sp>
      <p:sp>
        <p:nvSpPr>
          <p:cNvPr id="13" name="Shape 11"/>
          <p:cNvSpPr/>
          <p:nvPr/>
        </p:nvSpPr>
        <p:spPr>
          <a:xfrm>
            <a:off x="7863840" y="1234440"/>
            <a:ext cx="1737360" cy="4937760"/>
          </a:xfrm>
          <a:prstGeom prst="roundRect">
            <a:avLst>
              <a:gd name="adj" fmla="val 4211"/>
            </a:avLst>
          </a:prstGeom>
          <a:solidFill>
            <a:srgbClr val="F7F7F7"/>
          </a:solidFill>
          <a:ln w="12700">
            <a:solidFill>
              <a:srgbClr val="F2C300"/>
            </a:solidFill>
            <a:prstDash val="solid"/>
          </a:ln>
        </p:spPr>
      </p:sp>
      <p:pic>
        <p:nvPicPr>
          <p:cNvPr id="14" name="Image 0" descr="/mnt/data/crops/column_ok.png"/>
          <p:cNvPicPr>
            <a:picLocks noChangeAspect="1"/>
          </p:cNvPicPr>
          <p:nvPr/>
        </p:nvPicPr>
        <p:blipFill>
          <a:blip r:embed="rId3"/>
          <a:stretch>
            <a:fillRect/>
          </a:stretch>
        </p:blipFill>
        <p:spPr>
          <a:xfrm>
            <a:off x="7900416" y="2699057"/>
            <a:ext cx="1664208" cy="2008527"/>
          </a:xfrm>
          <a:prstGeom prst="rect">
            <a:avLst/>
          </a:prstGeom>
        </p:spPr>
      </p:pic>
      <p:sp>
        <p:nvSpPr>
          <p:cNvPr id="15" name="Shape 12"/>
          <p:cNvSpPr/>
          <p:nvPr/>
        </p:nvSpPr>
        <p:spPr>
          <a:xfrm>
            <a:off x="9784080" y="1234440"/>
            <a:ext cx="1737360" cy="4937760"/>
          </a:xfrm>
          <a:prstGeom prst="roundRect">
            <a:avLst>
              <a:gd name="adj" fmla="val 4211"/>
            </a:avLst>
          </a:prstGeom>
          <a:solidFill>
            <a:srgbClr val="F7F7F7"/>
          </a:solidFill>
          <a:ln w="12700">
            <a:solidFill>
              <a:srgbClr val="F2C300"/>
            </a:solidFill>
            <a:prstDash val="solid"/>
          </a:ln>
        </p:spPr>
      </p:sp>
      <p:pic>
        <p:nvPicPr>
          <p:cNvPr id="16" name="Image 1" descr="/mnt/data/crops/row_overflow.png"/>
          <p:cNvPicPr>
            <a:picLocks noChangeAspect="1"/>
          </p:cNvPicPr>
          <p:nvPr/>
        </p:nvPicPr>
        <p:blipFill>
          <a:blip r:embed="rId4"/>
          <a:stretch>
            <a:fillRect/>
          </a:stretch>
        </p:blipFill>
        <p:spPr>
          <a:xfrm>
            <a:off x="9820656" y="2641670"/>
            <a:ext cx="1664208" cy="2123300"/>
          </a:xfrm>
          <a:prstGeom prst="rect">
            <a:avLst/>
          </a:prstGeom>
        </p:spPr>
      </p:pic>
      <p:sp>
        <p:nvSpPr>
          <p:cNvPr id="18" name="Text 13"/>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7</a:t>
            </a:r>
            <a:endParaRPr lang="en-US" sz="900" dirty="0"/>
          </a:p>
        </p:txBody>
      </p:sp>
      <p:sp>
        <p:nvSpPr>
          <p:cNvPr id="19" name="Text 14"/>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Aptos" pitchFamily="34" charset="0"/>
                <a:ea typeface="Aptos" pitchFamily="34" charset="-122"/>
                <a:cs typeface="Aptos" pitchFamily="34" charset="-120"/>
              </a:rPr>
              <a:t>CHAPTER 13</a:t>
            </a:r>
            <a:endParaRPr lang="en-US" sz="14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The book’s three canonical overflow remedies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Flutter screens get the same three options you would apply to a physical box</a:t>
            </a:r>
            <a:endParaRPr lang="en-US" sz="1200" dirty="0">
              <a:latin typeface="Rockwell" panose="02060603020205020403" pitchFamily="18" charset="0"/>
            </a:endParaRPr>
          </a:p>
        </p:txBody>
      </p:sp>
      <p:graphicFrame>
        <p:nvGraphicFramePr>
          <p:cNvPr id="9" name="Table 0"/>
          <p:cNvGraphicFramePr>
            <a:graphicFrameLocks noGrp="1"/>
          </p:cNvGraphicFramePr>
          <p:nvPr>
            <p:extLst>
              <p:ext uri="{D42A27DB-BD31-4B8C-83A1-F6EECF244321}">
                <p14:modId xmlns:p14="http://schemas.microsoft.com/office/powerpoint/2010/main" val="3478279634"/>
              </p:ext>
            </p:extLst>
          </p:nvPr>
        </p:nvGraphicFramePr>
        <p:xfrm>
          <a:off x="502919" y="1620519"/>
          <a:ext cx="6919919" cy="2755536"/>
        </p:xfrm>
        <a:graphic>
          <a:graphicData uri="http://schemas.openxmlformats.org/drawingml/2006/table">
            <a:tbl>
              <a:tblPr/>
              <a:tblGrid>
                <a:gridCol w="1990662">
                  <a:extLst>
                    <a:ext uri="{9D8B030D-6E8A-4147-A177-3AD203B41FA5}">
                      <a16:colId xmlns:a16="http://schemas.microsoft.com/office/drawing/2014/main" val="20000"/>
                    </a:ext>
                  </a:extLst>
                </a:gridCol>
                <a:gridCol w="2085455">
                  <a:extLst>
                    <a:ext uri="{9D8B030D-6E8A-4147-A177-3AD203B41FA5}">
                      <a16:colId xmlns:a16="http://schemas.microsoft.com/office/drawing/2014/main" val="20001"/>
                    </a:ext>
                  </a:extLst>
                </a:gridCol>
                <a:gridCol w="2843802">
                  <a:extLst>
                    <a:ext uri="{9D8B030D-6E8A-4147-A177-3AD203B41FA5}">
                      <a16:colId xmlns:a16="http://schemas.microsoft.com/office/drawing/2014/main" val="20002"/>
                    </a:ext>
                  </a:extLst>
                </a:gridCol>
              </a:tblGrid>
              <a:tr h="419140">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Physical analogy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Flutter translation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Question to ask</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688884">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Fold or disassemble contents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Allow children to wrap</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Can this content legally break across lines or rows?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95862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Squeeze contents until they fit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Use Flexible or FittedBox</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Can this content compress without losing meaning or usability?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688884">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Put it in multiple boxes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Allow scrolling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Is sequential access acceptable for the user task?</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bl>
          </a:graphicData>
        </a:graphic>
      </p:graphicFrame>
      <p:sp>
        <p:nvSpPr>
          <p:cNvPr id="8" name="Text 6"/>
          <p:cNvSpPr/>
          <p:nvPr/>
        </p:nvSpPr>
        <p:spPr>
          <a:xfrm>
            <a:off x="594360" y="4983480"/>
            <a:ext cx="7178040" cy="1005840"/>
          </a:xfrm>
          <a:prstGeom prst="rect">
            <a:avLst/>
          </a:prstGeom>
          <a:noFill/>
          <a:ln/>
        </p:spPr>
        <p:txBody>
          <a:bodyPr wrap="square" lIns="635" tIns="635" rIns="635" bIns="635" rtlCol="0" anchor="t">
            <a:normAutofit/>
          </a:bodyPr>
          <a:lstStyle/>
          <a:p>
            <a:pPr marL="177800" indent="-177800">
              <a:buSzPct val="100000"/>
              <a:buChar char="•"/>
            </a:pPr>
            <a:r>
              <a:rPr lang="en-US" sz="1620" dirty="0">
                <a:solidFill>
                  <a:srgbClr val="F6F1E8"/>
                </a:solidFill>
              </a:rPr>
              <a:t>This framing is strong because it is semantic, not widget-first. Start by deciding what your content is allowed to do; only then pick the widget that encodes that permission.</a:t>
            </a:r>
            <a:endParaRPr lang="en-US" sz="1620" dirty="0"/>
          </a:p>
        </p:txBody>
      </p:sp>
      <p:sp>
        <p:nvSpPr>
          <p:cNvPr id="10" name="Shape 7"/>
          <p:cNvSpPr/>
          <p:nvPr/>
        </p:nvSpPr>
        <p:spPr>
          <a:xfrm>
            <a:off x="7978467" y="809244"/>
            <a:ext cx="3657600" cy="5074920"/>
          </a:xfrm>
          <a:prstGeom prst="roundRect">
            <a:avLst>
              <a:gd name="adj" fmla="val 2000"/>
            </a:avLst>
          </a:prstGeom>
          <a:solidFill>
            <a:srgbClr val="F7F7F7"/>
          </a:solidFill>
          <a:ln w="12700">
            <a:solidFill>
              <a:srgbClr val="F2C300"/>
            </a:solidFill>
            <a:prstDash val="solid"/>
          </a:ln>
        </p:spPr>
      </p:sp>
      <p:pic>
        <p:nvPicPr>
          <p:cNvPr id="11" name="Image 0" descr="/mnt/data/render/page-222.png"/>
          <p:cNvPicPr>
            <a:picLocks noChangeAspect="1"/>
          </p:cNvPicPr>
          <p:nvPr/>
        </p:nvPicPr>
        <p:blipFill>
          <a:blip r:embed="rId3"/>
          <a:stretch>
            <a:fillRect/>
          </a:stretch>
        </p:blipFill>
        <p:spPr>
          <a:xfrm>
            <a:off x="8179361" y="822960"/>
            <a:ext cx="3300879" cy="5001768"/>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8</a:t>
            </a:r>
            <a:endParaRPr lang="en-US" sz="900" dirty="0"/>
          </a:p>
        </p:txBody>
      </p:sp>
      <p:sp>
        <p:nvSpPr>
          <p:cNvPr id="14"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WRAP STRATEGY</a:t>
            </a:r>
            <a:endParaRPr lang="en-US" sz="14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Strategy 1 - Allow the children to wrap</a:t>
            </a:r>
            <a:endParaRPr lang="en-US" sz="2400" dirty="0">
              <a:latin typeface="Rockwell" panose="02060603020205020403" pitchFamily="18" charset="0"/>
            </a:endParaRPr>
          </a:p>
        </p:txBody>
      </p:sp>
      <p:sp>
        <p:nvSpPr>
          <p:cNvPr id="7" name="Text 5"/>
          <p:cNvSpPr/>
          <p:nvPr/>
        </p:nvSpPr>
        <p:spPr>
          <a:xfrm>
            <a:off x="429768" y="978408"/>
            <a:ext cx="7589520" cy="246889"/>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Use Wrap when the content can reflow naturally into multiple runs</a:t>
            </a:r>
            <a:endParaRPr lang="en-US" sz="1200" dirty="0">
              <a:latin typeface="Rockwell" panose="02060603020205020403" pitchFamily="18" charset="0"/>
            </a:endParaRPr>
          </a:p>
        </p:txBody>
      </p:sp>
      <p:sp>
        <p:nvSpPr>
          <p:cNvPr id="8" name="Text 6"/>
          <p:cNvSpPr/>
          <p:nvPr/>
        </p:nvSpPr>
        <p:spPr>
          <a:xfrm>
            <a:off x="502920" y="1325880"/>
            <a:ext cx="6217920" cy="4343400"/>
          </a:xfrm>
          <a:prstGeom prst="rect">
            <a:avLst/>
          </a:prstGeom>
          <a:noFill/>
          <a:ln/>
        </p:spPr>
        <p:txBody>
          <a:bodyPr wrap="square" lIns="635" tIns="635" rIns="635" bIns="635" rtlCol="0" anchor="t">
            <a:normAutofit/>
          </a:bodyPr>
          <a:lstStyle/>
          <a:p>
            <a:pPr marL="177800" indent="-177800">
              <a:buSzPct val="100000"/>
              <a:buChar char="•"/>
            </a:pPr>
            <a:r>
              <a:rPr lang="en-US" sz="1620" dirty="0">
                <a:solidFill>
                  <a:srgbClr val="F6F1E8"/>
                </a:solidFill>
              </a:rPr>
              <a:t>The Wrap widget is the most semantically natural answer for collections of short, independent items such as words, tags, chips, skills, or filter pills.</a:t>
            </a:r>
            <a:endParaRPr lang="en-US" sz="1620" dirty="0"/>
          </a:p>
          <a:p>
            <a:pPr marL="177800" indent="-177800">
              <a:buSzPct val="100000"/>
              <a:buChar char="•"/>
            </a:pPr>
            <a:r>
              <a:rPr lang="en-US" sz="1620" dirty="0">
                <a:solidFill>
                  <a:srgbClr val="F6F1E8"/>
                </a:solidFill>
              </a:rPr>
              <a:t>Only one structural change is required in the example: replace Row with Wrap. Flutter then moves children to a new run when the current run cannot fit another child.</a:t>
            </a:r>
            <a:endParaRPr lang="en-US" sz="1620" dirty="0"/>
          </a:p>
          <a:p>
            <a:pPr marL="177800" indent="-177800">
              <a:buSzPct val="100000"/>
              <a:buChar char="•"/>
            </a:pPr>
            <a:r>
              <a:rPr lang="en-US" sz="1620" dirty="0">
                <a:solidFill>
                  <a:srgbClr val="F6F1E8"/>
                </a:solidFill>
              </a:rPr>
              <a:t>Wrap preserves visibility without shrinking typography or forcing scrolling, so information scent remains high and the interaction is still direct.</a:t>
            </a:r>
            <a:endParaRPr lang="en-US" sz="1620" dirty="0"/>
          </a:p>
          <a:p>
            <a:pPr marL="177800" indent="-177800">
              <a:buSzPct val="100000"/>
              <a:buChar char="•"/>
            </a:pPr>
            <a:r>
              <a:rPr lang="en-US" sz="1620" dirty="0">
                <a:solidFill>
                  <a:srgbClr val="F6F1E8"/>
                </a:solidFill>
              </a:rPr>
              <a:t>However, Wrap changes the geometry of the scene. Downstream widgets must tolerate the new height created by additional runs.</a:t>
            </a:r>
            <a:endParaRPr lang="en-US" sz="1620" dirty="0"/>
          </a:p>
        </p:txBody>
      </p:sp>
      <p:sp>
        <p:nvSpPr>
          <p:cNvPr id="9" name="Shape 7"/>
          <p:cNvSpPr/>
          <p:nvPr/>
        </p:nvSpPr>
        <p:spPr>
          <a:xfrm>
            <a:off x="658368" y="4710796"/>
            <a:ext cx="2743200" cy="1205372"/>
          </a:xfrm>
          <a:prstGeom prst="roundRect">
            <a:avLst>
              <a:gd name="adj" fmla="val 6522"/>
            </a:avLst>
          </a:prstGeom>
          <a:solidFill>
            <a:srgbClr val="0D0D0D"/>
          </a:solidFill>
          <a:ln w="12700">
            <a:solidFill>
              <a:srgbClr val="555555"/>
            </a:solidFill>
            <a:prstDash val="solid"/>
          </a:ln>
        </p:spPr>
      </p:sp>
      <p:sp>
        <p:nvSpPr>
          <p:cNvPr id="10" name="Text 8"/>
          <p:cNvSpPr/>
          <p:nvPr/>
        </p:nvSpPr>
        <p:spPr>
          <a:xfrm>
            <a:off x="768096" y="4800600"/>
            <a:ext cx="2523744" cy="1024128"/>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Wrap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1" name="Shape 9"/>
          <p:cNvSpPr/>
          <p:nvPr/>
        </p:nvSpPr>
        <p:spPr>
          <a:xfrm>
            <a:off x="7132320" y="575745"/>
            <a:ext cx="4526280" cy="5394960"/>
          </a:xfrm>
          <a:prstGeom prst="roundRect">
            <a:avLst>
              <a:gd name="adj" fmla="val 1616"/>
            </a:avLst>
          </a:prstGeom>
          <a:solidFill>
            <a:srgbClr val="F7F7F7"/>
          </a:solidFill>
          <a:ln w="12700">
            <a:solidFill>
              <a:srgbClr val="F2C300"/>
            </a:solidFill>
            <a:prstDash val="solid"/>
          </a:ln>
        </p:spPr>
      </p:sp>
      <p:pic>
        <p:nvPicPr>
          <p:cNvPr id="12" name="Image 0" descr="/mnt/data/render/page-225.png"/>
          <p:cNvPicPr>
            <a:picLocks noChangeAspect="1"/>
          </p:cNvPicPr>
          <p:nvPr/>
        </p:nvPicPr>
        <p:blipFill>
          <a:blip r:embed="rId3"/>
          <a:stretch>
            <a:fillRect/>
          </a:stretch>
        </p:blipFill>
        <p:spPr>
          <a:xfrm>
            <a:off x="7758616" y="594360"/>
            <a:ext cx="3512087" cy="532180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9</a:t>
            </a:r>
            <a:endParaRPr lang="en-US" sz="900" dirty="0"/>
          </a:p>
        </p:txBody>
      </p:sp>
      <p:sp>
        <p:nvSpPr>
          <p:cNvPr id="15"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WRAP STRATEGY</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Wrap is ideal for discrete, flow-like UI elements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Think in terms of content semantics, not just syntax</a:t>
            </a:r>
            <a:endParaRPr lang="en-US" sz="1200" dirty="0">
              <a:latin typeface="Rockwell" panose="02060603020205020403"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3509361856"/>
              </p:ext>
            </p:extLst>
          </p:nvPr>
        </p:nvGraphicFramePr>
        <p:xfrm>
          <a:off x="429768" y="1741932"/>
          <a:ext cx="6400800" cy="1901952"/>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Good fit for Wrap</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Poor fit for Wrap</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Words, tags, chips, badges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Dense forms where row alignment matters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Photo thumbnails or small cards that may tile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Controls that must stay in one scan line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Adaptive toolbars with optional actions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Large paragraphs better handled by scrolling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bl>
          </a:graphicData>
        </a:graphic>
      </p:graphicFrame>
      <p:sp>
        <p:nvSpPr>
          <p:cNvPr id="9" name="Text 6"/>
          <p:cNvSpPr/>
          <p:nvPr/>
        </p:nvSpPr>
        <p:spPr>
          <a:xfrm>
            <a:off x="548640" y="4526280"/>
            <a:ext cx="6858000" cy="1417320"/>
          </a:xfrm>
          <a:prstGeom prst="rect">
            <a:avLst/>
          </a:prstGeom>
          <a:noFill/>
          <a:ln/>
        </p:spPr>
        <p:txBody>
          <a:bodyPr wrap="square" lIns="635" tIns="635" rIns="635" bIns="635" rtlCol="0" anchor="t">
            <a:normAutofit/>
          </a:bodyPr>
          <a:lstStyle/>
          <a:p>
            <a:pPr marL="177800" indent="-177800">
              <a:buSzPct val="100000"/>
              <a:buChar char="•"/>
            </a:pPr>
            <a:r>
              <a:rPr lang="en-US" sz="1600" dirty="0">
                <a:solidFill>
                  <a:srgbClr val="F6F1E8"/>
                </a:solidFill>
              </a:rPr>
              <a:t>Wrap is effectively a non-scrolling reflow container. It optimizes visibility at the cost of increased scene height.</a:t>
            </a:r>
            <a:endParaRPr lang="en-US" sz="1600" dirty="0"/>
          </a:p>
          <a:p>
            <a:pPr marL="177800" indent="-177800">
              <a:buSzPct val="100000"/>
              <a:buChar char="•"/>
            </a:pPr>
            <a:r>
              <a:rPr lang="en-US" sz="1600" dirty="0">
                <a:solidFill>
                  <a:srgbClr val="F6F1E8"/>
                </a:solidFill>
              </a:rPr>
              <a:t>For engineering decisions, ask whether the user benefits from seeing “more at once” or from preserving a strict alignment model.</a:t>
            </a:r>
            <a:endParaRPr lang="en-US" sz="1600" dirty="0"/>
          </a:p>
        </p:txBody>
      </p:sp>
      <p:sp>
        <p:nvSpPr>
          <p:cNvPr id="10" name="Shape 7"/>
          <p:cNvSpPr/>
          <p:nvPr/>
        </p:nvSpPr>
        <p:spPr>
          <a:xfrm>
            <a:off x="7955280" y="1325880"/>
            <a:ext cx="3291840" cy="4800600"/>
          </a:xfrm>
          <a:prstGeom prst="roundRect">
            <a:avLst>
              <a:gd name="adj" fmla="val 2222"/>
            </a:avLst>
          </a:prstGeom>
          <a:solidFill>
            <a:srgbClr val="F7F7F7"/>
          </a:solidFill>
          <a:ln w="12700">
            <a:solidFill>
              <a:srgbClr val="F2C300"/>
            </a:solidFill>
            <a:prstDash val="solid"/>
          </a:ln>
        </p:spPr>
      </p:sp>
      <p:pic>
        <p:nvPicPr>
          <p:cNvPr id="8" name="Image 0" descr="/mnt/data/crops/wrap_contents.png"/>
          <p:cNvPicPr>
            <a:picLocks noChangeAspect="1"/>
          </p:cNvPicPr>
          <p:nvPr/>
        </p:nvPicPr>
        <p:blipFill>
          <a:blip r:embed="rId3"/>
          <a:stretch>
            <a:fillRect/>
          </a:stretch>
        </p:blipFill>
        <p:spPr>
          <a:xfrm>
            <a:off x="7991856" y="1441950"/>
            <a:ext cx="3218688" cy="4568460"/>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10</a:t>
            </a:r>
            <a:endParaRPr lang="en-US" sz="900" dirty="0"/>
          </a:p>
        </p:txBody>
      </p:sp>
      <p:sp>
        <p:nvSpPr>
          <p:cNvPr id="14"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FLEXIBLE STRATEGY</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Strategy 2 - Squeeze the children until they fit</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Flexible asks the child to compress along the main axis</a:t>
            </a:r>
            <a:endParaRPr lang="en-US" sz="1200" dirty="0">
              <a:latin typeface="Rockwell" panose="02060603020205020403" pitchFamily="18" charset="0"/>
            </a:endParaRPr>
          </a:p>
        </p:txBody>
      </p:sp>
      <p:sp>
        <p:nvSpPr>
          <p:cNvPr id="8" name="Text 6"/>
          <p:cNvSpPr/>
          <p:nvPr/>
        </p:nvSpPr>
        <p:spPr>
          <a:xfrm>
            <a:off x="502920" y="1345468"/>
            <a:ext cx="6217920" cy="4369531"/>
          </a:xfrm>
          <a:prstGeom prst="rect">
            <a:avLst/>
          </a:prstGeom>
          <a:noFill/>
          <a:ln/>
        </p:spPr>
        <p:txBody>
          <a:bodyPr wrap="square" lIns="635" tIns="635" rIns="635" bIns="635" rtlCol="0" anchor="t">
            <a:normAutofit/>
          </a:bodyPr>
          <a:lstStyle/>
          <a:p>
            <a:pPr marL="177800" indent="-177800">
              <a:buSzPct val="100000"/>
              <a:buChar char="•"/>
            </a:pPr>
            <a:r>
              <a:rPr lang="en-US" sz="1620" dirty="0">
                <a:solidFill>
                  <a:srgbClr val="F6F1E8"/>
                </a:solidFill>
              </a:rPr>
              <a:t>Flexible is appropriate only when the child can tolerate compression. The chapter emphasizes that this is often uncomfortable and visually unpredictable, but sometimes exactly necessary.</a:t>
            </a:r>
            <a:endParaRPr lang="en-US" sz="1620" dirty="0"/>
          </a:p>
          <a:p>
            <a:pPr marL="177800" indent="-177800">
              <a:buSzPct val="100000"/>
              <a:buChar char="•"/>
            </a:pPr>
            <a:r>
              <a:rPr lang="en-US" sz="1620" dirty="0">
                <a:solidFill>
                  <a:srgbClr val="F6F1E8"/>
                </a:solidFill>
              </a:rPr>
              <a:t>In a Row, Flexible compresses horizontally; in a Column, vertically. The parent remains a Row or Column, but each child is wrapped in Flexible.</a:t>
            </a:r>
            <a:endParaRPr lang="en-US" sz="1620" dirty="0"/>
          </a:p>
          <a:p>
            <a:pPr marL="177800" indent="-177800">
              <a:buSzPct val="100000"/>
              <a:buChar char="•"/>
            </a:pPr>
            <a:r>
              <a:rPr lang="en-US" sz="1620" dirty="0">
                <a:solidFill>
                  <a:srgbClr val="F6F1E8"/>
                </a:solidFill>
              </a:rPr>
              <a:t>The author explicitly warns that Flexible is not guaranteed to solve the issue. If the child cannot shrink enough, overflow can still occur.</a:t>
            </a:r>
            <a:endParaRPr lang="en-US" sz="1620" dirty="0"/>
          </a:p>
          <a:p>
            <a:pPr marL="177800" indent="-177800">
              <a:buSzPct val="100000"/>
              <a:buChar char="•"/>
            </a:pPr>
            <a:r>
              <a:rPr lang="en-US" sz="1620" dirty="0">
                <a:solidFill>
                  <a:srgbClr val="F6F1E8"/>
                </a:solidFill>
              </a:rPr>
              <a:t>Exam takeaway: Flexible is a negotiation widget, not a magic “fix layout” widget.</a:t>
            </a:r>
            <a:endParaRPr lang="en-US" sz="1620" dirty="0"/>
          </a:p>
        </p:txBody>
      </p:sp>
      <p:sp>
        <p:nvSpPr>
          <p:cNvPr id="9" name="Shape 7"/>
          <p:cNvSpPr/>
          <p:nvPr/>
        </p:nvSpPr>
        <p:spPr>
          <a:xfrm>
            <a:off x="658367" y="4408721"/>
            <a:ext cx="4297354" cy="1562311"/>
          </a:xfrm>
          <a:prstGeom prst="roundRect">
            <a:avLst>
              <a:gd name="adj" fmla="val 6316"/>
            </a:avLst>
          </a:prstGeom>
          <a:solidFill>
            <a:srgbClr val="0D0D0D"/>
          </a:solidFill>
          <a:ln w="12700">
            <a:solidFill>
              <a:srgbClr val="555555"/>
            </a:solidFill>
            <a:prstDash val="solid"/>
          </a:ln>
        </p:spPr>
      </p:sp>
      <p:sp>
        <p:nvSpPr>
          <p:cNvPr id="10" name="Text 8"/>
          <p:cNvSpPr/>
          <p:nvPr/>
        </p:nvSpPr>
        <p:spPr>
          <a:xfrm>
            <a:off x="768096" y="4474030"/>
            <a:ext cx="3844724" cy="1405562"/>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Flexible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toList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1" name="Shape 9"/>
          <p:cNvSpPr/>
          <p:nvPr/>
        </p:nvSpPr>
        <p:spPr>
          <a:xfrm>
            <a:off x="7315200" y="649877"/>
            <a:ext cx="4572000" cy="5394960"/>
          </a:xfrm>
          <a:prstGeom prst="roundRect">
            <a:avLst>
              <a:gd name="adj" fmla="val 1600"/>
            </a:avLst>
          </a:prstGeom>
          <a:solidFill>
            <a:srgbClr val="F7F7F7"/>
          </a:solidFill>
          <a:ln w="12700">
            <a:solidFill>
              <a:srgbClr val="F2C300"/>
            </a:solidFill>
            <a:prstDash val="solid"/>
          </a:ln>
        </p:spPr>
      </p:sp>
      <p:pic>
        <p:nvPicPr>
          <p:cNvPr id="12" name="Image 0" descr="/mnt/data/render/page-226.png"/>
          <p:cNvPicPr>
            <a:picLocks noChangeAspect="1"/>
          </p:cNvPicPr>
          <p:nvPr/>
        </p:nvPicPr>
        <p:blipFill>
          <a:blip r:embed="rId3"/>
          <a:stretch>
            <a:fillRect/>
          </a:stretch>
        </p:blipFill>
        <p:spPr>
          <a:xfrm>
            <a:off x="7965371" y="648571"/>
            <a:ext cx="3512087" cy="532180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11</a:t>
            </a:r>
            <a:endParaRPr lang="en-US" sz="900" dirty="0"/>
          </a:p>
        </p:txBody>
      </p:sp>
      <p:sp>
        <p:nvSpPr>
          <p:cNvPr id="15"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FLEXIBLE STRATEGY</a:t>
            </a:r>
            <a:endParaRPr lang="en-US" sz="14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Direct consequences of Flexible</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Compression changes internal line breaking and therefore the information hierarchy</a:t>
            </a:r>
            <a:endParaRPr lang="en-US" sz="1200" dirty="0">
              <a:latin typeface="Rockwell" panose="02060603020205020403" pitchFamily="18" charset="0"/>
            </a:endParaRPr>
          </a:p>
        </p:txBody>
      </p:sp>
      <p:sp>
        <p:nvSpPr>
          <p:cNvPr id="8" name="Shape 6"/>
          <p:cNvSpPr/>
          <p:nvPr/>
        </p:nvSpPr>
        <p:spPr>
          <a:xfrm>
            <a:off x="8183880" y="734786"/>
            <a:ext cx="2880360" cy="4935440"/>
          </a:xfrm>
          <a:prstGeom prst="roundRect">
            <a:avLst>
              <a:gd name="adj" fmla="val 2540"/>
            </a:avLst>
          </a:prstGeom>
          <a:solidFill>
            <a:srgbClr val="F7F7F7"/>
          </a:solidFill>
          <a:ln w="12700">
            <a:solidFill>
              <a:srgbClr val="F2C300"/>
            </a:solidFill>
            <a:prstDash val="solid"/>
          </a:ln>
        </p:spPr>
      </p:sp>
      <p:pic>
        <p:nvPicPr>
          <p:cNvPr id="9" name="Image 0" descr="/mnt/data/crops/flexible_squeeze.png"/>
          <p:cNvPicPr>
            <a:picLocks noChangeAspect="1"/>
          </p:cNvPicPr>
          <p:nvPr/>
        </p:nvPicPr>
        <p:blipFill>
          <a:blip r:embed="rId3"/>
          <a:stretch>
            <a:fillRect/>
          </a:stretch>
        </p:blipFill>
        <p:spPr>
          <a:xfrm>
            <a:off x="8220456" y="1507814"/>
            <a:ext cx="2807208" cy="4162412"/>
          </a:xfrm>
          <a:prstGeom prst="rect">
            <a:avLst/>
          </a:prstGeom>
        </p:spPr>
      </p:pic>
      <p:sp>
        <p:nvSpPr>
          <p:cNvPr id="10" name="Text 7"/>
          <p:cNvSpPr/>
          <p:nvPr/>
        </p:nvSpPr>
        <p:spPr>
          <a:xfrm>
            <a:off x="502920" y="1681842"/>
            <a:ext cx="7132320" cy="4033157"/>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When text widgets are compressed, Flutter may wrap them inside each compressed child. The scene fits, but the reading pattern changes from linear scan to stacked scan.</a:t>
            </a:r>
            <a:endParaRPr lang="en-US" sz="2000" dirty="0"/>
          </a:p>
          <a:p>
            <a:pPr marL="177800" indent="-177800">
              <a:buSzPct val="100000"/>
              <a:buChar char="•"/>
            </a:pPr>
            <a:r>
              <a:rPr lang="en-US" sz="2000" dirty="0">
                <a:solidFill>
                  <a:srgbClr val="F6F1E8"/>
                </a:solidFill>
              </a:rPr>
              <a:t>This matters for usability. A compressed toolbar might still “fit” technically while becoming cognitively expensive to parse.</a:t>
            </a:r>
            <a:endParaRPr lang="en-US" sz="2000" dirty="0"/>
          </a:p>
          <a:p>
            <a:pPr marL="177800" indent="-177800">
              <a:buSzPct val="100000"/>
              <a:buChar char="•"/>
            </a:pPr>
            <a:r>
              <a:rPr lang="en-US" sz="2000" dirty="0">
                <a:solidFill>
                  <a:srgbClr val="F6F1E8"/>
                </a:solidFill>
              </a:rPr>
              <a:t>The author also notes a rule worth memorizing: Flexible only makes sense directly inside a Row or Column, because those are the flex parents that know how to allocate the remaining main-axis budget.</a:t>
            </a:r>
            <a:endParaRPr lang="en-US" sz="2000" dirty="0"/>
          </a:p>
          <a:p>
            <a:pPr marL="177800" indent="-177800">
              <a:buSzPct val="100000"/>
              <a:buChar char="•"/>
            </a:pPr>
            <a:r>
              <a:rPr lang="en-US" sz="2000" dirty="0">
                <a:solidFill>
                  <a:srgbClr val="F6F1E8"/>
                </a:solidFill>
              </a:rPr>
              <a:t>Use Flexible when preserving one container is more important than preserving each child’s preferred size.</a:t>
            </a:r>
            <a:endParaRPr lang="en-US" sz="2000" dirty="0"/>
          </a:p>
        </p:txBody>
      </p:sp>
      <p:sp>
        <p:nvSpPr>
          <p:cNvPr id="11" name="Shape 8"/>
          <p:cNvSpPr/>
          <p:nvPr/>
        </p:nvSpPr>
        <p:spPr>
          <a:xfrm>
            <a:off x="8001000" y="5927280"/>
            <a:ext cx="3657600" cy="537528"/>
          </a:xfrm>
          <a:prstGeom prst="roundRect">
            <a:avLst>
              <a:gd name="adj" fmla="val 14286"/>
            </a:avLst>
          </a:prstGeom>
          <a:solidFill>
            <a:srgbClr val="202020"/>
          </a:solidFill>
          <a:ln w="12700">
            <a:solidFill>
              <a:srgbClr val="F2C300"/>
            </a:solidFill>
            <a:prstDash val="solid"/>
          </a:ln>
        </p:spPr>
      </p:sp>
      <p:sp>
        <p:nvSpPr>
          <p:cNvPr id="12" name="Text 9"/>
          <p:cNvSpPr/>
          <p:nvPr/>
        </p:nvSpPr>
        <p:spPr>
          <a:xfrm>
            <a:off x="8110728" y="6017079"/>
            <a:ext cx="3482558" cy="374577"/>
          </a:xfrm>
          <a:prstGeom prst="rect">
            <a:avLst/>
          </a:prstGeom>
          <a:noFill/>
          <a:ln/>
        </p:spPr>
        <p:txBody>
          <a:bodyPr wrap="square" lIns="0" tIns="0" rIns="0" bIns="0" rtlCol="0" anchor="ctr">
            <a:normAutofit/>
          </a:bodyPr>
          <a:lstStyle/>
          <a:p>
            <a:pPr marL="0" indent="0">
              <a:buNone/>
            </a:pPr>
            <a:r>
              <a:rPr lang="en-US" sz="1400" b="1" dirty="0">
                <a:solidFill>
                  <a:srgbClr val="FFD95A"/>
                </a:solidFill>
              </a:rPr>
              <a:t>Compression trades predictability for fit.</a:t>
            </a:r>
            <a:endParaRPr lang="en-US" sz="1400" dirty="0"/>
          </a:p>
        </p:txBody>
      </p:sp>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12</a:t>
            </a:r>
            <a:endParaRPr lang="en-US" sz="900" dirty="0"/>
          </a:p>
        </p:txBody>
      </p:sp>
      <p:sp>
        <p:nvSpPr>
          <p:cNvPr id="15"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Aptos" pitchFamily="34" charset="0"/>
                <a:ea typeface="Aptos" pitchFamily="34" charset="-122"/>
                <a:cs typeface="Aptos" pitchFamily="34" charset="-120"/>
              </a:rPr>
              <a:t>FLEXIBLE ALTERNATIVES</a:t>
            </a:r>
            <a:endParaRPr lang="en-US" sz="14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FittedBox is the more aggressive scaling alternative</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It shrinks and/or clips a child according to BoxFit rules</a:t>
            </a:r>
            <a:endParaRPr lang="en-US" sz="1200" dirty="0">
              <a:latin typeface="Rockwell" panose="02060603020205020403" pitchFamily="18" charset="0"/>
            </a:endParaRPr>
          </a:p>
        </p:txBody>
      </p:sp>
      <p:sp>
        <p:nvSpPr>
          <p:cNvPr id="8" name="Text 6"/>
          <p:cNvSpPr/>
          <p:nvPr/>
        </p:nvSpPr>
        <p:spPr>
          <a:xfrm>
            <a:off x="502920" y="1371600"/>
            <a:ext cx="5760720" cy="2433497"/>
          </a:xfrm>
          <a:prstGeom prst="rect">
            <a:avLst/>
          </a:prstGeom>
          <a:noFill/>
          <a:ln/>
        </p:spPr>
        <p:txBody>
          <a:bodyPr wrap="square" lIns="635" tIns="635" rIns="635" bIns="635" rtlCol="0" anchor="t">
            <a:normAutofit/>
          </a:bodyPr>
          <a:lstStyle/>
          <a:p>
            <a:pPr marL="177800" indent="-177800">
              <a:buSzPct val="100000"/>
              <a:buChar char="•"/>
            </a:pPr>
            <a:r>
              <a:rPr lang="en-US" sz="1620" dirty="0">
                <a:solidFill>
                  <a:srgbClr val="F6F1E8"/>
                </a:solidFill>
              </a:rPr>
              <a:t>If Flexible does not compress the child in a satisfactory way, the chapter suggests looking at FittedBox.</a:t>
            </a:r>
            <a:endParaRPr lang="en-US" sz="1620" dirty="0"/>
          </a:p>
          <a:p>
            <a:pPr marL="177800" indent="-177800">
              <a:buSzPct val="100000"/>
              <a:buChar char="•"/>
            </a:pPr>
            <a:r>
              <a:rPr lang="en-US" sz="1620" dirty="0">
                <a:solidFill>
                  <a:srgbClr val="F6F1E8"/>
                </a:solidFill>
              </a:rPr>
              <a:t>Unlike Flexible, FittedBox is explicit about how the child should be scaled or clipped. Relevant BoxFit modes include fitWidth, fitHeight, cover, and contain.</a:t>
            </a:r>
            <a:endParaRPr lang="en-US" sz="1620" dirty="0"/>
          </a:p>
          <a:p>
            <a:pPr marL="177800" indent="-177800">
              <a:buSzPct val="100000"/>
              <a:buChar char="•"/>
            </a:pPr>
            <a:r>
              <a:rPr lang="en-US" sz="1620" dirty="0">
                <a:solidFill>
                  <a:srgbClr val="F6F1E8"/>
                </a:solidFill>
              </a:rPr>
              <a:t>FittedBox is powerful when you know the exact viewport budget and can accept clipping or letterboxing. It is much less suitable for arbitrary text-heavy content where readability is the first requirement.</a:t>
            </a:r>
            <a:endParaRPr lang="en-US" sz="1620" dirty="0"/>
          </a:p>
        </p:txBody>
      </p:sp>
      <p:graphicFrame>
        <p:nvGraphicFramePr>
          <p:cNvPr id="14" name="Table 0"/>
          <p:cNvGraphicFramePr>
            <a:graphicFrameLocks noGrp="1"/>
          </p:cNvGraphicFramePr>
          <p:nvPr>
            <p:extLst>
              <p:ext uri="{D42A27DB-BD31-4B8C-83A1-F6EECF244321}">
                <p14:modId xmlns:p14="http://schemas.microsoft.com/office/powerpoint/2010/main" val="2333692441"/>
              </p:ext>
            </p:extLst>
          </p:nvPr>
        </p:nvGraphicFramePr>
        <p:xfrm>
          <a:off x="548640" y="4088565"/>
          <a:ext cx="5577840" cy="2042160"/>
        </p:xfrm>
        <a:graphic>
          <a:graphicData uri="http://schemas.openxmlformats.org/drawingml/2006/table">
            <a:tbl>
              <a:tblPr/>
              <a:tblGrid>
                <a:gridCol w="1188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BoxFit mode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What it optimizes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Typical risk</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fitWidth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Exact width match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Vertical clipping or padding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fitHeight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Exact height match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Horizontal clipping or padding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cover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Fill by smallest fitting dimension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One dimension clipped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contain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Keep full child visible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Unused space added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bl>
          </a:graphicData>
        </a:graphic>
      </p:graphicFrame>
      <p:sp>
        <p:nvSpPr>
          <p:cNvPr id="10" name="Shape 7"/>
          <p:cNvSpPr/>
          <p:nvPr/>
        </p:nvSpPr>
        <p:spPr>
          <a:xfrm>
            <a:off x="6903720" y="1234440"/>
            <a:ext cx="4800600" cy="5303520"/>
          </a:xfrm>
          <a:prstGeom prst="roundRect">
            <a:avLst>
              <a:gd name="adj" fmla="val 1524"/>
            </a:avLst>
          </a:prstGeom>
          <a:solidFill>
            <a:srgbClr val="F7F7F7"/>
          </a:solidFill>
          <a:ln w="12700">
            <a:solidFill>
              <a:srgbClr val="F2C300"/>
            </a:solidFill>
            <a:prstDash val="solid"/>
          </a:ln>
        </p:spPr>
      </p:sp>
      <p:pic>
        <p:nvPicPr>
          <p:cNvPr id="11" name="Image 0" descr="/mnt/data/render/page-228.png"/>
          <p:cNvPicPr>
            <a:picLocks noChangeAspect="1"/>
          </p:cNvPicPr>
          <p:nvPr/>
        </p:nvPicPr>
        <p:blipFill>
          <a:blip r:embed="rId3"/>
          <a:stretch>
            <a:fillRect/>
          </a:stretch>
        </p:blipFill>
        <p:spPr>
          <a:xfrm>
            <a:off x="7578149" y="1271016"/>
            <a:ext cx="3451741" cy="5230368"/>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13</a:t>
            </a:r>
            <a:endParaRPr lang="en-US" sz="900" dirty="0"/>
          </a:p>
        </p:txBody>
      </p:sp>
      <p:sp>
        <p:nvSpPr>
          <p:cNvPr id="9" name="Text 9"/>
          <p:cNvSpPr/>
          <p:nvPr/>
        </p:nvSpPr>
        <p:spPr>
          <a:xfrm>
            <a:off x="411480" y="6547104"/>
            <a:ext cx="2286000" cy="137156"/>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305" y="-4898"/>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SCROLLING</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Strategy 3 - Allow the user to scroll</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The most common and often the best production answer</a:t>
            </a:r>
            <a:endParaRPr lang="en-US" sz="1200" dirty="0">
              <a:latin typeface="Rockwell" panose="02060603020205020403" pitchFamily="18" charset="0"/>
            </a:endParaRPr>
          </a:p>
        </p:txBody>
      </p:sp>
      <p:sp>
        <p:nvSpPr>
          <p:cNvPr id="8" name="Text 6"/>
          <p:cNvSpPr/>
          <p:nvPr/>
        </p:nvSpPr>
        <p:spPr>
          <a:xfrm>
            <a:off x="502920" y="1453896"/>
            <a:ext cx="6217920" cy="3183414"/>
          </a:xfrm>
          <a:prstGeom prst="rect">
            <a:avLst/>
          </a:prstGeom>
          <a:noFill/>
          <a:ln/>
        </p:spPr>
        <p:txBody>
          <a:bodyPr wrap="square" lIns="635" tIns="635" rIns="635" bIns="635" rtlCol="0" anchor="t">
            <a:noAutofit/>
          </a:bodyPr>
          <a:lstStyle/>
          <a:p>
            <a:pPr marL="177800" indent="-177800">
              <a:buSzPct val="100000"/>
              <a:buChar char="•"/>
            </a:pPr>
            <a:r>
              <a:rPr lang="en-US" sz="2000" dirty="0">
                <a:solidFill>
                  <a:srgbClr val="F6F1E8"/>
                </a:solidFill>
              </a:rPr>
              <a:t>The chapter calls scrolling the easiest option to understand and often the most sensible. Instead of forcing all content into one viewport, you give the user a navigation path through the content.</a:t>
            </a:r>
            <a:endParaRPr lang="en-US" sz="2000" dirty="0"/>
          </a:p>
          <a:p>
            <a:pPr marL="177800" indent="-177800">
              <a:buSzPct val="100000"/>
              <a:buChar char="•"/>
            </a:pPr>
            <a:r>
              <a:rPr lang="en-US" sz="2000" dirty="0">
                <a:solidFill>
                  <a:srgbClr val="F6F1E8"/>
                </a:solidFill>
              </a:rPr>
              <a:t>This is not a surrender. It is a deliberate human-computer interaction decision: preserve content fidelity and accept sequential access.</a:t>
            </a:r>
            <a:endParaRPr lang="en-US" sz="2000" dirty="0"/>
          </a:p>
          <a:p>
            <a:pPr marL="177800" indent="-177800">
              <a:buSzPct val="100000"/>
              <a:buChar char="•"/>
            </a:pPr>
            <a:r>
              <a:rPr lang="en-US" sz="2000" dirty="0">
                <a:solidFill>
                  <a:srgbClr val="F6F1E8"/>
                </a:solidFill>
              </a:rPr>
              <a:t>Flutter offers many scrollable widgets, but the chapter concentrates on three that cover most practical needs: SingleChildScrollView, ListView, and GridView.</a:t>
            </a:r>
            <a:endParaRPr lang="en-US" sz="2000" dirty="0"/>
          </a:p>
        </p:txBody>
      </p:sp>
      <p:sp>
        <p:nvSpPr>
          <p:cNvPr id="9" name="Shape 7"/>
          <p:cNvSpPr/>
          <p:nvPr/>
        </p:nvSpPr>
        <p:spPr>
          <a:xfrm>
            <a:off x="658368" y="5131086"/>
            <a:ext cx="5943996" cy="876522"/>
          </a:xfrm>
          <a:prstGeom prst="roundRect">
            <a:avLst>
              <a:gd name="adj" fmla="val 9677"/>
            </a:avLst>
          </a:prstGeom>
          <a:solidFill>
            <a:srgbClr val="202020"/>
          </a:solidFill>
          <a:ln w="12700">
            <a:solidFill>
              <a:srgbClr val="F2C300"/>
            </a:solidFill>
            <a:prstDash val="solid"/>
          </a:ln>
        </p:spPr>
      </p:sp>
      <p:sp>
        <p:nvSpPr>
          <p:cNvPr id="10" name="Text 8"/>
          <p:cNvSpPr/>
          <p:nvPr/>
        </p:nvSpPr>
        <p:spPr>
          <a:xfrm>
            <a:off x="768096" y="5241471"/>
            <a:ext cx="5755168" cy="692985"/>
          </a:xfrm>
          <a:prstGeom prst="rect">
            <a:avLst/>
          </a:prstGeom>
          <a:noFill/>
          <a:ln/>
        </p:spPr>
        <p:txBody>
          <a:bodyPr wrap="square" lIns="0" tIns="0" rIns="0" bIns="0" rtlCol="0" anchor="ctr">
            <a:normAutofit/>
          </a:bodyPr>
          <a:lstStyle/>
          <a:p>
            <a:pPr marL="0" indent="0">
              <a:buNone/>
            </a:pPr>
            <a:r>
              <a:rPr lang="en-US" sz="1400" b="1" dirty="0">
                <a:solidFill>
                  <a:srgbClr val="FFD95A"/>
                </a:solidFill>
              </a:rPr>
              <a:t>Rule of thumb: if the content is inherently long or open-ended, scrolling is usually the correct abstraction.</a:t>
            </a:r>
            <a:endParaRPr lang="en-US" sz="1400" dirty="0"/>
          </a:p>
        </p:txBody>
      </p:sp>
      <p:sp>
        <p:nvSpPr>
          <p:cNvPr id="11" name="Shape 9"/>
          <p:cNvSpPr/>
          <p:nvPr/>
        </p:nvSpPr>
        <p:spPr>
          <a:xfrm>
            <a:off x="7132320" y="1234440"/>
            <a:ext cx="4572000" cy="5394960"/>
          </a:xfrm>
          <a:prstGeom prst="roundRect">
            <a:avLst>
              <a:gd name="adj" fmla="val 1600"/>
            </a:avLst>
          </a:prstGeom>
          <a:solidFill>
            <a:srgbClr val="F7F7F7"/>
          </a:solidFill>
          <a:ln w="12700">
            <a:solidFill>
              <a:srgbClr val="F2C300"/>
            </a:solidFill>
            <a:prstDash val="solid"/>
          </a:ln>
        </p:spPr>
      </p:sp>
      <p:pic>
        <p:nvPicPr>
          <p:cNvPr id="12" name="Image 0" descr="/mnt/data/render/page-229.png"/>
          <p:cNvPicPr>
            <a:picLocks noChangeAspect="1"/>
          </p:cNvPicPr>
          <p:nvPr/>
        </p:nvPicPr>
        <p:blipFill>
          <a:blip r:embed="rId3"/>
          <a:stretch>
            <a:fillRect/>
          </a:stretch>
        </p:blipFill>
        <p:spPr>
          <a:xfrm>
            <a:off x="7662277" y="1271016"/>
            <a:ext cx="3512087" cy="532180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14</a:t>
            </a:r>
            <a:endParaRPr lang="en-US" sz="900" dirty="0"/>
          </a:p>
        </p:txBody>
      </p:sp>
      <p:sp>
        <p:nvSpPr>
          <p:cNvPr id="15"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SINGLECHILDSCROLLVIEW</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SingleChildScrollView - one child, one scroll axis</a:t>
            </a:r>
            <a:endParaRPr lang="en-US" sz="2400" dirty="0"/>
          </a:p>
        </p:txBody>
      </p:sp>
      <p:sp>
        <p:nvSpPr>
          <p:cNvPr id="7" name="Text 5"/>
          <p:cNvSpPr/>
          <p:nvPr/>
        </p:nvSpPr>
        <p:spPr>
          <a:xfrm>
            <a:off x="429768" y="1024128"/>
            <a:ext cx="6403739" cy="310886"/>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Best for a single composite child that must remain intact</a:t>
            </a:r>
            <a:endParaRPr lang="en-US" sz="1200" dirty="0">
              <a:latin typeface="Rockwell" panose="02060603020205020403" pitchFamily="18" charset="0"/>
            </a:endParaRPr>
          </a:p>
        </p:txBody>
      </p:sp>
      <p:sp>
        <p:nvSpPr>
          <p:cNvPr id="8" name="Shape 6"/>
          <p:cNvSpPr/>
          <p:nvPr/>
        </p:nvSpPr>
        <p:spPr>
          <a:xfrm>
            <a:off x="502920" y="1417320"/>
            <a:ext cx="3931920" cy="1417320"/>
          </a:xfrm>
          <a:prstGeom prst="roundRect">
            <a:avLst>
              <a:gd name="adj" fmla="val 3871"/>
            </a:avLst>
          </a:prstGeom>
          <a:solidFill>
            <a:srgbClr val="0D0D0D"/>
          </a:solidFill>
          <a:ln w="12700">
            <a:solidFill>
              <a:srgbClr val="555555"/>
            </a:solidFill>
            <a:prstDash val="solid"/>
          </a:ln>
        </p:spPr>
      </p:sp>
      <p:sp>
        <p:nvSpPr>
          <p:cNvPr id="9" name="Text 7"/>
          <p:cNvSpPr/>
          <p:nvPr/>
        </p:nvSpPr>
        <p:spPr>
          <a:xfrm>
            <a:off x="612648" y="1508760"/>
            <a:ext cx="3712464" cy="123444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SingleChildScrollView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scrollDirection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Axis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horizontal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063240"/>
            <a:ext cx="6035040" cy="2971800"/>
          </a:xfrm>
          <a:prstGeom prst="rect">
            <a:avLst/>
          </a:prstGeom>
          <a:noFill/>
          <a:ln/>
        </p:spPr>
        <p:txBody>
          <a:bodyPr wrap="square" lIns="635" tIns="635" rIns="635" bIns="635" rtlCol="0" anchor="t">
            <a:noAutofit/>
          </a:bodyPr>
          <a:lstStyle/>
          <a:p>
            <a:pPr marL="177800" indent="-177800">
              <a:buSzPct val="100000"/>
              <a:buChar char="•"/>
            </a:pPr>
            <a:r>
              <a:rPr lang="en-US" dirty="0">
                <a:solidFill>
                  <a:srgbClr val="F6F1E8"/>
                </a:solidFill>
                <a:latin typeface="Rockwell" panose="02060603020205020403" pitchFamily="18" charset="0"/>
              </a:rPr>
              <a:t>The widget wraps exactly one child and then exposes horizontal or vertical scrolling over that child. In the example, the Row remains the child, but now the viewport can pan horizontally.</a:t>
            </a:r>
            <a:endParaRPr lang="en-US" dirty="0">
              <a:latin typeface="Rockwell" panose="02060603020205020403" pitchFamily="18" charset="0"/>
            </a:endParaRPr>
          </a:p>
          <a:p>
            <a:pPr marL="177800" indent="-177800">
              <a:buSzPct val="100000"/>
              <a:buChar char="•"/>
            </a:pPr>
            <a:r>
              <a:rPr lang="en-US" dirty="0">
                <a:solidFill>
                  <a:srgbClr val="F6F1E8"/>
                </a:solidFill>
                <a:latin typeface="Rockwell" panose="02060603020205020403" pitchFamily="18" charset="0"/>
              </a:rPr>
              <a:t>The chapter notes an important limitation: SingleChildScrollView scrolls in one axis, not both. For bi-directional panning you would need a different interaction model such as InteractiveViewer.</a:t>
            </a:r>
            <a:endParaRPr lang="en-US" dirty="0">
              <a:latin typeface="Rockwell" panose="02060603020205020403" pitchFamily="18" charset="0"/>
            </a:endParaRPr>
          </a:p>
          <a:p>
            <a:pPr marL="177800" indent="-177800">
              <a:buSzPct val="100000"/>
              <a:buChar char="•"/>
            </a:pPr>
            <a:r>
              <a:rPr lang="en-US" dirty="0">
                <a:solidFill>
                  <a:srgbClr val="F6F1E8"/>
                </a:solidFill>
                <a:latin typeface="Rockwell" panose="02060603020205020403" pitchFamily="18" charset="0"/>
              </a:rPr>
              <a:t>Use this when the subtree is conceptually a single artifact - for example, a form, a wide row, or a long column.</a:t>
            </a:r>
            <a:endParaRPr lang="en-US" dirty="0">
              <a:latin typeface="Rockwell" panose="02060603020205020403" pitchFamily="18" charset="0"/>
            </a:endParaRPr>
          </a:p>
        </p:txBody>
      </p:sp>
      <p:sp>
        <p:nvSpPr>
          <p:cNvPr id="11" name="Shape 9"/>
          <p:cNvSpPr/>
          <p:nvPr/>
        </p:nvSpPr>
        <p:spPr>
          <a:xfrm>
            <a:off x="6995160" y="685804"/>
            <a:ext cx="4709160" cy="5504683"/>
          </a:xfrm>
          <a:prstGeom prst="roundRect">
            <a:avLst>
              <a:gd name="adj" fmla="val 1553"/>
            </a:avLst>
          </a:prstGeom>
          <a:solidFill>
            <a:srgbClr val="F7F7F7"/>
          </a:solidFill>
          <a:ln w="12700">
            <a:solidFill>
              <a:srgbClr val="F2C300"/>
            </a:solidFill>
            <a:prstDash val="solid"/>
          </a:ln>
        </p:spPr>
      </p:sp>
      <p:pic>
        <p:nvPicPr>
          <p:cNvPr id="12" name="Image 0" descr="/mnt/data/render/page-230.png"/>
          <p:cNvPicPr>
            <a:picLocks noChangeAspect="1"/>
          </p:cNvPicPr>
          <p:nvPr/>
        </p:nvPicPr>
        <p:blipFill>
          <a:blip r:embed="rId3"/>
          <a:stretch>
            <a:fillRect/>
          </a:stretch>
        </p:blipFill>
        <p:spPr>
          <a:xfrm>
            <a:off x="7716161" y="772996"/>
            <a:ext cx="3512087" cy="532180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15</a:t>
            </a:r>
            <a:endParaRPr lang="en-US" sz="900" dirty="0"/>
          </a:p>
        </p:txBody>
      </p:sp>
      <p:sp>
        <p:nvSpPr>
          <p:cNvPr id="15" name="Text 11"/>
          <p:cNvSpPr/>
          <p:nvPr/>
        </p:nvSpPr>
        <p:spPr>
          <a:xfrm>
            <a:off x="411480" y="6519672"/>
            <a:ext cx="2286000" cy="164582"/>
          </a:xfrm>
          <a:prstGeom prst="rect">
            <a:avLst/>
          </a:prstGeom>
          <a:noFill/>
          <a:ln/>
        </p:spPr>
        <p:txBody>
          <a:bodyPr wrap="square" lIns="0" tIns="0" rIns="0" bIns="0" rtlCol="0" anchor="ctr"/>
          <a:lstStyle/>
          <a:p>
            <a:pPr marL="0" indent="0">
              <a:buNone/>
            </a:pPr>
            <a:r>
              <a:rPr lang="en-US" sz="1100" dirty="0">
                <a:solidFill>
                  <a:srgbClr val="8C8C8C"/>
                </a:solidFill>
              </a:rPr>
              <a:t>Flutter layout lecture deck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LISTVIEW</a:t>
            </a:r>
            <a:endParaRPr lang="en-US" sz="1200" dirty="0">
              <a:latin typeface="Rockwell" panose="02060603020205020403" pitchFamily="18" charset="0"/>
            </a:endParaRPr>
          </a:p>
        </p:txBody>
      </p:sp>
      <p:sp>
        <p:nvSpPr>
          <p:cNvPr id="6" name="Text 4"/>
          <p:cNvSpPr/>
          <p:nvPr/>
        </p:nvSpPr>
        <p:spPr>
          <a:xfrm>
            <a:off x="411479" y="566928"/>
            <a:ext cx="9091749"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ListView looks similar, but the semantics are different</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children property plus built-in scrolling behavior</a:t>
            </a:r>
            <a:endParaRPr lang="en-US" sz="1200" dirty="0">
              <a:latin typeface="Rockwell" panose="02060603020205020403" pitchFamily="18" charset="0"/>
            </a:endParaRPr>
          </a:p>
        </p:txBody>
      </p:sp>
      <p:sp>
        <p:nvSpPr>
          <p:cNvPr id="8" name="Shape 6"/>
          <p:cNvSpPr/>
          <p:nvPr/>
        </p:nvSpPr>
        <p:spPr>
          <a:xfrm>
            <a:off x="530352" y="1417320"/>
            <a:ext cx="3878362" cy="1343514"/>
          </a:xfrm>
          <a:prstGeom prst="roundRect">
            <a:avLst>
              <a:gd name="adj" fmla="val 5000"/>
            </a:avLst>
          </a:prstGeom>
          <a:solidFill>
            <a:srgbClr val="0D0D0D"/>
          </a:solidFill>
          <a:ln w="12700">
            <a:solidFill>
              <a:srgbClr val="555555"/>
            </a:solidFill>
            <a:prstDash val="solid"/>
          </a:ln>
        </p:spPr>
      </p:sp>
      <p:sp>
        <p:nvSpPr>
          <p:cNvPr id="9" name="Text 7"/>
          <p:cNvSpPr/>
          <p:nvPr/>
        </p:nvSpPr>
        <p:spPr>
          <a:xfrm>
            <a:off x="640079" y="1508759"/>
            <a:ext cx="3662499" cy="1151489"/>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ListView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scrollDirection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Axis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horizontal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wordWidgets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053443"/>
            <a:ext cx="6216287" cy="2780430"/>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latin typeface="Rockwell" panose="02060603020205020403" pitchFamily="18" charset="0"/>
              </a:rPr>
              <a:t>At the API surface, ListView can resemble SingleChildScrollView because both can display horizontally or vertically scrollable content.</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But ListView is not just “a scroll wrapper.” It is a list container designed specifically for sequences of items and therefore comes with stronger performance and construction patterns.</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The chapter’s wording is useful: ListView has superpowers that SingleChildScrollView does not.</a:t>
            </a:r>
            <a:endParaRPr lang="en-US" sz="2000" dirty="0">
              <a:latin typeface="Rockwell" panose="02060603020205020403" pitchFamily="18" charset="0"/>
            </a:endParaRPr>
          </a:p>
        </p:txBody>
      </p:sp>
      <p:sp>
        <p:nvSpPr>
          <p:cNvPr id="11" name="Shape 9"/>
          <p:cNvSpPr/>
          <p:nvPr/>
        </p:nvSpPr>
        <p:spPr>
          <a:xfrm>
            <a:off x="7094764" y="1234440"/>
            <a:ext cx="4609556" cy="5138929"/>
          </a:xfrm>
          <a:prstGeom prst="roundRect">
            <a:avLst>
              <a:gd name="adj" fmla="val 1538"/>
            </a:avLst>
          </a:prstGeom>
          <a:solidFill>
            <a:srgbClr val="F7F7F7"/>
          </a:solidFill>
          <a:ln w="12700">
            <a:solidFill>
              <a:srgbClr val="F2C300"/>
            </a:solidFill>
            <a:prstDash val="solid"/>
          </a:ln>
        </p:spPr>
      </p:sp>
      <p:pic>
        <p:nvPicPr>
          <p:cNvPr id="12" name="Image 0" descr="/mnt/data/render/page-231.png"/>
          <p:cNvPicPr>
            <a:picLocks noChangeAspect="1"/>
          </p:cNvPicPr>
          <p:nvPr/>
        </p:nvPicPr>
        <p:blipFill>
          <a:blip r:embed="rId3"/>
          <a:stretch>
            <a:fillRect/>
          </a:stretch>
        </p:blipFill>
        <p:spPr>
          <a:xfrm>
            <a:off x="7570837" y="1271016"/>
            <a:ext cx="3512087" cy="491032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16</a:t>
            </a:r>
            <a:endParaRPr lang="en-US" sz="900" dirty="0"/>
          </a:p>
        </p:txBody>
      </p:sp>
      <p:sp>
        <p:nvSpPr>
          <p:cNvPr id="15" name="Text 11"/>
          <p:cNvSpPr/>
          <p:nvPr/>
        </p:nvSpPr>
        <p:spPr>
          <a:xfrm>
            <a:off x="411480" y="6547104"/>
            <a:ext cx="2323556" cy="137154"/>
          </a:xfrm>
          <a:prstGeom prst="rect">
            <a:avLst/>
          </a:prstGeom>
          <a:noFill/>
          <a:ln/>
        </p:spPr>
        <p:txBody>
          <a:bodyPr wrap="square" lIns="0" tIns="0" rIns="0" bIns="0" rtlCol="0" anchor="ctr"/>
          <a:lstStyle/>
          <a:p>
            <a:pPr marL="0" indent="0">
              <a:buNone/>
            </a:pPr>
            <a:r>
              <a:rPr lang="en-US" sz="1000" dirty="0">
                <a:solidFill>
                  <a:srgbClr val="8C8C8C"/>
                </a:solidFill>
                <a:latin typeface="Rockwell" panose="02060603020205020403" pitchFamily="18" charset="0"/>
              </a:rPr>
              <a:t>Flutter layout lecture deck</a:t>
            </a:r>
            <a:endParaRPr lang="en-US" sz="1000" dirty="0">
              <a:latin typeface="Rockwell" panose="020606030202050204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LISTVIEW INTERNALS</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Why ListView is memory efficient</a:t>
            </a:r>
            <a:endParaRPr lang="en-US" sz="2400" dirty="0">
              <a:latin typeface="Rockwell" panose="02060603020205020403" pitchFamily="18" charset="0"/>
            </a:endParaRPr>
          </a:p>
        </p:txBody>
      </p:sp>
      <p:sp>
        <p:nvSpPr>
          <p:cNvPr id="7" name="Text 5"/>
          <p:cNvSpPr/>
          <p:nvPr/>
        </p:nvSpPr>
        <p:spPr>
          <a:xfrm>
            <a:off x="429769" y="1014984"/>
            <a:ext cx="3831988" cy="416058"/>
          </a:xfrm>
          <a:prstGeom prst="rect">
            <a:avLst/>
          </a:prstGeom>
          <a:noFill/>
          <a:ln/>
        </p:spPr>
        <p:txBody>
          <a:bodyPr wrap="square" lIns="0" tIns="0" rIns="0" bIns="0" rtlCol="0" anchor="ctr"/>
          <a:lstStyle/>
          <a:p>
            <a:pPr marL="0" indent="0">
              <a:buNone/>
            </a:pPr>
            <a:r>
              <a:rPr lang="en-US" sz="1200" i="1" dirty="0">
                <a:solidFill>
                  <a:srgbClr val="C8C4BC"/>
                </a:solidFill>
              </a:rPr>
              <a:t>Only widgets near the viewport are built and retained</a:t>
            </a:r>
            <a:endParaRPr lang="en-US" sz="1200" dirty="0"/>
          </a:p>
        </p:txBody>
      </p:sp>
      <p:sp>
        <p:nvSpPr>
          <p:cNvPr id="8" name="Text 6"/>
          <p:cNvSpPr/>
          <p:nvPr/>
        </p:nvSpPr>
        <p:spPr>
          <a:xfrm>
            <a:off x="502920" y="1714506"/>
            <a:ext cx="7009431" cy="4091933"/>
          </a:xfrm>
          <a:prstGeom prst="rect">
            <a:avLst/>
          </a:prstGeom>
          <a:noFill/>
          <a:ln/>
        </p:spPr>
        <p:txBody>
          <a:bodyPr wrap="square" lIns="635" tIns="635" rIns="635" bIns="635" rtlCol="0" anchor="t">
            <a:normAutofit/>
          </a:bodyPr>
          <a:lstStyle/>
          <a:p>
            <a:pPr marL="177800" indent="-177800">
              <a:buSzPct val="100000"/>
              <a:buChar char="•"/>
            </a:pPr>
            <a:r>
              <a:rPr lang="en-US" dirty="0">
                <a:solidFill>
                  <a:srgbClr val="F6F1E8"/>
                </a:solidFill>
              </a:rPr>
              <a:t>The book contrasts ListView with SingleChildScrollView by explaining allocation strategy. SingleChildScrollView builds its child and all descendants up front, regardless of size.</a:t>
            </a:r>
            <a:endParaRPr lang="en-US" dirty="0"/>
          </a:p>
          <a:p>
            <a:pPr marL="177800" indent="-177800">
              <a:buSzPct val="100000"/>
              <a:buChar char="•"/>
            </a:pPr>
            <a:r>
              <a:rPr lang="en-US" dirty="0">
                <a:solidFill>
                  <a:srgbClr val="F6F1E8"/>
                </a:solidFill>
              </a:rPr>
              <a:t>ListView tracks the viewport and only builds items currently visible or just off-screen. As the user scrolls, Flutter creates upcoming widgets and can page out widgets that have moved away.</a:t>
            </a:r>
            <a:endParaRPr lang="en-US" dirty="0"/>
          </a:p>
          <a:p>
            <a:pPr marL="177800" indent="-177800">
              <a:buSzPct val="100000"/>
              <a:buChar char="•"/>
            </a:pPr>
            <a:r>
              <a:rPr lang="en-US" dirty="0">
                <a:solidFill>
                  <a:srgbClr val="F6F1E8"/>
                </a:solidFill>
              </a:rPr>
              <a:t>This is a classic systems trade-off: a small amount of runtime churn buys substantial memory savings and scalability.</a:t>
            </a:r>
            <a:endParaRPr lang="en-US" dirty="0"/>
          </a:p>
          <a:p>
            <a:pPr marL="177800" indent="-177800">
              <a:buSzPct val="100000"/>
              <a:buChar char="•"/>
            </a:pPr>
            <a:r>
              <a:rPr lang="en-US" dirty="0">
                <a:solidFill>
                  <a:srgbClr val="F6F1E8"/>
                </a:solidFill>
              </a:rPr>
              <a:t>The chapter’s headline guidance is worth remembering verbatim: ListView is the best option when you have a massive, even infinite, list.</a:t>
            </a:r>
            <a:endParaRPr lang="en-US" dirty="0"/>
          </a:p>
        </p:txBody>
      </p:sp>
      <p:graphicFrame>
        <p:nvGraphicFramePr>
          <p:cNvPr id="18" name="Table 0"/>
          <p:cNvGraphicFramePr>
            <a:graphicFrameLocks noGrp="1"/>
          </p:cNvGraphicFramePr>
          <p:nvPr>
            <p:extLst>
              <p:ext uri="{D42A27DB-BD31-4B8C-83A1-F6EECF244321}">
                <p14:modId xmlns:p14="http://schemas.microsoft.com/office/powerpoint/2010/main" val="3924123167"/>
              </p:ext>
            </p:extLst>
          </p:nvPr>
        </p:nvGraphicFramePr>
        <p:xfrm>
          <a:off x="7674429" y="685800"/>
          <a:ext cx="4355188" cy="1716024"/>
        </p:xfrm>
        <a:graphic>
          <a:graphicData uri="http://schemas.openxmlformats.org/drawingml/2006/table">
            <a:tbl>
              <a:tblPr/>
              <a:tblGrid>
                <a:gridCol w="1814662">
                  <a:extLst>
                    <a:ext uri="{9D8B030D-6E8A-4147-A177-3AD203B41FA5}">
                      <a16:colId xmlns:a16="http://schemas.microsoft.com/office/drawing/2014/main" val="20000"/>
                    </a:ext>
                  </a:extLst>
                </a:gridCol>
                <a:gridCol w="1633195">
                  <a:extLst>
                    <a:ext uri="{9D8B030D-6E8A-4147-A177-3AD203B41FA5}">
                      <a16:colId xmlns:a16="http://schemas.microsoft.com/office/drawing/2014/main" val="20001"/>
                    </a:ext>
                  </a:extLst>
                </a:gridCol>
                <a:gridCol w="907331">
                  <a:extLst>
                    <a:ext uri="{9D8B030D-6E8A-4147-A177-3AD203B41FA5}">
                      <a16:colId xmlns:a16="http://schemas.microsoft.com/office/drawing/2014/main" val="20002"/>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Container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Build strategy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Scales to huge lists?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SingleChildScrollView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Build whole subtree eagerly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Poorly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ListView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Build near viewport lazily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Yes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bl>
          </a:graphicData>
        </a:graphic>
      </p:graphicFrame>
      <p:sp>
        <p:nvSpPr>
          <p:cNvPr id="10" name="Shape 7"/>
          <p:cNvSpPr/>
          <p:nvPr/>
        </p:nvSpPr>
        <p:spPr>
          <a:xfrm>
            <a:off x="7818120" y="2630424"/>
            <a:ext cx="3870960" cy="3676978"/>
          </a:xfrm>
          <a:prstGeom prst="roundRect">
            <a:avLst>
              <a:gd name="adj" fmla="val 2424"/>
            </a:avLst>
          </a:prstGeom>
          <a:solidFill>
            <a:srgbClr val="F7F7F7"/>
          </a:solidFill>
          <a:ln w="12700">
            <a:solidFill>
              <a:srgbClr val="F2C300"/>
            </a:solidFill>
            <a:prstDash val="solid"/>
          </a:ln>
        </p:spPr>
      </p:sp>
      <p:pic>
        <p:nvPicPr>
          <p:cNvPr id="11" name="Image 0" descr="/mnt/data/render/page-232.png"/>
          <p:cNvPicPr>
            <a:picLocks noChangeAspect="1"/>
          </p:cNvPicPr>
          <p:nvPr/>
        </p:nvPicPr>
        <p:blipFill>
          <a:blip r:embed="rId3"/>
          <a:stretch>
            <a:fillRect/>
          </a:stretch>
        </p:blipFill>
        <p:spPr>
          <a:xfrm>
            <a:off x="8608364" y="2682099"/>
            <a:ext cx="2487318" cy="3490101"/>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17</a:t>
            </a:r>
            <a:endParaRPr lang="en-US" sz="900" dirty="0"/>
          </a:p>
        </p:txBody>
      </p:sp>
      <p:sp>
        <p:nvSpPr>
          <p:cNvPr id="14" name="Text 9"/>
          <p:cNvSpPr/>
          <p:nvPr/>
        </p:nvSpPr>
        <p:spPr>
          <a:xfrm>
            <a:off x="411480" y="6547104"/>
            <a:ext cx="2286000" cy="147602"/>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LISTVIEW PATTERNS</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Four ways to use ListView</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Choose the constructor that matches how items are produced</a:t>
            </a:r>
            <a:endParaRPr lang="en-US" sz="1200" dirty="0">
              <a:latin typeface="Rockwell" panose="02060603020205020403" pitchFamily="18" charset="0"/>
            </a:endParaRPr>
          </a:p>
        </p:txBody>
      </p:sp>
      <p:graphicFrame>
        <p:nvGraphicFramePr>
          <p:cNvPr id="19" name="Table 0"/>
          <p:cNvGraphicFramePr>
            <a:graphicFrameLocks noGrp="1"/>
          </p:cNvGraphicFramePr>
          <p:nvPr>
            <p:extLst>
              <p:ext uri="{D42A27DB-BD31-4B8C-83A1-F6EECF244321}">
                <p14:modId xmlns:p14="http://schemas.microsoft.com/office/powerpoint/2010/main" val="513951089"/>
              </p:ext>
            </p:extLst>
          </p:nvPr>
        </p:nvGraphicFramePr>
        <p:xfrm>
          <a:off x="502920" y="1563624"/>
          <a:ext cx="6675120" cy="2828761"/>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51169">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Variant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Use case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Why it exists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59439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ListView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Predefined static widgets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Simplest API when children already exist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59439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ListView.builder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Generate widgets from data on demand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Best general solution for dynamic collections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59439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ListView.separated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Insert a widget between items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Useful for dividers or periodic ads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59439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ListView.custom</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Advanced custom sliver behavior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Specialized control path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bl>
          </a:graphicData>
        </a:graphic>
      </p:graphicFrame>
      <p:sp>
        <p:nvSpPr>
          <p:cNvPr id="9" name="Text 6"/>
          <p:cNvSpPr/>
          <p:nvPr/>
        </p:nvSpPr>
        <p:spPr>
          <a:xfrm>
            <a:off x="548640" y="4617720"/>
            <a:ext cx="7132320" cy="1234440"/>
          </a:xfrm>
          <a:prstGeom prst="rect">
            <a:avLst/>
          </a:prstGeom>
          <a:noFill/>
          <a:ln/>
        </p:spPr>
        <p:txBody>
          <a:bodyPr wrap="square" lIns="635" tIns="635" rIns="635" bIns="635" rtlCol="0" anchor="t">
            <a:normAutofit/>
          </a:bodyPr>
          <a:lstStyle/>
          <a:p>
            <a:pPr marL="177800" indent="-177800">
              <a:buSzPct val="100000"/>
              <a:buChar char="•"/>
            </a:pPr>
            <a:r>
              <a:rPr lang="en-US" sz="1570" dirty="0">
                <a:solidFill>
                  <a:srgbClr val="F6F1E8"/>
                </a:solidFill>
              </a:rPr>
              <a:t>From a software architecture perspective, the constructors encode different production strategies: static composition, lazy generation, decorated generation, and custom sliver delegation.</a:t>
            </a:r>
            <a:endParaRPr lang="en-US" sz="1570" dirty="0"/>
          </a:p>
        </p:txBody>
      </p:sp>
      <p:sp>
        <p:nvSpPr>
          <p:cNvPr id="10" name="Shape 7"/>
          <p:cNvSpPr/>
          <p:nvPr/>
        </p:nvSpPr>
        <p:spPr>
          <a:xfrm>
            <a:off x="8001000" y="502920"/>
            <a:ext cx="3657600" cy="5760720"/>
          </a:xfrm>
          <a:prstGeom prst="roundRect">
            <a:avLst>
              <a:gd name="adj" fmla="val 2000"/>
            </a:avLst>
          </a:prstGeom>
          <a:solidFill>
            <a:srgbClr val="F7F7F7"/>
          </a:solidFill>
          <a:ln w="12700">
            <a:solidFill>
              <a:srgbClr val="F2C300"/>
            </a:solidFill>
            <a:prstDash val="solid"/>
          </a:ln>
        </p:spPr>
      </p:sp>
      <p:pic>
        <p:nvPicPr>
          <p:cNvPr id="11" name="Image 0" descr="/mnt/data/render/page-233.png"/>
          <p:cNvPicPr>
            <a:picLocks noChangeAspect="1"/>
          </p:cNvPicPr>
          <p:nvPr/>
        </p:nvPicPr>
        <p:blipFill>
          <a:blip r:embed="rId3"/>
          <a:stretch>
            <a:fillRect/>
          </a:stretch>
        </p:blipFill>
        <p:spPr>
          <a:xfrm>
            <a:off x="8224620" y="594360"/>
            <a:ext cx="3210361" cy="5632704"/>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18</a:t>
            </a:r>
            <a:endParaRPr lang="en-US" sz="900" dirty="0"/>
          </a:p>
        </p:txBody>
      </p:sp>
      <p:sp>
        <p:nvSpPr>
          <p:cNvPr id="14" name="Text 9"/>
          <p:cNvSpPr/>
          <p:nvPr/>
        </p:nvSpPr>
        <p:spPr>
          <a:xfrm>
            <a:off x="411480" y="6547104"/>
            <a:ext cx="2286000" cy="196580"/>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LISTVIEW.BUILDER</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ListView.builder - the data-driven list constructor</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Widget creation is delegated to itemBuilder(context, index)</a:t>
            </a:r>
            <a:endParaRPr lang="en-US" sz="1050" dirty="0"/>
          </a:p>
        </p:txBody>
      </p:sp>
      <p:sp>
        <p:nvSpPr>
          <p:cNvPr id="8" name="Shape 6"/>
          <p:cNvSpPr/>
          <p:nvPr/>
        </p:nvSpPr>
        <p:spPr>
          <a:xfrm>
            <a:off x="502920" y="1417320"/>
            <a:ext cx="4297680" cy="1508760"/>
          </a:xfrm>
          <a:prstGeom prst="roundRect">
            <a:avLst>
              <a:gd name="adj" fmla="val 3636"/>
            </a:avLst>
          </a:prstGeom>
          <a:solidFill>
            <a:srgbClr val="0D0D0D"/>
          </a:solidFill>
          <a:ln w="12700">
            <a:solidFill>
              <a:srgbClr val="555555"/>
            </a:solidFill>
            <a:prstDash val="solid"/>
          </a:ln>
        </p:spPr>
      </p:sp>
      <p:sp>
        <p:nvSpPr>
          <p:cNvPr id="9" name="Text 7"/>
          <p:cNvSpPr/>
          <p:nvPr/>
        </p:nvSpPr>
        <p:spPr>
          <a:xfrm>
            <a:off x="612648" y="1508760"/>
            <a:ext cx="4078224" cy="132588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ListView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builder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scrollDirection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Axis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horizontal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itemCount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words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length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itemBuilder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context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Word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 -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words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246120"/>
            <a:ext cx="6126480" cy="2743200"/>
          </a:xfrm>
          <a:prstGeom prst="rect">
            <a:avLst/>
          </a:prstGeom>
          <a:noFill/>
          <a:ln/>
        </p:spPr>
        <p:txBody>
          <a:bodyPr wrap="square" lIns="635" tIns="635" rIns="635" bIns="635" rtlCol="0" anchor="t">
            <a:normAutofit/>
          </a:bodyPr>
          <a:lstStyle/>
          <a:p>
            <a:pPr marL="177800" indent="-177800">
              <a:buSzPct val="100000"/>
              <a:buChar char="•"/>
            </a:pPr>
            <a:r>
              <a:rPr lang="en-US" sz="1580" dirty="0">
                <a:solidFill>
                  <a:srgbClr val="F6F1E8"/>
                </a:solidFill>
              </a:rPr>
              <a:t>The builder pattern separates data storage from widget instantiation. itemCount declares the cardinality; itemBuilder is the factory function that maps index to widget.</a:t>
            </a:r>
            <a:endParaRPr lang="en-US" sz="1580" dirty="0"/>
          </a:p>
          <a:p>
            <a:pPr marL="177800" indent="-177800">
              <a:buSzPct val="100000"/>
              <a:buChar char="•"/>
            </a:pPr>
            <a:r>
              <a:rPr lang="en-US" sz="1580" dirty="0">
                <a:solidFill>
                  <a:srgbClr val="F6F1E8"/>
                </a:solidFill>
              </a:rPr>
              <a:t>For computer engineers, this is an important abstraction boundary: a list view is not storing widgets as the primary asset; it is storing a recipe for generating them.</a:t>
            </a:r>
            <a:endParaRPr lang="en-US" sz="1580" dirty="0"/>
          </a:p>
          <a:p>
            <a:pPr marL="177800" indent="-177800">
              <a:buSzPct val="100000"/>
              <a:buChar char="•"/>
            </a:pPr>
            <a:r>
              <a:rPr lang="en-US" sz="1580" dirty="0">
                <a:solidFill>
                  <a:srgbClr val="F6F1E8"/>
                </a:solidFill>
              </a:rPr>
              <a:t>This enables lazy construction, better memory behavior, and straightforward integration with remote or database-backed collections.</a:t>
            </a:r>
            <a:endParaRPr lang="en-US" sz="1580" dirty="0"/>
          </a:p>
        </p:txBody>
      </p:sp>
      <p:sp>
        <p:nvSpPr>
          <p:cNvPr id="11" name="Shape 9"/>
          <p:cNvSpPr/>
          <p:nvPr/>
        </p:nvSpPr>
        <p:spPr>
          <a:xfrm>
            <a:off x="7452360" y="1417320"/>
            <a:ext cx="4114800" cy="4114800"/>
          </a:xfrm>
          <a:prstGeom prst="roundRect">
            <a:avLst>
              <a:gd name="adj" fmla="val 1778"/>
            </a:avLst>
          </a:prstGeom>
          <a:solidFill>
            <a:srgbClr val="F7F7F7"/>
          </a:solidFill>
          <a:ln w="12700">
            <a:solidFill>
              <a:srgbClr val="F2C300"/>
            </a:solidFill>
            <a:prstDash val="solid"/>
          </a:ln>
        </p:spPr>
      </p:sp>
      <p:pic>
        <p:nvPicPr>
          <p:cNvPr id="12" name="Image 0" descr="/mnt/data/crops/listview_builder.png"/>
          <p:cNvPicPr>
            <a:picLocks noChangeAspect="1"/>
          </p:cNvPicPr>
          <p:nvPr/>
        </p:nvPicPr>
        <p:blipFill>
          <a:blip r:embed="rId3"/>
          <a:stretch>
            <a:fillRect/>
          </a:stretch>
        </p:blipFill>
        <p:spPr>
          <a:xfrm>
            <a:off x="7488936" y="2592906"/>
            <a:ext cx="4041648" cy="176362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19</a:t>
            </a:r>
            <a:endParaRPr lang="en-US" sz="900" dirty="0"/>
          </a:p>
        </p:txBody>
      </p:sp>
      <p:sp>
        <p:nvSpPr>
          <p:cNvPr id="15" name="Text 11"/>
          <p:cNvSpPr/>
          <p:nvPr/>
        </p:nvSpPr>
        <p:spPr>
          <a:xfrm>
            <a:off x="411480" y="6556248"/>
            <a:ext cx="2286000" cy="187450"/>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22860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GRIDVIEW</a:t>
            </a:r>
            <a:endParaRPr lang="en-US" sz="1200" dirty="0">
              <a:latin typeface="Rockwell" panose="02060603020205020403" pitchFamily="18" charset="0"/>
            </a:endParaRPr>
          </a:p>
        </p:txBody>
      </p:sp>
      <p:sp>
        <p:nvSpPr>
          <p:cNvPr id="6" name="Text 4"/>
          <p:cNvSpPr/>
          <p:nvPr/>
        </p:nvSpPr>
        <p:spPr>
          <a:xfrm>
            <a:off x="411479" y="566928"/>
            <a:ext cx="8316141"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GridView - scrolling for roughly square or tiled content</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Use it when one-dimensional lists are the wrong visual model</a:t>
            </a:r>
            <a:endParaRPr lang="en-US" sz="1200" dirty="0">
              <a:latin typeface="Rockwell" panose="02060603020205020403" pitchFamily="18" charset="0"/>
            </a:endParaRPr>
          </a:p>
        </p:txBody>
      </p:sp>
      <p:sp>
        <p:nvSpPr>
          <p:cNvPr id="8" name="Text 6"/>
          <p:cNvSpPr/>
          <p:nvPr/>
        </p:nvSpPr>
        <p:spPr>
          <a:xfrm>
            <a:off x="502920" y="1624692"/>
            <a:ext cx="6309360" cy="4181747"/>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The chapter introduces GridView through a practical shift in data shape: instead of a list of words, imagine a collection of PersonCard widgets with photo and name.</a:t>
            </a:r>
            <a:endParaRPr lang="en-US" sz="2000" dirty="0"/>
          </a:p>
          <a:p>
            <a:pPr marL="177800" indent="-177800">
              <a:buSzPct val="100000"/>
              <a:buChar char="•"/>
            </a:pPr>
            <a:r>
              <a:rPr lang="en-US" sz="2000" dirty="0">
                <a:solidFill>
                  <a:srgbClr val="F6F1E8"/>
                </a:solidFill>
              </a:rPr>
              <a:t>The design requirement changes. Users typically want to scan such items in rows and columns rather than one long linear list. GridView gives the same “lazy scrollable collection” idea as ListView but in a wrapping grid.</a:t>
            </a:r>
            <a:endParaRPr lang="en-US" sz="2000" dirty="0"/>
          </a:p>
          <a:p>
            <a:pPr marL="177800" indent="-177800">
              <a:buSzPct val="100000"/>
              <a:buChar char="•"/>
            </a:pPr>
            <a:r>
              <a:rPr lang="en-US" sz="2000" dirty="0">
                <a:solidFill>
                  <a:srgbClr val="F6F1E8"/>
                </a:solidFill>
              </a:rPr>
              <a:t>The biggest win is that Flutter handles both the tiling and the scrolling policy for you.</a:t>
            </a:r>
            <a:endParaRPr lang="en-US" sz="2000" dirty="0"/>
          </a:p>
        </p:txBody>
      </p:sp>
      <p:sp>
        <p:nvSpPr>
          <p:cNvPr id="9" name="Shape 7"/>
          <p:cNvSpPr/>
          <p:nvPr/>
        </p:nvSpPr>
        <p:spPr>
          <a:xfrm>
            <a:off x="7117080" y="1024128"/>
            <a:ext cx="4663440" cy="5394960"/>
          </a:xfrm>
          <a:prstGeom prst="roundRect">
            <a:avLst>
              <a:gd name="adj" fmla="val 1569"/>
            </a:avLst>
          </a:prstGeom>
          <a:solidFill>
            <a:srgbClr val="F7F7F7"/>
          </a:solidFill>
          <a:ln w="12700">
            <a:solidFill>
              <a:srgbClr val="F2C300"/>
            </a:solidFill>
            <a:prstDash val="solid"/>
          </a:ln>
        </p:spPr>
      </p:sp>
      <p:pic>
        <p:nvPicPr>
          <p:cNvPr id="10" name="Image 0" descr="/mnt/data/render/page-234.png"/>
          <p:cNvPicPr>
            <a:picLocks noChangeAspect="1"/>
          </p:cNvPicPr>
          <p:nvPr/>
        </p:nvPicPr>
        <p:blipFill>
          <a:blip r:embed="rId3"/>
          <a:stretch>
            <a:fillRect/>
          </a:stretch>
        </p:blipFill>
        <p:spPr>
          <a:xfrm>
            <a:off x="7633100" y="1042416"/>
            <a:ext cx="3512087" cy="532180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20</a:t>
            </a:r>
            <a:endParaRPr lang="en-US" sz="900" dirty="0"/>
          </a:p>
        </p:txBody>
      </p:sp>
      <p:sp>
        <p:nvSpPr>
          <p:cNvPr id="13" name="Text 9"/>
          <p:cNvSpPr/>
          <p:nvPr/>
        </p:nvSpPr>
        <p:spPr>
          <a:xfrm>
            <a:off x="411480" y="6528817"/>
            <a:ext cx="2286000" cy="155441"/>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GRIDVIEW.EXTENT</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GridView.extent - specify the maximum child width</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Column count adapts to available width and orientation</a:t>
            </a:r>
            <a:endParaRPr lang="en-US" sz="1050" dirty="0"/>
          </a:p>
        </p:txBody>
      </p:sp>
      <p:sp>
        <p:nvSpPr>
          <p:cNvPr id="8" name="Shape 6"/>
          <p:cNvSpPr/>
          <p:nvPr/>
        </p:nvSpPr>
        <p:spPr>
          <a:xfrm>
            <a:off x="502920" y="1417320"/>
            <a:ext cx="4480560" cy="1417320"/>
          </a:xfrm>
          <a:prstGeom prst="roundRect">
            <a:avLst>
              <a:gd name="adj" fmla="val 3871"/>
            </a:avLst>
          </a:prstGeom>
          <a:solidFill>
            <a:srgbClr val="0D0D0D"/>
          </a:solidFill>
          <a:ln w="12700">
            <a:solidFill>
              <a:srgbClr val="555555"/>
            </a:solidFill>
            <a:prstDash val="solid"/>
          </a:ln>
        </p:spPr>
      </p:sp>
      <p:sp>
        <p:nvSpPr>
          <p:cNvPr id="9" name="Text 7"/>
          <p:cNvSpPr/>
          <p:nvPr/>
        </p:nvSpPr>
        <p:spPr>
          <a:xfrm>
            <a:off x="612648" y="1508760"/>
            <a:ext cx="4261104" cy="123444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GridView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extent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maxCrossAxisExtent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300.0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_peopleList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map</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Widget</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PersonCard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toList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246120"/>
            <a:ext cx="5852160" cy="2651760"/>
          </a:xfrm>
          <a:prstGeom prst="rect">
            <a:avLst/>
          </a:prstGeom>
          <a:noFill/>
          <a:ln/>
        </p:spPr>
        <p:txBody>
          <a:bodyPr wrap="square" lIns="635" tIns="635" rIns="635" bIns="635" rtlCol="0" anchor="t">
            <a:normAutofit/>
          </a:bodyPr>
          <a:lstStyle/>
          <a:p>
            <a:pPr marL="177800" indent="-177800">
              <a:buSzPct val="100000"/>
              <a:buChar char="•"/>
            </a:pPr>
            <a:r>
              <a:rPr lang="en-US" sz="1560" dirty="0">
                <a:solidFill>
                  <a:srgbClr val="F6F1E8"/>
                </a:solidFill>
              </a:rPr>
              <a:t>The term extent refers to the maximum cross-axis size of a child. GridView decides how many items can fit per row and then shrinks them equally until the row fits the available width.</a:t>
            </a:r>
            <a:endParaRPr lang="en-US" sz="1560" dirty="0"/>
          </a:p>
          <a:p>
            <a:pPr marL="177800" indent="-177800">
              <a:buSzPct val="100000"/>
              <a:buChar char="•"/>
            </a:pPr>
            <a:r>
              <a:rPr lang="en-US" sz="1560" dirty="0">
                <a:solidFill>
                  <a:srgbClr val="F6F1E8"/>
                </a:solidFill>
              </a:rPr>
              <a:t>As a result, orientation changes naturally alter the number of tiles per row. This is a responsive design mechanism, not merely a convenience constructor.</a:t>
            </a:r>
            <a:endParaRPr lang="en-US" sz="1560" dirty="0"/>
          </a:p>
        </p:txBody>
      </p:sp>
      <p:sp>
        <p:nvSpPr>
          <p:cNvPr id="11" name="Shape 9"/>
          <p:cNvSpPr/>
          <p:nvPr/>
        </p:nvSpPr>
        <p:spPr>
          <a:xfrm>
            <a:off x="6812280" y="1280160"/>
            <a:ext cx="2240280" cy="4846320"/>
          </a:xfrm>
          <a:prstGeom prst="roundRect">
            <a:avLst>
              <a:gd name="adj" fmla="val 3265"/>
            </a:avLst>
          </a:prstGeom>
          <a:solidFill>
            <a:srgbClr val="F7F7F7"/>
          </a:solidFill>
          <a:ln w="12700">
            <a:solidFill>
              <a:srgbClr val="F2C300"/>
            </a:solidFill>
            <a:prstDash val="solid"/>
          </a:ln>
        </p:spPr>
      </p:sp>
      <p:pic>
        <p:nvPicPr>
          <p:cNvPr id="12" name="Image 0" descr="/mnt/data/crops/grid_extent_portrait.png"/>
          <p:cNvPicPr>
            <a:picLocks noChangeAspect="1"/>
          </p:cNvPicPr>
          <p:nvPr/>
        </p:nvPicPr>
        <p:blipFill>
          <a:blip r:embed="rId3"/>
          <a:stretch>
            <a:fillRect/>
          </a:stretch>
        </p:blipFill>
        <p:spPr>
          <a:xfrm>
            <a:off x="6848856" y="1815821"/>
            <a:ext cx="2167128" cy="3774997"/>
          </a:xfrm>
          <a:prstGeom prst="rect">
            <a:avLst/>
          </a:prstGeom>
        </p:spPr>
      </p:pic>
      <p:sp>
        <p:nvSpPr>
          <p:cNvPr id="13" name="Shape 10"/>
          <p:cNvSpPr/>
          <p:nvPr/>
        </p:nvSpPr>
        <p:spPr>
          <a:xfrm>
            <a:off x="9189720" y="1280160"/>
            <a:ext cx="2240280" cy="4846320"/>
          </a:xfrm>
          <a:prstGeom prst="roundRect">
            <a:avLst>
              <a:gd name="adj" fmla="val 3265"/>
            </a:avLst>
          </a:prstGeom>
          <a:solidFill>
            <a:srgbClr val="F7F7F7"/>
          </a:solidFill>
          <a:ln w="12700">
            <a:solidFill>
              <a:srgbClr val="F2C300"/>
            </a:solidFill>
            <a:prstDash val="solid"/>
          </a:ln>
        </p:spPr>
      </p:sp>
      <p:pic>
        <p:nvPicPr>
          <p:cNvPr id="14" name="Image 1" descr="/mnt/data/crops/grid_extent_landscape.png"/>
          <p:cNvPicPr>
            <a:picLocks noChangeAspect="1"/>
          </p:cNvPicPr>
          <p:nvPr/>
        </p:nvPicPr>
        <p:blipFill>
          <a:blip r:embed="rId4"/>
          <a:stretch>
            <a:fillRect/>
          </a:stretch>
        </p:blipFill>
        <p:spPr>
          <a:xfrm>
            <a:off x="9226296" y="2077974"/>
            <a:ext cx="2167128" cy="3250692"/>
          </a:xfrm>
          <a:prstGeom prst="rect">
            <a:avLst/>
          </a:prstGeom>
        </p:spPr>
      </p:pic>
      <p:sp>
        <p:nvSpPr>
          <p:cNvPr id="16" name="Text 11"/>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21</a:t>
            </a:r>
            <a:endParaRPr lang="en-US" sz="900" dirty="0"/>
          </a:p>
        </p:txBody>
      </p:sp>
      <p:sp>
        <p:nvSpPr>
          <p:cNvPr id="17" name="Text 12"/>
          <p:cNvSpPr/>
          <p:nvPr/>
        </p:nvSpPr>
        <p:spPr>
          <a:xfrm>
            <a:off x="411480" y="6547104"/>
            <a:ext cx="2286000" cy="210306"/>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GRIDVIEW.COUNT</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GridView.count - specify the number of columns</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Tile size becomes dependent on a fixed crossAxisCount</a:t>
            </a:r>
            <a:endParaRPr lang="en-US" sz="1050" dirty="0"/>
          </a:p>
        </p:txBody>
      </p:sp>
      <p:sp>
        <p:nvSpPr>
          <p:cNvPr id="8" name="Shape 6"/>
          <p:cNvSpPr/>
          <p:nvPr/>
        </p:nvSpPr>
        <p:spPr>
          <a:xfrm>
            <a:off x="502920" y="1417320"/>
            <a:ext cx="4389120" cy="1325880"/>
          </a:xfrm>
          <a:prstGeom prst="roundRect">
            <a:avLst>
              <a:gd name="adj" fmla="val 4138"/>
            </a:avLst>
          </a:prstGeom>
          <a:solidFill>
            <a:srgbClr val="0D0D0D"/>
          </a:solidFill>
          <a:ln w="12700">
            <a:solidFill>
              <a:srgbClr val="555555"/>
            </a:solidFill>
            <a:prstDash val="solid"/>
          </a:ln>
        </p:spPr>
      </p:sp>
      <p:sp>
        <p:nvSpPr>
          <p:cNvPr id="9" name="Text 7"/>
          <p:cNvSpPr/>
          <p:nvPr/>
        </p:nvSpPr>
        <p:spPr>
          <a:xfrm>
            <a:off x="612648" y="1508760"/>
            <a:ext cx="4169664" cy="114300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GridView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crossAxisCount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4</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_peopleList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map</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Widget</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PersonCard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toList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063240"/>
            <a:ext cx="5943600" cy="2926080"/>
          </a:xfrm>
          <a:prstGeom prst="rect">
            <a:avLst/>
          </a:prstGeom>
          <a:noFill/>
          <a:ln/>
        </p:spPr>
        <p:txBody>
          <a:bodyPr wrap="square" lIns="635" tIns="635" rIns="635" bIns="635" rtlCol="0" anchor="t">
            <a:normAutofit/>
          </a:bodyPr>
          <a:lstStyle/>
          <a:p>
            <a:pPr marL="177800" indent="-177800">
              <a:buSzPct val="100000"/>
              <a:buChar char="•"/>
            </a:pPr>
            <a:r>
              <a:rPr lang="en-US" sz="1570" dirty="0">
                <a:solidFill>
                  <a:srgbClr val="F6F1E8"/>
                </a:solidFill>
              </a:rPr>
              <a:t>Unlike extent(), count() fixes the number of columns regardless of orientation. Flutter then resizes the children so exactly that many fit across the row.</a:t>
            </a:r>
            <a:endParaRPr lang="en-US" sz="1570" dirty="0"/>
          </a:p>
          <a:p>
            <a:pPr marL="177800" indent="-177800">
              <a:buSzPct val="100000"/>
              <a:buChar char="•"/>
            </a:pPr>
            <a:r>
              <a:rPr lang="en-US" sz="1570" dirty="0">
                <a:solidFill>
                  <a:srgbClr val="F6F1E8"/>
                </a:solidFill>
              </a:rPr>
              <a:t>This is useful when the application needs a stable visual rhythm - for example, a known dashboard grid or a controlled gallery layout.</a:t>
            </a:r>
            <a:endParaRPr lang="en-US" sz="1570" dirty="0"/>
          </a:p>
          <a:p>
            <a:pPr marL="177800" indent="-177800">
              <a:buSzPct val="100000"/>
              <a:buChar char="•"/>
            </a:pPr>
            <a:r>
              <a:rPr lang="en-US" sz="1570" dirty="0">
                <a:solidFill>
                  <a:srgbClr val="F6F1E8"/>
                </a:solidFill>
              </a:rPr>
              <a:t>Choose count() when column cardinality is the requirement; choose extent() when maximum tile width is the requirement.</a:t>
            </a:r>
            <a:endParaRPr lang="en-US" sz="1570" dirty="0"/>
          </a:p>
        </p:txBody>
      </p:sp>
      <p:sp>
        <p:nvSpPr>
          <p:cNvPr id="11" name="Shape 9"/>
          <p:cNvSpPr/>
          <p:nvPr/>
        </p:nvSpPr>
        <p:spPr>
          <a:xfrm>
            <a:off x="6903720" y="1298448"/>
            <a:ext cx="2148840" cy="4800600"/>
          </a:xfrm>
          <a:prstGeom prst="roundRect">
            <a:avLst>
              <a:gd name="adj" fmla="val 3404"/>
            </a:avLst>
          </a:prstGeom>
          <a:solidFill>
            <a:srgbClr val="F7F7F7"/>
          </a:solidFill>
          <a:ln w="12700">
            <a:solidFill>
              <a:srgbClr val="F2C300"/>
            </a:solidFill>
            <a:prstDash val="solid"/>
          </a:ln>
        </p:spPr>
      </p:sp>
      <p:pic>
        <p:nvPicPr>
          <p:cNvPr id="12" name="Image 0" descr="/mnt/data/crops/grid_count_landscape.png"/>
          <p:cNvPicPr>
            <a:picLocks noChangeAspect="1"/>
          </p:cNvPicPr>
          <p:nvPr/>
        </p:nvPicPr>
        <p:blipFill>
          <a:blip r:embed="rId3"/>
          <a:stretch>
            <a:fillRect/>
          </a:stretch>
        </p:blipFill>
        <p:spPr>
          <a:xfrm>
            <a:off x="6940296" y="1890891"/>
            <a:ext cx="2075688" cy="3615715"/>
          </a:xfrm>
          <a:prstGeom prst="rect">
            <a:avLst/>
          </a:prstGeom>
        </p:spPr>
      </p:pic>
      <p:sp>
        <p:nvSpPr>
          <p:cNvPr id="13" name="Shape 10"/>
          <p:cNvSpPr/>
          <p:nvPr/>
        </p:nvSpPr>
        <p:spPr>
          <a:xfrm>
            <a:off x="9235440" y="1298448"/>
            <a:ext cx="2148840" cy="4800600"/>
          </a:xfrm>
          <a:prstGeom prst="roundRect">
            <a:avLst>
              <a:gd name="adj" fmla="val 3404"/>
            </a:avLst>
          </a:prstGeom>
          <a:solidFill>
            <a:srgbClr val="F7F7F7"/>
          </a:solidFill>
          <a:ln w="12700">
            <a:solidFill>
              <a:srgbClr val="F2C300"/>
            </a:solidFill>
            <a:prstDash val="solid"/>
          </a:ln>
        </p:spPr>
      </p:sp>
      <p:pic>
        <p:nvPicPr>
          <p:cNvPr id="14" name="Image 1" descr="/mnt/data/crops/grid_count_portrait.png"/>
          <p:cNvPicPr>
            <a:picLocks noChangeAspect="1"/>
          </p:cNvPicPr>
          <p:nvPr/>
        </p:nvPicPr>
        <p:blipFill>
          <a:blip r:embed="rId4"/>
          <a:stretch>
            <a:fillRect/>
          </a:stretch>
        </p:blipFill>
        <p:spPr>
          <a:xfrm>
            <a:off x="9272016" y="2097503"/>
            <a:ext cx="2075688" cy="3202490"/>
          </a:xfrm>
          <a:prstGeom prst="rect">
            <a:avLst/>
          </a:prstGeom>
        </p:spPr>
      </p:pic>
      <p:sp>
        <p:nvSpPr>
          <p:cNvPr id="16" name="Text 11"/>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22</a:t>
            </a:r>
            <a:endParaRPr lang="en-US" sz="900" dirty="0"/>
          </a:p>
        </p:txBody>
      </p:sp>
      <p:sp>
        <p:nvSpPr>
          <p:cNvPr id="17" name="Text 12"/>
          <p:cNvSpPr/>
          <p:nvPr/>
        </p:nvSpPr>
        <p:spPr>
          <a:xfrm>
            <a:off x="411480" y="6547104"/>
            <a:ext cx="2286000" cy="196594"/>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DECISION MATRIX</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How to choose among wrap, squeeze, and scroll</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A design policy matrix for engineering decisions</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0881360" cy="2791968"/>
        </p:xfrm>
        <a:graphic>
          <a:graphicData uri="http://schemas.openxmlformats.org/drawingml/2006/table">
            <a:tbl>
              <a:tblPr/>
              <a:tblGrid>
                <a:gridCol w="3566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Question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If YES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If NO</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Can items naturally break into multiple runs?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Prefer Wrap</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Check compression or scrolling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Can each child shrink without losing meaning/usability?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Consider Flexible or FittedBox</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Do not compress; prefer wrap or scrolling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Is the collection potentially large or unbounded?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Prefer ListView/GridView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Static composition may be fine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Must the user compare multiple items at once?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Favor Wrap or GridView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Sequential scroll may be acceptable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Is fixed alignment more important than showing all items at once?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Favor scrolling containers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Wrap may be superior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bl>
          </a:graphicData>
        </a:graphic>
      </p:graphicFrame>
      <p:sp>
        <p:nvSpPr>
          <p:cNvPr id="9" name="Shape 6"/>
          <p:cNvSpPr/>
          <p:nvPr/>
        </p:nvSpPr>
        <p:spPr>
          <a:xfrm>
            <a:off x="731520" y="5577840"/>
            <a:ext cx="6949440" cy="548640"/>
          </a:xfrm>
          <a:prstGeom prst="roundRect">
            <a:avLst>
              <a:gd name="adj" fmla="val 10000"/>
            </a:avLst>
          </a:prstGeom>
          <a:solidFill>
            <a:srgbClr val="202020"/>
          </a:solidFill>
          <a:ln w="12700">
            <a:solidFill>
              <a:srgbClr val="F2C300"/>
            </a:solidFill>
            <a:prstDash val="solid"/>
          </a:ln>
        </p:spPr>
      </p:sp>
      <p:sp>
        <p:nvSpPr>
          <p:cNvPr id="10" name="Text 7"/>
          <p:cNvSpPr/>
          <p:nvPr/>
        </p:nvSpPr>
        <p:spPr>
          <a:xfrm>
            <a:off x="841248" y="5650992"/>
            <a:ext cx="6729984" cy="402336"/>
          </a:xfrm>
          <a:prstGeom prst="rect">
            <a:avLst/>
          </a:prstGeom>
          <a:noFill/>
          <a:ln/>
        </p:spPr>
        <p:txBody>
          <a:bodyPr wrap="square" lIns="0" tIns="0" rIns="0" bIns="0" rtlCol="0" anchor="ctr">
            <a:normAutofit/>
          </a:bodyPr>
          <a:lstStyle/>
          <a:p>
            <a:pPr marL="0" indent="0">
              <a:buNone/>
            </a:pPr>
            <a:r>
              <a:rPr lang="en-US" sz="1400" b="1" dirty="0">
                <a:solidFill>
                  <a:srgbClr val="FFD95A"/>
                </a:solidFill>
              </a:rPr>
              <a:t>Best exam answer: justify the widget by content behavior, not by memorized names.</a:t>
            </a:r>
            <a:endParaRPr lang="en-US" sz="1400" dirty="0"/>
          </a:p>
        </p:txBody>
      </p:sp>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23</a:t>
            </a:r>
            <a:endParaRPr lang="en-US" sz="900" dirty="0"/>
          </a:p>
        </p:txBody>
      </p:sp>
      <p:sp>
        <p:nvSpPr>
          <p:cNvPr id="13"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CHAPTER 13 RECAP</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Chapter 13 summary - overflow control as a constraints policy</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rPr>
              <a:t>What students should retain after the first half of the lecture</a:t>
            </a:r>
            <a:endParaRPr lang="en-US" sz="1200" dirty="0"/>
          </a:p>
        </p:txBody>
      </p:sp>
      <p:sp>
        <p:nvSpPr>
          <p:cNvPr id="8" name="Text 6"/>
          <p:cNvSpPr/>
          <p:nvPr/>
        </p:nvSpPr>
        <p:spPr>
          <a:xfrm>
            <a:off x="502920" y="1559378"/>
            <a:ext cx="7452360" cy="4338501"/>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Overflow warnings are development-time evidence that the widget tree’s geometry policy is incomplete.</a:t>
            </a:r>
            <a:endParaRPr lang="en-US" sz="2000" dirty="0"/>
          </a:p>
          <a:p>
            <a:pPr marL="177800" indent="-177800">
              <a:buSzPct val="100000"/>
              <a:buChar char="•"/>
            </a:pPr>
            <a:r>
              <a:rPr lang="en-US" sz="2000" dirty="0">
                <a:solidFill>
                  <a:srgbClr val="F6F1E8"/>
                </a:solidFill>
              </a:rPr>
              <a:t>The three canonical remedies are reflow (Wrap), compression (Flexible/FittedBox), and sequential access (scrolling containers).</a:t>
            </a:r>
            <a:endParaRPr lang="en-US" sz="2000" dirty="0"/>
          </a:p>
          <a:p>
            <a:pPr marL="177800" indent="-177800">
              <a:buSzPct val="100000"/>
              <a:buChar char="•"/>
            </a:pPr>
            <a:r>
              <a:rPr lang="en-US" sz="2000" dirty="0">
                <a:solidFill>
                  <a:srgbClr val="F6F1E8"/>
                </a:solidFill>
              </a:rPr>
              <a:t>SingleChildScrollView is a simple one-child wrapper; ListView and GridView are collection-centric and far better for large or dynamic datasets.</a:t>
            </a:r>
            <a:endParaRPr lang="en-US" sz="2000" dirty="0"/>
          </a:p>
          <a:p>
            <a:pPr marL="177800" indent="-177800">
              <a:buSzPct val="100000"/>
              <a:buChar char="•"/>
            </a:pPr>
            <a:r>
              <a:rPr lang="en-US" sz="2000" dirty="0">
                <a:solidFill>
                  <a:srgbClr val="F6F1E8"/>
                </a:solidFill>
              </a:rPr>
              <a:t>ListView.builder is the default engineering pattern for data-backed lists because it separates item generation from layout and enables lazy construction.</a:t>
            </a:r>
            <a:endParaRPr lang="en-US" sz="2000" dirty="0"/>
          </a:p>
          <a:p>
            <a:pPr marL="177800" indent="-177800">
              <a:buSzPct val="100000"/>
              <a:buChar char="•"/>
            </a:pPr>
            <a:r>
              <a:rPr lang="en-US" sz="2000" dirty="0">
                <a:solidFill>
                  <a:srgbClr val="F6F1E8"/>
                </a:solidFill>
              </a:rPr>
              <a:t>GridView.extent and GridView.count solve different design intents: adaptive maximum tile width versus fixed column count.</a:t>
            </a:r>
            <a:endParaRPr lang="en-US" sz="2000" dirty="0"/>
          </a:p>
        </p:txBody>
      </p:sp>
      <p:sp>
        <p:nvSpPr>
          <p:cNvPr id="9" name="Shape 7"/>
          <p:cNvSpPr/>
          <p:nvPr/>
        </p:nvSpPr>
        <p:spPr>
          <a:xfrm>
            <a:off x="8229599" y="922594"/>
            <a:ext cx="3159579" cy="4591238"/>
          </a:xfrm>
          <a:prstGeom prst="roundRect">
            <a:avLst>
              <a:gd name="adj" fmla="val 2424"/>
            </a:avLst>
          </a:prstGeom>
          <a:solidFill>
            <a:srgbClr val="F7F7F7"/>
          </a:solidFill>
          <a:ln w="12700">
            <a:solidFill>
              <a:srgbClr val="F2C300"/>
            </a:solidFill>
            <a:prstDash val="solid"/>
          </a:ln>
        </p:spPr>
      </p:sp>
      <p:pic>
        <p:nvPicPr>
          <p:cNvPr id="10" name="Image 0" descr="/mnt/data/render/page-238.png"/>
          <p:cNvPicPr>
            <a:picLocks noChangeAspect="1"/>
          </p:cNvPicPr>
          <p:nvPr/>
        </p:nvPicPr>
        <p:blipFill>
          <a:blip r:embed="rId3"/>
          <a:stretch>
            <a:fillRect/>
          </a:stretch>
        </p:blipFill>
        <p:spPr>
          <a:xfrm>
            <a:off x="8339328" y="1024128"/>
            <a:ext cx="2962946" cy="4389120"/>
          </a:xfrm>
          <a:prstGeom prst="rect">
            <a:avLst/>
          </a:prstGeom>
        </p:spPr>
      </p:pic>
      <p:sp>
        <p:nvSpPr>
          <p:cNvPr id="11" name="Shape 8"/>
          <p:cNvSpPr/>
          <p:nvPr/>
        </p:nvSpPr>
        <p:spPr>
          <a:xfrm>
            <a:off x="8229600" y="5687568"/>
            <a:ext cx="3535136" cy="685800"/>
          </a:xfrm>
          <a:prstGeom prst="roundRect">
            <a:avLst>
              <a:gd name="adj" fmla="val 14286"/>
            </a:avLst>
          </a:prstGeom>
          <a:solidFill>
            <a:srgbClr val="202020"/>
          </a:solidFill>
          <a:ln w="12700">
            <a:solidFill>
              <a:srgbClr val="F2C300"/>
            </a:solidFill>
            <a:prstDash val="solid"/>
          </a:ln>
        </p:spPr>
      </p:sp>
      <p:sp>
        <p:nvSpPr>
          <p:cNvPr id="12" name="Text 9"/>
          <p:cNvSpPr/>
          <p:nvPr/>
        </p:nvSpPr>
        <p:spPr>
          <a:xfrm>
            <a:off x="8339327" y="5833872"/>
            <a:ext cx="3349753" cy="466344"/>
          </a:xfrm>
          <a:prstGeom prst="rect">
            <a:avLst/>
          </a:prstGeom>
          <a:noFill/>
          <a:ln/>
        </p:spPr>
        <p:txBody>
          <a:bodyPr wrap="square" lIns="0" tIns="0" rIns="0" bIns="0" rtlCol="0" anchor="ctr">
            <a:normAutofit fontScale="85000" lnSpcReduction="10000"/>
          </a:bodyPr>
          <a:lstStyle/>
          <a:p>
            <a:pPr marL="0" indent="0">
              <a:buNone/>
            </a:pPr>
            <a:r>
              <a:rPr lang="en-US" sz="1400" b="1" dirty="0">
                <a:solidFill>
                  <a:srgbClr val="FFD95A"/>
                </a:solidFill>
              </a:rPr>
              <a:t>Transition question: once the layout fits, how should the leftover room be distributed?</a:t>
            </a:r>
            <a:endParaRPr lang="en-US" sz="1400" dirty="0"/>
          </a:p>
        </p:txBody>
      </p:sp>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24</a:t>
            </a:r>
            <a:endParaRPr lang="en-US" sz="900" dirty="0"/>
          </a:p>
        </p:txBody>
      </p:sp>
      <p:sp>
        <p:nvSpPr>
          <p:cNvPr id="15" name="Text 11"/>
          <p:cNvSpPr/>
          <p:nvPr/>
        </p:nvSpPr>
        <p:spPr>
          <a:xfrm>
            <a:off x="411480" y="6547104"/>
            <a:ext cx="2286000" cy="204760"/>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CHAPTER 14</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Chapter 14 - the opposite problem: too much room</a:t>
            </a:r>
            <a:endParaRPr lang="en-US" sz="2400" dirty="0">
              <a:latin typeface="Rockwell" panose="02060603020205020403" pitchFamily="18" charset="0"/>
            </a:endParaRPr>
          </a:p>
        </p:txBody>
      </p:sp>
      <p:sp>
        <p:nvSpPr>
          <p:cNvPr id="7" name="Text 5"/>
          <p:cNvSpPr/>
          <p:nvPr/>
        </p:nvSpPr>
        <p:spPr>
          <a:xfrm>
            <a:off x="429768" y="1024127"/>
            <a:ext cx="6640503" cy="310891"/>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A well-fitting scene can still look poor if free space is not allocated intentionally</a:t>
            </a:r>
            <a:endParaRPr lang="en-US" sz="1200" dirty="0">
              <a:latin typeface="Rockwell" panose="02060603020205020403" pitchFamily="18" charset="0"/>
            </a:endParaRPr>
          </a:p>
        </p:txBody>
      </p:sp>
      <p:sp>
        <p:nvSpPr>
          <p:cNvPr id="8" name="Text 6"/>
          <p:cNvSpPr/>
          <p:nvPr/>
        </p:nvSpPr>
        <p:spPr>
          <a:xfrm>
            <a:off x="502920" y="1551214"/>
            <a:ext cx="6330587" cy="4163785"/>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Chapter 14 continues the same layout workflow. After the scene fits, the next task is handling the unused room that remains inside Rows and Columns.</a:t>
            </a:r>
            <a:endParaRPr lang="en-US" sz="2000" dirty="0"/>
          </a:p>
          <a:p>
            <a:pPr marL="177800" indent="-177800">
              <a:buSzPct val="100000"/>
              <a:buChar char="•"/>
            </a:pPr>
            <a:r>
              <a:rPr lang="en-US" sz="2000" dirty="0">
                <a:solidFill>
                  <a:srgbClr val="F6F1E8"/>
                </a:solidFill>
              </a:rPr>
              <a:t>The problem is usually not correctness but aesthetics, readability, and visual hierarchy. Free space affects grouping, rhythm, scan path, and balance.</a:t>
            </a:r>
            <a:endParaRPr lang="en-US" sz="2000" dirty="0"/>
          </a:p>
          <a:p>
            <a:pPr marL="177800" indent="-177800">
              <a:buSzPct val="100000"/>
              <a:buChar char="•"/>
            </a:pPr>
            <a:r>
              <a:rPr lang="en-US" sz="2000" dirty="0">
                <a:solidFill>
                  <a:srgbClr val="F6F1E8"/>
                </a:solidFill>
              </a:rPr>
              <a:t>The chapter first addresses alignment-based distribution with mainAxisAlignment and crossAxisAlignment, then more structural controls such as IntrinsicWidth and Expanded.</a:t>
            </a:r>
            <a:endParaRPr lang="en-US" sz="2000" dirty="0"/>
          </a:p>
        </p:txBody>
      </p:sp>
      <p:sp>
        <p:nvSpPr>
          <p:cNvPr id="9" name="Shape 7"/>
          <p:cNvSpPr/>
          <p:nvPr/>
        </p:nvSpPr>
        <p:spPr>
          <a:xfrm>
            <a:off x="7223760" y="1234440"/>
            <a:ext cx="4480560" cy="5349240"/>
          </a:xfrm>
          <a:prstGeom prst="roundRect">
            <a:avLst>
              <a:gd name="adj" fmla="val 1633"/>
            </a:avLst>
          </a:prstGeom>
          <a:solidFill>
            <a:srgbClr val="F7F7F7"/>
          </a:solidFill>
          <a:ln w="12700">
            <a:solidFill>
              <a:srgbClr val="F2C300"/>
            </a:solidFill>
            <a:prstDash val="solid"/>
          </a:ln>
        </p:spPr>
      </p:sp>
      <p:pic>
        <p:nvPicPr>
          <p:cNvPr id="10" name="Image 0" descr="/mnt/data/render/page-239.png"/>
          <p:cNvPicPr>
            <a:picLocks noChangeAspect="1"/>
          </p:cNvPicPr>
          <p:nvPr/>
        </p:nvPicPr>
        <p:blipFill>
          <a:blip r:embed="rId3"/>
          <a:stretch>
            <a:fillRect/>
          </a:stretch>
        </p:blipFill>
        <p:spPr>
          <a:xfrm>
            <a:off x="7723083" y="1271016"/>
            <a:ext cx="3481914" cy="527608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25</a:t>
            </a:r>
            <a:endParaRPr lang="en-US" sz="900" dirty="0"/>
          </a:p>
        </p:txBody>
      </p:sp>
      <p:sp>
        <p:nvSpPr>
          <p:cNvPr id="13" name="Text 9"/>
          <p:cNvSpPr/>
          <p:nvPr/>
        </p:nvSpPr>
        <p:spPr>
          <a:xfrm>
            <a:off x="411480" y="6519672"/>
            <a:ext cx="2286000" cy="264846"/>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SPACE DISTRIBUTION</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What exactly is “extra space”?</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Unused budget along the main axis or cross axis of a flex container</a:t>
            </a:r>
            <a:endParaRPr lang="en-US" sz="1200" dirty="0">
              <a:latin typeface="Rockwell" panose="02060603020205020403" pitchFamily="18" charset="0"/>
            </a:endParaRPr>
          </a:p>
        </p:txBody>
      </p:sp>
      <p:sp>
        <p:nvSpPr>
          <p:cNvPr id="8" name="Text 6"/>
          <p:cNvSpPr/>
          <p:nvPr/>
        </p:nvSpPr>
        <p:spPr>
          <a:xfrm>
            <a:off x="502920" y="1463040"/>
            <a:ext cx="6675120" cy="4343400"/>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In a Row or Column, children consume some amount of the available constraint budget. If the parent still has unallocated room after laying them out, that room must be distributed somehow.</a:t>
            </a:r>
            <a:endParaRPr lang="en-US" sz="2000" dirty="0"/>
          </a:p>
          <a:p>
            <a:pPr marL="177800" indent="-177800">
              <a:buSzPct val="100000"/>
              <a:buChar char="•"/>
            </a:pPr>
            <a:r>
              <a:rPr lang="en-US" sz="2000" dirty="0">
                <a:solidFill>
                  <a:srgbClr val="F6F1E8"/>
                </a:solidFill>
              </a:rPr>
              <a:t>The first question is axis-specific. Is the free room along the main axis - horizontal in a Row, vertical in a Column - or along the cross axis because children differ in size?</a:t>
            </a:r>
            <a:endParaRPr lang="en-US" sz="2000" dirty="0"/>
          </a:p>
          <a:p>
            <a:pPr marL="177800" indent="-177800">
              <a:buSzPct val="100000"/>
              <a:buChar char="•"/>
            </a:pPr>
            <a:r>
              <a:rPr lang="en-US" sz="2000" dirty="0">
                <a:solidFill>
                  <a:srgbClr val="F6F1E8"/>
                </a:solidFill>
              </a:rPr>
              <a:t>The chapter starts with the simplest answer: use alignment properties on the flex parent before reaching for heavier structural widgets.</a:t>
            </a:r>
            <a:endParaRPr lang="en-US" sz="2000" dirty="0"/>
          </a:p>
        </p:txBody>
      </p:sp>
      <p:sp>
        <p:nvSpPr>
          <p:cNvPr id="9" name="Shape 7"/>
          <p:cNvSpPr/>
          <p:nvPr/>
        </p:nvSpPr>
        <p:spPr>
          <a:xfrm>
            <a:off x="7452360" y="1371600"/>
            <a:ext cx="4069080" cy="4937760"/>
          </a:xfrm>
          <a:prstGeom prst="roundRect">
            <a:avLst>
              <a:gd name="adj" fmla="val 1798"/>
            </a:avLst>
          </a:prstGeom>
          <a:solidFill>
            <a:srgbClr val="F7F7F7"/>
          </a:solidFill>
          <a:ln w="12700">
            <a:solidFill>
              <a:srgbClr val="F2C300"/>
            </a:solidFill>
            <a:prstDash val="solid"/>
          </a:ln>
        </p:spPr>
      </p:sp>
      <p:pic>
        <p:nvPicPr>
          <p:cNvPr id="10" name="Image 0" descr="/mnt/data/render/page-240.png"/>
          <p:cNvPicPr>
            <a:picLocks noChangeAspect="1"/>
          </p:cNvPicPr>
          <p:nvPr/>
        </p:nvPicPr>
        <p:blipFill>
          <a:blip r:embed="rId3"/>
          <a:stretch>
            <a:fillRect/>
          </a:stretch>
        </p:blipFill>
        <p:spPr>
          <a:xfrm>
            <a:off x="7881720" y="1408176"/>
            <a:ext cx="3210361" cy="486460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26</a:t>
            </a:r>
            <a:endParaRPr lang="en-US" sz="900" dirty="0"/>
          </a:p>
        </p:txBody>
      </p:sp>
      <p:sp>
        <p:nvSpPr>
          <p:cNvPr id="13" name="Text 9"/>
          <p:cNvSpPr/>
          <p:nvPr/>
        </p:nvSpPr>
        <p:spPr>
          <a:xfrm>
            <a:off x="411480" y="6547103"/>
            <a:ext cx="2286000" cy="219451"/>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1" y="566928"/>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Aptos" pitchFamily="34" charset="0"/>
                <a:ea typeface="Aptos" pitchFamily="34" charset="-122"/>
                <a:cs typeface="Aptos" pitchFamily="34" charset="-120"/>
              </a:rPr>
              <a:t>MAINAXISALIGNMENT</a:t>
            </a:r>
            <a:endParaRPr lang="en-US" sz="1200" dirty="0"/>
          </a:p>
        </p:txBody>
      </p:sp>
      <p:sp>
        <p:nvSpPr>
          <p:cNvPr id="6" name="Text 4"/>
          <p:cNvSpPr/>
          <p:nvPr/>
        </p:nvSpPr>
        <p:spPr>
          <a:xfrm>
            <a:off x="411479" y="566928"/>
            <a:ext cx="9173391"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mainAxisAlignment controls free space on the main axis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Vertical in a Column, horizontal in a Row</a:t>
            </a:r>
            <a:endParaRPr lang="en-US" sz="1200" dirty="0">
              <a:latin typeface="Rockwell" panose="02060603020205020403" pitchFamily="18" charset="0"/>
            </a:endParaRPr>
          </a:p>
        </p:txBody>
      </p:sp>
      <p:sp>
        <p:nvSpPr>
          <p:cNvPr id="8" name="Shape 6"/>
          <p:cNvSpPr/>
          <p:nvPr/>
        </p:nvSpPr>
        <p:spPr>
          <a:xfrm>
            <a:off x="502919" y="1463040"/>
            <a:ext cx="4602481" cy="1892808"/>
          </a:xfrm>
          <a:prstGeom prst="roundRect">
            <a:avLst>
              <a:gd name="adj" fmla="val 3529"/>
            </a:avLst>
          </a:prstGeom>
          <a:solidFill>
            <a:srgbClr val="0D0D0D"/>
          </a:solidFill>
          <a:ln w="12700">
            <a:solidFill>
              <a:srgbClr val="555555"/>
            </a:solidFill>
            <a:prstDash val="solid"/>
          </a:ln>
        </p:spPr>
      </p:sp>
      <p:sp>
        <p:nvSpPr>
          <p:cNvPr id="9" name="Text 7"/>
          <p:cNvSpPr/>
          <p:nvPr/>
        </p:nvSpPr>
        <p:spPr>
          <a:xfrm>
            <a:off x="938892" y="1554479"/>
            <a:ext cx="4082143" cy="1743891"/>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spaceEvenly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427025" y="3648456"/>
            <a:ext cx="6341167" cy="2532884"/>
          </a:xfrm>
          <a:prstGeom prst="rect">
            <a:avLst/>
          </a:prstGeom>
          <a:noFill/>
          <a:ln/>
        </p:spPr>
        <p:txBody>
          <a:bodyPr wrap="square" lIns="635" tIns="635" rIns="635" bIns="635" rtlCol="0" anchor="t">
            <a:noAutofit/>
          </a:bodyPr>
          <a:lstStyle/>
          <a:p>
            <a:pPr marL="177800" indent="-177800">
              <a:buSzPct val="100000"/>
              <a:buChar char="•"/>
            </a:pPr>
            <a:r>
              <a:rPr lang="en-US" dirty="0">
                <a:solidFill>
                  <a:srgbClr val="F6F1E8"/>
                </a:solidFill>
              </a:rPr>
              <a:t>This property belongs to the flex parent, not to the children. It determines where the remaining slack budget is inserted after the children have received their own sizes.</a:t>
            </a:r>
            <a:endParaRPr lang="en-US" dirty="0"/>
          </a:p>
          <a:p>
            <a:pPr marL="177800" indent="-177800">
              <a:buSzPct val="100000"/>
              <a:buChar char="•"/>
            </a:pPr>
            <a:r>
              <a:rPr lang="en-US" dirty="0">
                <a:solidFill>
                  <a:srgbClr val="F6F1E8"/>
                </a:solidFill>
              </a:rPr>
              <a:t>The chapter’s examples show that the modes are not cosmetic synonyms. They encode different spacing contracts between the start edge, the end edge, and the gaps between children.</a:t>
            </a:r>
            <a:endParaRPr lang="en-US" dirty="0"/>
          </a:p>
          <a:p>
            <a:pPr marL="177800" indent="-177800">
              <a:buSzPct val="100000"/>
              <a:buChar char="•"/>
            </a:pPr>
            <a:r>
              <a:rPr lang="en-US" dirty="0">
                <a:solidFill>
                  <a:srgbClr val="F6F1E8"/>
                </a:solidFill>
              </a:rPr>
              <a:t>For interviews and exams: always say which axis you are talking about.</a:t>
            </a:r>
            <a:endParaRPr lang="en-US" dirty="0"/>
          </a:p>
        </p:txBody>
      </p:sp>
      <p:sp>
        <p:nvSpPr>
          <p:cNvPr id="11" name="Shape 9"/>
          <p:cNvSpPr/>
          <p:nvPr/>
        </p:nvSpPr>
        <p:spPr>
          <a:xfrm>
            <a:off x="7086600" y="1325880"/>
            <a:ext cx="4572000" cy="5074920"/>
          </a:xfrm>
          <a:prstGeom prst="roundRect">
            <a:avLst>
              <a:gd name="adj" fmla="val 1600"/>
            </a:avLst>
          </a:prstGeom>
          <a:solidFill>
            <a:srgbClr val="F7F7F7"/>
          </a:solidFill>
          <a:ln w="12700">
            <a:solidFill>
              <a:srgbClr val="F2C300"/>
            </a:solidFill>
            <a:prstDash val="solid"/>
          </a:ln>
        </p:spPr>
      </p:sp>
      <p:pic>
        <p:nvPicPr>
          <p:cNvPr id="12" name="Image 0" descr="/mnt/data/crops/main_axis_options.png"/>
          <p:cNvPicPr>
            <a:picLocks noChangeAspect="1"/>
          </p:cNvPicPr>
          <p:nvPr/>
        </p:nvPicPr>
        <p:blipFill>
          <a:blip r:embed="rId3"/>
          <a:stretch>
            <a:fillRect/>
          </a:stretch>
        </p:blipFill>
        <p:spPr>
          <a:xfrm>
            <a:off x="7123176" y="1891242"/>
            <a:ext cx="4498848" cy="3944196"/>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27</a:t>
            </a:r>
            <a:endParaRPr lang="en-US" sz="900" dirty="0"/>
          </a:p>
        </p:txBody>
      </p:sp>
      <p:sp>
        <p:nvSpPr>
          <p:cNvPr id="15" name="Text 11"/>
          <p:cNvSpPr/>
          <p:nvPr/>
        </p:nvSpPr>
        <p:spPr>
          <a:xfrm>
            <a:off x="411480" y="6556248"/>
            <a:ext cx="2286000" cy="228274"/>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305" y="109728"/>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79" y="310895"/>
            <a:ext cx="3042013" cy="329179"/>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MAIN AXIS ALIGNMENT MODES</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Interpreting the six mainAxisAlignment modes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Each mode redistributes the same leftover space differently</a:t>
            </a:r>
            <a:endParaRPr lang="en-US" sz="1200" dirty="0">
              <a:latin typeface="Rockwell" panose="02060603020205020403" pitchFamily="18" charset="0"/>
            </a:endParaRPr>
          </a:p>
        </p:txBody>
      </p:sp>
      <p:graphicFrame>
        <p:nvGraphicFramePr>
          <p:cNvPr id="29" name="Table 0"/>
          <p:cNvGraphicFramePr>
            <a:graphicFrameLocks noGrp="1"/>
          </p:cNvGraphicFramePr>
          <p:nvPr>
            <p:extLst>
              <p:ext uri="{D42A27DB-BD31-4B8C-83A1-F6EECF244321}">
                <p14:modId xmlns:p14="http://schemas.microsoft.com/office/powerpoint/2010/main" val="1404288696"/>
              </p:ext>
            </p:extLst>
          </p:nvPr>
        </p:nvGraphicFramePr>
        <p:xfrm>
          <a:off x="502920" y="1685429"/>
          <a:ext cx="7040880" cy="3054096"/>
        </p:xfrm>
        <a:graphic>
          <a:graphicData uri="http://schemas.openxmlformats.org/drawingml/2006/table">
            <a:tbl>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Mode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Distribution logic</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Typical use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start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No gap before first; pack at the start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Default dense stacking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end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Pack at the end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Bottom-anchored or right-anchored groups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center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Group in the middle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Balanced compact clusters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spaceBetween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All free room goes between children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Menus and equal separators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spaceEvenly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Equal space before, between, and after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Symmetric presentations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spaceAround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Internal gaps are twice the edge gaps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Soft breathing room around each child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6"/>
                  </a:ext>
                </a:extLst>
              </a:tr>
            </a:tbl>
          </a:graphicData>
        </a:graphic>
      </p:graphicFrame>
      <p:sp>
        <p:nvSpPr>
          <p:cNvPr id="9" name="Text 6"/>
          <p:cNvSpPr/>
          <p:nvPr/>
        </p:nvSpPr>
        <p:spPr>
          <a:xfrm>
            <a:off x="548640" y="5532120"/>
            <a:ext cx="7132320" cy="640080"/>
          </a:xfrm>
          <a:prstGeom prst="rect">
            <a:avLst/>
          </a:prstGeom>
          <a:noFill/>
          <a:ln/>
        </p:spPr>
        <p:txBody>
          <a:bodyPr wrap="square" lIns="635" tIns="635" rIns="635" bIns="635" rtlCol="0" anchor="t">
            <a:normAutofit/>
          </a:bodyPr>
          <a:lstStyle/>
          <a:p>
            <a:pPr marL="177800" indent="-177800">
              <a:buSzPct val="100000"/>
              <a:buChar char="•"/>
            </a:pPr>
            <a:r>
              <a:rPr lang="en-US" sz="1520" dirty="0">
                <a:solidFill>
                  <a:srgbClr val="F6F1E8"/>
                </a:solidFill>
              </a:rPr>
              <a:t>Notice the subtle but important difference between spaceAround and spaceEvenly: edge spacing is half-sized in spaceAround.</a:t>
            </a:r>
            <a:endParaRPr lang="en-US" sz="1520" dirty="0"/>
          </a:p>
        </p:txBody>
      </p:sp>
      <p:sp>
        <p:nvSpPr>
          <p:cNvPr id="10" name="Shape 7"/>
          <p:cNvSpPr/>
          <p:nvPr/>
        </p:nvSpPr>
        <p:spPr>
          <a:xfrm>
            <a:off x="8138160" y="808267"/>
            <a:ext cx="3474720" cy="5592533"/>
          </a:xfrm>
          <a:prstGeom prst="roundRect">
            <a:avLst>
              <a:gd name="adj" fmla="val 2105"/>
            </a:avLst>
          </a:prstGeom>
          <a:solidFill>
            <a:srgbClr val="F7F7F7"/>
          </a:solidFill>
          <a:ln w="12700">
            <a:solidFill>
              <a:srgbClr val="F2C300"/>
            </a:solidFill>
            <a:prstDash val="solid"/>
          </a:ln>
        </p:spPr>
      </p:sp>
      <p:pic>
        <p:nvPicPr>
          <p:cNvPr id="11" name="Image 0" descr="/mnt/data/render/page-241.png"/>
          <p:cNvPicPr>
            <a:picLocks noChangeAspect="1"/>
          </p:cNvPicPr>
          <p:nvPr/>
        </p:nvPicPr>
        <p:blipFill>
          <a:blip r:embed="rId3"/>
          <a:stretch>
            <a:fillRect/>
          </a:stretch>
        </p:blipFill>
        <p:spPr>
          <a:xfrm>
            <a:off x="8225081" y="987552"/>
            <a:ext cx="3300879" cy="5376672"/>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28</a:t>
            </a:r>
            <a:endParaRPr lang="en-US" sz="900" dirty="0"/>
          </a:p>
        </p:txBody>
      </p:sp>
      <p:sp>
        <p:nvSpPr>
          <p:cNvPr id="14" name="Text 9"/>
          <p:cNvSpPr/>
          <p:nvPr/>
        </p:nvSpPr>
        <p:spPr>
          <a:xfrm>
            <a:off x="411480" y="6510521"/>
            <a:ext cx="2286000" cy="237749"/>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CROSSAXISALIGNMENT</a:t>
            </a:r>
            <a:endParaRPr lang="en-US" sz="900" dirty="0"/>
          </a:p>
        </p:txBody>
      </p:sp>
      <p:sp>
        <p:nvSpPr>
          <p:cNvPr id="6" name="Text 4"/>
          <p:cNvSpPr/>
          <p:nvPr/>
        </p:nvSpPr>
        <p:spPr>
          <a:xfrm>
            <a:off x="411479" y="566928"/>
            <a:ext cx="8601891"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crossAxisAlignment controls free space on the cross axis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It matters when children have different widths in a Column or heights in a Row</a:t>
            </a:r>
            <a:endParaRPr lang="en-US" sz="1200" dirty="0">
              <a:latin typeface="Rockwell" panose="02060603020205020403" pitchFamily="18" charset="0"/>
            </a:endParaRPr>
          </a:p>
        </p:txBody>
      </p:sp>
      <p:sp>
        <p:nvSpPr>
          <p:cNvPr id="8" name="Text 6"/>
          <p:cNvSpPr/>
          <p:nvPr/>
        </p:nvSpPr>
        <p:spPr>
          <a:xfrm>
            <a:off x="502920" y="1559378"/>
            <a:ext cx="6309360" cy="4155621"/>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Where mainAxisAlignment redistributes leftover room between children, crossAxisAlignment decides how children sit relative to each other on the perpendicular axis.</a:t>
            </a:r>
            <a:endParaRPr lang="en-US" sz="2000" dirty="0"/>
          </a:p>
          <a:p>
            <a:pPr marL="177800" indent="-177800">
              <a:buSzPct val="100000"/>
              <a:buChar char="•"/>
            </a:pPr>
            <a:r>
              <a:rPr lang="en-US" sz="2000" dirty="0">
                <a:solidFill>
                  <a:srgbClr val="F6F1E8"/>
                </a:solidFill>
              </a:rPr>
              <a:t>If children are not all the same size, this decision changes visual balance dramatically. A wide child inside a Column or a tall child inside a Row becomes the reference point that reveals the policy.</a:t>
            </a:r>
            <a:endParaRPr lang="en-US" sz="2000" dirty="0"/>
          </a:p>
          <a:p>
            <a:pPr marL="177800" indent="-177800">
              <a:buSzPct val="100000"/>
              <a:buChar char="•"/>
            </a:pPr>
            <a:r>
              <a:rPr lang="en-US" sz="2000" dirty="0">
                <a:solidFill>
                  <a:srgbClr val="F6F1E8"/>
                </a:solidFill>
              </a:rPr>
              <a:t>The modes discussed here are start, end, center, and stretch; the chapter also briefly mentions baseline for Rows containing text of different heights.</a:t>
            </a:r>
            <a:endParaRPr lang="en-US" sz="2000" dirty="0"/>
          </a:p>
        </p:txBody>
      </p:sp>
      <p:sp>
        <p:nvSpPr>
          <p:cNvPr id="9" name="Shape 7"/>
          <p:cNvSpPr/>
          <p:nvPr/>
        </p:nvSpPr>
        <p:spPr>
          <a:xfrm>
            <a:off x="7269480" y="1325880"/>
            <a:ext cx="4389120" cy="4983480"/>
          </a:xfrm>
          <a:prstGeom prst="roundRect">
            <a:avLst>
              <a:gd name="adj" fmla="val 1667"/>
            </a:avLst>
          </a:prstGeom>
          <a:solidFill>
            <a:srgbClr val="F7F7F7"/>
          </a:solidFill>
          <a:ln w="12700">
            <a:solidFill>
              <a:srgbClr val="F2C300"/>
            </a:solidFill>
            <a:prstDash val="solid"/>
          </a:ln>
        </p:spPr>
      </p:sp>
      <p:pic>
        <p:nvPicPr>
          <p:cNvPr id="10" name="Image 0" descr="/mnt/data/crops/cross_axis_options.png"/>
          <p:cNvPicPr>
            <a:picLocks noChangeAspect="1"/>
          </p:cNvPicPr>
          <p:nvPr/>
        </p:nvPicPr>
        <p:blipFill>
          <a:blip r:embed="rId3"/>
          <a:stretch>
            <a:fillRect/>
          </a:stretch>
        </p:blipFill>
        <p:spPr>
          <a:xfrm>
            <a:off x="7306056" y="2339549"/>
            <a:ext cx="4315968" cy="2956142"/>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29</a:t>
            </a:r>
            <a:endParaRPr lang="en-US" sz="900" dirty="0"/>
          </a:p>
        </p:txBody>
      </p:sp>
      <p:sp>
        <p:nvSpPr>
          <p:cNvPr id="13" name="Text 9"/>
          <p:cNvSpPr/>
          <p:nvPr/>
        </p:nvSpPr>
        <p:spPr>
          <a:xfrm>
            <a:off x="411480" y="6547104"/>
            <a:ext cx="2286000" cy="237416"/>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CROSSAXISALIGNMENT MODES</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Choosing among start, end, center, stretch, and baseline</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The choice affects readability and alignment discipline</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7040880" cy="2913888"/>
        </p:xfrm>
        <a:graphic>
          <a:graphicData uri="http://schemas.openxmlformats.org/drawingml/2006/table">
            <a:tbl>
              <a:tblPr/>
              <a:tblGrid>
                <a:gridCol w="12801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Mode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Effect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Common implication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start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Align children to left in Column or top in Row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Ragged far edge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end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Align to right in Column or bottom in Row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Useful for right-weighted compositions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center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Center each child on the cross axis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Good for neutral compositions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stretch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Force full cross-axis size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Useful before IntrinsicWidth or for full-width controls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384048">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baseline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Align text baselines in Rows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Only meaningful for text of different heights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bl>
          </a:graphicData>
        </a:graphic>
      </p:graphicFrame>
      <p:sp>
        <p:nvSpPr>
          <p:cNvPr id="9" name="Text 6"/>
          <p:cNvSpPr/>
          <p:nvPr/>
        </p:nvSpPr>
        <p:spPr>
          <a:xfrm>
            <a:off x="548640" y="5440680"/>
            <a:ext cx="7223760" cy="640080"/>
          </a:xfrm>
          <a:prstGeom prst="rect">
            <a:avLst/>
          </a:prstGeom>
          <a:noFill/>
          <a:ln/>
        </p:spPr>
        <p:txBody>
          <a:bodyPr wrap="square" lIns="635" tIns="635" rIns="635" bIns="635" rtlCol="0" anchor="t">
            <a:normAutofit/>
          </a:bodyPr>
          <a:lstStyle/>
          <a:p>
            <a:pPr marL="177800" indent="-177800">
              <a:buSzPct val="100000"/>
              <a:buChar char="•"/>
            </a:pPr>
            <a:r>
              <a:rPr lang="en-US" sz="1520" dirty="0">
                <a:solidFill>
                  <a:srgbClr val="F6F1E8"/>
                </a:solidFill>
              </a:rPr>
              <a:t>Baseline is the specialist mode: excellent for typographic polish, irrelevant for most non-text widgets.</a:t>
            </a:r>
            <a:endParaRPr lang="en-US" sz="1520" dirty="0"/>
          </a:p>
        </p:txBody>
      </p:sp>
      <p:sp>
        <p:nvSpPr>
          <p:cNvPr id="10" name="Shape 7"/>
          <p:cNvSpPr/>
          <p:nvPr/>
        </p:nvSpPr>
        <p:spPr>
          <a:xfrm>
            <a:off x="8092440" y="1325880"/>
            <a:ext cx="3520440" cy="5029200"/>
          </a:xfrm>
          <a:prstGeom prst="roundRect">
            <a:avLst>
              <a:gd name="adj" fmla="val 2078"/>
            </a:avLst>
          </a:prstGeom>
          <a:solidFill>
            <a:srgbClr val="F7F7F7"/>
          </a:solidFill>
          <a:ln w="12700">
            <a:solidFill>
              <a:srgbClr val="F2C300"/>
            </a:solidFill>
            <a:prstDash val="solid"/>
          </a:ln>
        </p:spPr>
      </p:sp>
      <p:pic>
        <p:nvPicPr>
          <p:cNvPr id="11" name="Image 0" descr="/mnt/data/render/page-242.png"/>
          <p:cNvPicPr>
            <a:picLocks noChangeAspect="1"/>
          </p:cNvPicPr>
          <p:nvPr/>
        </p:nvPicPr>
        <p:blipFill>
          <a:blip r:embed="rId3"/>
          <a:stretch>
            <a:fillRect/>
          </a:stretch>
        </p:blipFill>
        <p:spPr>
          <a:xfrm>
            <a:off x="8217307" y="1362456"/>
            <a:ext cx="3270706" cy="4956048"/>
          </a:xfrm>
          <a:prstGeom prst="rect">
            <a:avLst/>
          </a:prstGeom>
        </p:spPr>
      </p:pic>
      <p:sp>
        <p:nvSpPr>
          <p:cNvPr id="13"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30</a:t>
            </a:r>
            <a:endParaRPr lang="en-US" sz="900" dirty="0"/>
          </a:p>
        </p:txBody>
      </p:sp>
      <p:sp>
        <p:nvSpPr>
          <p:cNvPr id="14" name="Text 9"/>
          <p:cNvSpPr/>
          <p:nvPr/>
        </p:nvSpPr>
        <p:spPr>
          <a:xfrm>
            <a:off x="411480" y="6473951"/>
            <a:ext cx="2286000" cy="292603"/>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Aptos" pitchFamily="34" charset="0"/>
                <a:ea typeface="Aptos" pitchFamily="34" charset="-122"/>
                <a:cs typeface="Aptos" pitchFamily="34" charset="-120"/>
              </a:rPr>
              <a:t>INTRINSIC WIDTH</a:t>
            </a:r>
            <a:endParaRPr lang="en-US" sz="1200" dirty="0"/>
          </a:p>
        </p:txBody>
      </p:sp>
      <p:sp>
        <p:nvSpPr>
          <p:cNvPr id="6" name="Text 4"/>
          <p:cNvSpPr/>
          <p:nvPr/>
        </p:nvSpPr>
        <p:spPr>
          <a:xfrm>
            <a:off x="411479" y="566928"/>
            <a:ext cx="10398035"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Intrinsic Width - equalize widths without stretching to the full screen</a:t>
            </a:r>
            <a:endParaRPr lang="en-US" sz="2400" dirty="0">
              <a:latin typeface="Rockwell" panose="02060603020205020403" pitchFamily="18" charset="0"/>
            </a:endParaRPr>
          </a:p>
        </p:txBody>
      </p:sp>
      <p:sp>
        <p:nvSpPr>
          <p:cNvPr id="7" name="Text 5"/>
          <p:cNvSpPr/>
          <p:nvPr/>
        </p:nvSpPr>
        <p:spPr>
          <a:xfrm>
            <a:off x="429768" y="1060702"/>
            <a:ext cx="6400800" cy="219457"/>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Use it with crossAxisAlignment.stretch when you want all children as wide as the widest child</a:t>
            </a:r>
            <a:endParaRPr lang="en-US" sz="1200" dirty="0">
              <a:latin typeface="Rockwell" panose="02060603020205020403" pitchFamily="18" charset="0"/>
            </a:endParaRPr>
          </a:p>
        </p:txBody>
      </p:sp>
      <p:sp>
        <p:nvSpPr>
          <p:cNvPr id="8" name="Shape 6"/>
          <p:cNvSpPr/>
          <p:nvPr/>
        </p:nvSpPr>
        <p:spPr>
          <a:xfrm>
            <a:off x="502919" y="1417319"/>
            <a:ext cx="5514159" cy="1956815"/>
          </a:xfrm>
          <a:prstGeom prst="roundRect">
            <a:avLst>
              <a:gd name="adj" fmla="val 3158"/>
            </a:avLst>
          </a:prstGeom>
          <a:solidFill>
            <a:srgbClr val="0D0D0D"/>
          </a:solidFill>
          <a:ln w="12700">
            <a:solidFill>
              <a:srgbClr val="555555"/>
            </a:solidFill>
            <a:prstDash val="solid"/>
          </a:ln>
        </p:spPr>
      </p:sp>
      <p:sp>
        <p:nvSpPr>
          <p:cNvPr id="9" name="Text 7"/>
          <p:cNvSpPr/>
          <p:nvPr/>
        </p:nvSpPr>
        <p:spPr>
          <a:xfrm>
            <a:off x="612648" y="1508760"/>
            <a:ext cx="5322788" cy="1737360"/>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IntrinsicWidth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Column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center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crossAxisAlignment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CrossAxisAlignment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stretch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538728"/>
            <a:ext cx="6400800" cy="2450592"/>
          </a:xfrm>
          <a:prstGeom prst="rect">
            <a:avLst/>
          </a:prstGeom>
          <a:noFill/>
          <a:ln/>
        </p:spPr>
        <p:txBody>
          <a:bodyPr wrap="square" lIns="635" tIns="635" rIns="635" bIns="635" rtlCol="0" anchor="t">
            <a:normAutofit/>
          </a:bodyPr>
          <a:lstStyle/>
          <a:p>
            <a:pPr marL="177800" indent="-177800">
              <a:buSzPct val="100000"/>
              <a:buChar char="•"/>
            </a:pPr>
            <a:r>
              <a:rPr lang="en-US" sz="1580" dirty="0">
                <a:solidFill>
                  <a:srgbClr val="F6F1E8"/>
                </a:solidFill>
              </a:rPr>
              <a:t>Without IntrinsicWidth, stretch makes each child expand to the entire available width. With IntrinsicWidth wrapped around the Column, the common width becomes the width of the largest child instead.</a:t>
            </a:r>
            <a:endParaRPr lang="en-US" sz="1580" dirty="0"/>
          </a:p>
          <a:p>
            <a:pPr marL="177800" indent="-177800">
              <a:buSzPct val="100000"/>
              <a:buChar char="•"/>
            </a:pPr>
            <a:r>
              <a:rPr lang="en-US" sz="1580" dirty="0">
                <a:solidFill>
                  <a:srgbClr val="F6F1E8"/>
                </a:solidFill>
              </a:rPr>
              <a:t>This is a subtle but elegant tool for forms, menus, and grouped controls that should look aligned but not absurdly wide.</a:t>
            </a:r>
            <a:endParaRPr lang="en-US" sz="1580" dirty="0"/>
          </a:p>
        </p:txBody>
      </p:sp>
      <p:sp>
        <p:nvSpPr>
          <p:cNvPr id="11" name="Shape 9"/>
          <p:cNvSpPr/>
          <p:nvPr/>
        </p:nvSpPr>
        <p:spPr>
          <a:xfrm>
            <a:off x="7178040" y="1234440"/>
            <a:ext cx="4526280" cy="5440680"/>
          </a:xfrm>
          <a:prstGeom prst="roundRect">
            <a:avLst>
              <a:gd name="adj" fmla="val 1616"/>
            </a:avLst>
          </a:prstGeom>
          <a:solidFill>
            <a:srgbClr val="F7F7F7"/>
          </a:solidFill>
          <a:ln w="12700">
            <a:solidFill>
              <a:srgbClr val="F2C300"/>
            </a:solidFill>
            <a:prstDash val="solid"/>
          </a:ln>
        </p:spPr>
      </p:sp>
      <p:pic>
        <p:nvPicPr>
          <p:cNvPr id="12" name="Image 0" descr="/mnt/data/render/page-243.png"/>
          <p:cNvPicPr>
            <a:picLocks noChangeAspect="1"/>
          </p:cNvPicPr>
          <p:nvPr/>
        </p:nvPicPr>
        <p:blipFill>
          <a:blip r:embed="rId3"/>
          <a:stretch>
            <a:fillRect/>
          </a:stretch>
        </p:blipFill>
        <p:spPr>
          <a:xfrm>
            <a:off x="7670050" y="1271016"/>
            <a:ext cx="3542259" cy="536752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31</a:t>
            </a:r>
            <a:endParaRPr lang="en-US" sz="900" dirty="0"/>
          </a:p>
        </p:txBody>
      </p:sp>
      <p:sp>
        <p:nvSpPr>
          <p:cNvPr id="15" name="Text 11"/>
          <p:cNvSpPr/>
          <p:nvPr/>
        </p:nvSpPr>
        <p:spPr>
          <a:xfrm>
            <a:off x="411480" y="6547104"/>
            <a:ext cx="2286000" cy="196592"/>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INTRINSICWIDTH</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Before/after effect of IntrinsicWidth</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050" i="1" dirty="0">
                <a:solidFill>
                  <a:srgbClr val="C8C4BC"/>
                </a:solidFill>
              </a:rPr>
              <a:t>The widest child becomes the common width reference</a:t>
            </a:r>
            <a:endParaRPr lang="en-US" sz="1050" dirty="0"/>
          </a:p>
        </p:txBody>
      </p:sp>
      <p:sp>
        <p:nvSpPr>
          <p:cNvPr id="8" name="Shape 6"/>
          <p:cNvSpPr/>
          <p:nvPr/>
        </p:nvSpPr>
        <p:spPr>
          <a:xfrm>
            <a:off x="8259774" y="1014984"/>
            <a:ext cx="3353105" cy="1805939"/>
          </a:xfrm>
          <a:prstGeom prst="roundRect">
            <a:avLst>
              <a:gd name="adj" fmla="val 5161"/>
            </a:avLst>
          </a:prstGeom>
          <a:solidFill>
            <a:srgbClr val="F7F7F7"/>
          </a:solidFill>
          <a:ln w="12700">
            <a:solidFill>
              <a:srgbClr val="F2C300"/>
            </a:solidFill>
            <a:prstDash val="solid"/>
          </a:ln>
        </p:spPr>
      </p:sp>
      <p:pic>
        <p:nvPicPr>
          <p:cNvPr id="9" name="Image 0" descr="/mnt/data/crops/intrinsic_before.png"/>
          <p:cNvPicPr>
            <a:picLocks noChangeAspect="1"/>
          </p:cNvPicPr>
          <p:nvPr/>
        </p:nvPicPr>
        <p:blipFill>
          <a:blip r:embed="rId3"/>
          <a:stretch>
            <a:fillRect/>
          </a:stretch>
        </p:blipFill>
        <p:spPr>
          <a:xfrm>
            <a:off x="8614562" y="1079552"/>
            <a:ext cx="2341909" cy="1672792"/>
          </a:xfrm>
          <a:prstGeom prst="rect">
            <a:avLst/>
          </a:prstGeom>
        </p:spPr>
      </p:pic>
      <p:sp>
        <p:nvSpPr>
          <p:cNvPr id="10" name="Shape 7"/>
          <p:cNvSpPr/>
          <p:nvPr/>
        </p:nvSpPr>
        <p:spPr>
          <a:xfrm>
            <a:off x="8275320" y="3154679"/>
            <a:ext cx="3337560" cy="2111251"/>
          </a:xfrm>
          <a:prstGeom prst="roundRect">
            <a:avLst>
              <a:gd name="adj" fmla="val 5161"/>
            </a:avLst>
          </a:prstGeom>
          <a:solidFill>
            <a:srgbClr val="F7F7F7"/>
          </a:solidFill>
          <a:ln w="12700">
            <a:solidFill>
              <a:srgbClr val="F2C300"/>
            </a:solidFill>
            <a:prstDash val="solid"/>
          </a:ln>
        </p:spPr>
      </p:sp>
      <p:pic>
        <p:nvPicPr>
          <p:cNvPr id="11" name="Image 1" descr="/mnt/data/crops/intrinsic_after.png"/>
          <p:cNvPicPr>
            <a:picLocks noChangeAspect="1"/>
          </p:cNvPicPr>
          <p:nvPr/>
        </p:nvPicPr>
        <p:blipFill>
          <a:blip r:embed="rId4"/>
          <a:stretch>
            <a:fillRect/>
          </a:stretch>
        </p:blipFill>
        <p:spPr>
          <a:xfrm>
            <a:off x="8510016" y="3264734"/>
            <a:ext cx="2859024" cy="1837944"/>
          </a:xfrm>
          <a:prstGeom prst="rect">
            <a:avLst/>
          </a:prstGeom>
        </p:spPr>
      </p:pic>
      <p:sp>
        <p:nvSpPr>
          <p:cNvPr id="12" name="Shape 8"/>
          <p:cNvSpPr/>
          <p:nvPr/>
        </p:nvSpPr>
        <p:spPr>
          <a:xfrm>
            <a:off x="3931920" y="4718797"/>
            <a:ext cx="3980906" cy="1608358"/>
          </a:xfrm>
          <a:prstGeom prst="roundRect">
            <a:avLst>
              <a:gd name="adj" fmla="val 8000"/>
            </a:avLst>
          </a:prstGeom>
          <a:solidFill>
            <a:srgbClr val="F7F7F7"/>
          </a:solidFill>
          <a:ln w="12700">
            <a:solidFill>
              <a:srgbClr val="F2C300"/>
            </a:solidFill>
            <a:prstDash val="solid"/>
          </a:ln>
        </p:spPr>
      </p:sp>
      <p:pic>
        <p:nvPicPr>
          <p:cNvPr id="13" name="Image 2" descr="/mnt/data/crops/intrinsic_wider.png"/>
          <p:cNvPicPr>
            <a:picLocks noChangeAspect="1"/>
          </p:cNvPicPr>
          <p:nvPr/>
        </p:nvPicPr>
        <p:blipFill>
          <a:blip r:embed="rId5"/>
          <a:stretch>
            <a:fillRect/>
          </a:stretch>
        </p:blipFill>
        <p:spPr>
          <a:xfrm>
            <a:off x="4657072" y="4831019"/>
            <a:ext cx="2530602" cy="1350325"/>
          </a:xfrm>
          <a:prstGeom prst="rect">
            <a:avLst/>
          </a:prstGeom>
        </p:spPr>
      </p:pic>
      <p:sp>
        <p:nvSpPr>
          <p:cNvPr id="14" name="Text 9"/>
          <p:cNvSpPr/>
          <p:nvPr/>
        </p:nvSpPr>
        <p:spPr>
          <a:xfrm>
            <a:off x="502920" y="1417320"/>
            <a:ext cx="6858000" cy="4389120"/>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Figure 14-3 shows the stretch-only case: all children occupy the full width of the screen region.</a:t>
            </a:r>
            <a:endParaRPr lang="en-US" sz="2000" dirty="0"/>
          </a:p>
          <a:p>
            <a:pPr marL="177800" indent="-177800">
              <a:buSzPct val="100000"/>
              <a:buChar char="•"/>
            </a:pPr>
            <a:r>
              <a:rPr lang="en-US" sz="2000" dirty="0">
                <a:solidFill>
                  <a:srgbClr val="F6F1E8"/>
                </a:solidFill>
              </a:rPr>
              <a:t>Figure 14-4 adds IntrinsicWidth, reducing the group to the width of the current widest child.</a:t>
            </a:r>
            <a:endParaRPr lang="en-US" sz="2000" dirty="0"/>
          </a:p>
          <a:p>
            <a:pPr marL="177800" indent="-177800">
              <a:buSzPct val="100000"/>
              <a:buChar char="•"/>
            </a:pPr>
            <a:r>
              <a:rPr lang="en-US" sz="2000" dirty="0">
                <a:solidFill>
                  <a:srgbClr val="F6F1E8"/>
                </a:solidFill>
              </a:rPr>
              <a:t>Figure 14-5 then increases one child’s natural width, and every sibling grows to match that new maximum. This proves that the controlling dimension is intrinsic child width, not parent width.</a:t>
            </a:r>
            <a:endParaRPr lang="en-US" sz="2000" dirty="0"/>
          </a:p>
          <a:p>
            <a:pPr marL="177800" indent="-177800">
              <a:buSzPct val="100000"/>
              <a:buChar char="•"/>
            </a:pPr>
            <a:r>
              <a:rPr lang="en-US" sz="2000" dirty="0">
                <a:solidFill>
                  <a:srgbClr val="F6F1E8"/>
                </a:solidFill>
              </a:rPr>
              <a:t>In systems terms, IntrinsicWidth asks Flutter to query children for preferred size before finalizing the parent geometry.</a:t>
            </a:r>
            <a:endParaRPr lang="en-US" sz="2000" dirty="0"/>
          </a:p>
        </p:txBody>
      </p:sp>
      <p:sp>
        <p:nvSpPr>
          <p:cNvPr id="16"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32</a:t>
            </a:r>
            <a:endParaRPr lang="en-US" sz="900" dirty="0"/>
          </a:p>
        </p:txBody>
      </p:sp>
      <p:sp>
        <p:nvSpPr>
          <p:cNvPr id="17" name="Text 11"/>
          <p:cNvSpPr/>
          <p:nvPr/>
        </p:nvSpPr>
        <p:spPr>
          <a:xfrm>
            <a:off x="411480" y="6547104"/>
            <a:ext cx="2286000" cy="237406"/>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EXPANDED</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Expanded is the structural answer to leftover room</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Instead of inserting gaps, let specific children consume the slack</a:t>
            </a:r>
            <a:endParaRPr lang="en-US" sz="1200" dirty="0">
              <a:latin typeface="Rockwell" panose="02060603020205020403" pitchFamily="18" charset="0"/>
            </a:endParaRPr>
          </a:p>
        </p:txBody>
      </p:sp>
      <p:sp>
        <p:nvSpPr>
          <p:cNvPr id="8" name="Text 6"/>
          <p:cNvSpPr/>
          <p:nvPr/>
        </p:nvSpPr>
        <p:spPr>
          <a:xfrm>
            <a:off x="502920" y="1417320"/>
            <a:ext cx="6217920" cy="4160520"/>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rPr>
              <a:t>The chapter transitions from alignment-based spacing to a more structural idea: sometimes you do not want empty space at all. You want a child to grow and occupy it.</a:t>
            </a:r>
            <a:endParaRPr lang="en-US" sz="2000" dirty="0"/>
          </a:p>
          <a:p>
            <a:pPr marL="177800" indent="-177800">
              <a:buSzPct val="100000"/>
              <a:buChar char="•"/>
            </a:pPr>
            <a:r>
              <a:rPr lang="en-US" sz="2000" dirty="0">
                <a:solidFill>
                  <a:srgbClr val="F6F1E8"/>
                </a:solidFill>
              </a:rPr>
              <a:t>Wrapping a Row or Column child in Expanded makes that child flexible along the main axis. Any free room is assigned to the Expanded children rather than left as a gap controlled by mainAxisAlignment.</a:t>
            </a:r>
            <a:endParaRPr lang="en-US" sz="2000" dirty="0"/>
          </a:p>
          <a:p>
            <a:pPr marL="177800" indent="-177800">
              <a:buSzPct val="100000"/>
              <a:buChar char="•"/>
            </a:pPr>
            <a:r>
              <a:rPr lang="en-US" sz="2000" dirty="0">
                <a:solidFill>
                  <a:srgbClr val="F6F1E8"/>
                </a:solidFill>
              </a:rPr>
              <a:t>This changes the semantics of the layout from “space around widgets” to “widgets absorb available capacity.”</a:t>
            </a:r>
            <a:endParaRPr lang="en-US" sz="2000" dirty="0"/>
          </a:p>
        </p:txBody>
      </p:sp>
      <p:sp>
        <p:nvSpPr>
          <p:cNvPr id="9" name="Shape 7"/>
          <p:cNvSpPr/>
          <p:nvPr/>
        </p:nvSpPr>
        <p:spPr>
          <a:xfrm>
            <a:off x="7086600" y="1234440"/>
            <a:ext cx="4572000" cy="5440680"/>
          </a:xfrm>
          <a:prstGeom prst="roundRect">
            <a:avLst>
              <a:gd name="adj" fmla="val 1600"/>
            </a:avLst>
          </a:prstGeom>
          <a:solidFill>
            <a:srgbClr val="F7F7F7"/>
          </a:solidFill>
          <a:ln w="12700">
            <a:solidFill>
              <a:srgbClr val="F2C300"/>
            </a:solidFill>
            <a:prstDash val="solid"/>
          </a:ln>
        </p:spPr>
      </p:sp>
      <p:pic>
        <p:nvPicPr>
          <p:cNvPr id="10" name="Image 0" descr="/mnt/data/render/page-244.png"/>
          <p:cNvPicPr>
            <a:picLocks noChangeAspect="1"/>
          </p:cNvPicPr>
          <p:nvPr/>
        </p:nvPicPr>
        <p:blipFill>
          <a:blip r:embed="rId3"/>
          <a:stretch>
            <a:fillRect/>
          </a:stretch>
        </p:blipFill>
        <p:spPr>
          <a:xfrm>
            <a:off x="7601470" y="1271016"/>
            <a:ext cx="3542259" cy="5367528"/>
          </a:xfrm>
          <a:prstGeom prst="rect">
            <a:avLst/>
          </a:prstGeom>
        </p:spPr>
      </p:pic>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33</a:t>
            </a:r>
            <a:endParaRPr lang="en-US" sz="900" dirty="0"/>
          </a:p>
        </p:txBody>
      </p:sp>
      <p:sp>
        <p:nvSpPr>
          <p:cNvPr id="13" name="Text 9"/>
          <p:cNvSpPr/>
          <p:nvPr/>
        </p:nvSpPr>
        <p:spPr>
          <a:xfrm>
            <a:off x="411480" y="6519672"/>
            <a:ext cx="2286000" cy="264844"/>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EXPANDED</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One Expanded child gobbles all free space</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Once the slack is consumed, mainAxisAlignment no longer matters</a:t>
            </a:r>
            <a:endParaRPr lang="en-US" sz="1200" dirty="0">
              <a:latin typeface="Rockwell" panose="02060603020205020403" pitchFamily="18" charset="0"/>
            </a:endParaRPr>
          </a:p>
        </p:txBody>
      </p:sp>
      <p:sp>
        <p:nvSpPr>
          <p:cNvPr id="8" name="Shape 6"/>
          <p:cNvSpPr/>
          <p:nvPr/>
        </p:nvSpPr>
        <p:spPr>
          <a:xfrm>
            <a:off x="502919" y="1463040"/>
            <a:ext cx="5530487" cy="2374174"/>
          </a:xfrm>
          <a:prstGeom prst="roundRect">
            <a:avLst>
              <a:gd name="adj" fmla="val 3000"/>
            </a:avLst>
          </a:prstGeom>
          <a:solidFill>
            <a:srgbClr val="0D0D0D"/>
          </a:solidFill>
          <a:ln w="12700">
            <a:solidFill>
              <a:srgbClr val="555555"/>
            </a:solidFill>
            <a:prstDash val="solid"/>
          </a:ln>
        </p:spPr>
      </p:sp>
      <p:sp>
        <p:nvSpPr>
          <p:cNvPr id="9" name="Text 7"/>
          <p:cNvSpPr/>
          <p:nvPr/>
        </p:nvSpPr>
        <p:spPr>
          <a:xfrm>
            <a:off x="612648" y="1554480"/>
            <a:ext cx="5420758" cy="2282734"/>
          </a:xfrm>
          <a:prstGeom prst="rect">
            <a:avLst/>
          </a:prstGeom>
          <a:noFill/>
          <a:ln/>
        </p:spPr>
        <p:txBody>
          <a:bodyPr wrap="square" lIns="0" tIns="0" rIns="0" bIns="0" rtlCol="0" anchor="ctr">
            <a:normAutofit lnSpcReduction="10000"/>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MainAxisAlignment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spaceAround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4050792"/>
            <a:ext cx="6126480" cy="1938528"/>
          </a:xfrm>
          <a:prstGeom prst="rect">
            <a:avLst/>
          </a:prstGeom>
          <a:noFill/>
          <a:ln/>
        </p:spPr>
        <p:txBody>
          <a:bodyPr wrap="square" lIns="635" tIns="635" rIns="635" bIns="635" rtlCol="0" anchor="t">
            <a:normAutofit/>
          </a:bodyPr>
          <a:lstStyle/>
          <a:p>
            <a:pPr marL="177800" indent="-177800">
              <a:buSzPct val="100000"/>
              <a:buChar char="•"/>
            </a:pPr>
            <a:r>
              <a:rPr lang="en-US" sz="1600" dirty="0">
                <a:solidFill>
                  <a:srgbClr val="F6F1E8"/>
                </a:solidFill>
              </a:rPr>
              <a:t>The chapter explicitly notes that after one child is wrapped in Expanded, the previous mainAxisAlignment setting makes no visible difference because the free space has been fully consumed.</a:t>
            </a:r>
            <a:endParaRPr lang="en-US" sz="1600" dirty="0"/>
          </a:p>
          <a:p>
            <a:pPr marL="177800" indent="-177800">
              <a:buSzPct val="100000"/>
              <a:buChar char="•"/>
            </a:pPr>
            <a:r>
              <a:rPr lang="en-US" sz="1600" dirty="0">
                <a:solidFill>
                  <a:srgbClr val="F6F1E8"/>
                </a:solidFill>
              </a:rPr>
              <a:t>This is a useful debugging clue: if alignment seems “ignored,” check whether an Expanded has already spent the budget.</a:t>
            </a:r>
            <a:endParaRPr lang="en-US" sz="1600" dirty="0"/>
          </a:p>
        </p:txBody>
      </p:sp>
      <p:sp>
        <p:nvSpPr>
          <p:cNvPr id="11" name="Shape 9"/>
          <p:cNvSpPr/>
          <p:nvPr/>
        </p:nvSpPr>
        <p:spPr>
          <a:xfrm>
            <a:off x="6858000" y="941832"/>
            <a:ext cx="4904232" cy="2075688"/>
          </a:xfrm>
          <a:prstGeom prst="roundRect">
            <a:avLst>
              <a:gd name="adj" fmla="val 489"/>
            </a:avLst>
          </a:prstGeom>
          <a:solidFill>
            <a:srgbClr val="F7F7F7"/>
          </a:solidFill>
          <a:ln w="12700">
            <a:solidFill>
              <a:srgbClr val="F2C300"/>
            </a:solidFill>
            <a:prstDash val="solid"/>
          </a:ln>
        </p:spPr>
      </p:sp>
      <p:pic>
        <p:nvPicPr>
          <p:cNvPr id="12" name="Image 0" descr="/mnt/data/crops/expanded_base.png"/>
          <p:cNvPicPr>
            <a:picLocks noChangeAspect="1"/>
          </p:cNvPicPr>
          <p:nvPr/>
        </p:nvPicPr>
        <p:blipFill>
          <a:blip r:embed="rId3"/>
          <a:stretch>
            <a:fillRect/>
          </a:stretch>
        </p:blipFill>
        <p:spPr>
          <a:xfrm>
            <a:off x="7060256" y="978408"/>
            <a:ext cx="4519096" cy="1920691"/>
          </a:xfrm>
          <a:prstGeom prst="rect">
            <a:avLst/>
          </a:prstGeom>
        </p:spPr>
      </p:pic>
      <p:sp>
        <p:nvSpPr>
          <p:cNvPr id="13" name="Shape 10"/>
          <p:cNvSpPr/>
          <p:nvPr/>
        </p:nvSpPr>
        <p:spPr>
          <a:xfrm>
            <a:off x="6784848" y="3429000"/>
            <a:ext cx="4904232" cy="2374174"/>
          </a:xfrm>
          <a:prstGeom prst="roundRect">
            <a:avLst>
              <a:gd name="adj" fmla="val 3333"/>
            </a:avLst>
          </a:prstGeom>
          <a:solidFill>
            <a:srgbClr val="F7F7F7"/>
          </a:solidFill>
          <a:ln w="12700">
            <a:solidFill>
              <a:srgbClr val="F2C300"/>
            </a:solidFill>
            <a:prstDash val="solid"/>
          </a:ln>
        </p:spPr>
        <p:txBody>
          <a:bodyPr/>
          <a:lstStyle/>
          <a:p>
            <a:endParaRPr lang="en-US" dirty="0"/>
          </a:p>
        </p:txBody>
      </p:sp>
      <p:pic>
        <p:nvPicPr>
          <p:cNvPr id="14" name="Image 1" descr="/mnt/data/crops/expanded_one.png"/>
          <p:cNvPicPr>
            <a:picLocks noChangeAspect="1"/>
          </p:cNvPicPr>
          <p:nvPr/>
        </p:nvPicPr>
        <p:blipFill>
          <a:blip r:embed="rId4"/>
          <a:stretch>
            <a:fillRect/>
          </a:stretch>
        </p:blipFill>
        <p:spPr>
          <a:xfrm>
            <a:off x="6894575" y="3569877"/>
            <a:ext cx="4551753" cy="2006321"/>
          </a:xfrm>
          <a:prstGeom prst="rect">
            <a:avLst/>
          </a:prstGeom>
        </p:spPr>
      </p:pic>
      <p:sp>
        <p:nvSpPr>
          <p:cNvPr id="16" name="Text 11"/>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34</a:t>
            </a:r>
            <a:endParaRPr lang="en-US" sz="900" dirty="0"/>
          </a:p>
        </p:txBody>
      </p:sp>
      <p:sp>
        <p:nvSpPr>
          <p:cNvPr id="17" name="Text 12"/>
          <p:cNvSpPr/>
          <p:nvPr/>
        </p:nvSpPr>
        <p:spPr>
          <a:xfrm>
            <a:off x="411480" y="6547104"/>
            <a:ext cx="2286000" cy="196576"/>
          </a:xfrm>
          <a:prstGeom prst="rect">
            <a:avLst/>
          </a:prstGeom>
          <a:noFill/>
          <a:ln/>
        </p:spPr>
        <p:txBody>
          <a:bodyPr wrap="square" lIns="0" tIns="0" rIns="0" bIns="0" rtlCol="0" anchor="ctr"/>
          <a:lstStyle/>
          <a:p>
            <a:pPr marL="0" indent="0">
              <a:buNone/>
            </a:pPr>
            <a:r>
              <a:rPr lang="en-US" sz="1200" dirty="0">
                <a:solidFill>
                  <a:srgbClr val="8C8C8C"/>
                </a:solidFill>
              </a:rPr>
              <a:t>Flutter layout lecture deck</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EXPANDED</a:t>
            </a:r>
            <a:endParaRPr lang="en-US" sz="900" dirty="0"/>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Multiple Expanded children divide the available slack</a:t>
            </a:r>
            <a:endParaRPr lang="en-US" sz="2400" dirty="0"/>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Default flex = 1 means equal shares</a:t>
            </a:r>
            <a:endParaRPr lang="en-US" sz="1200" dirty="0">
              <a:latin typeface="Rockwell" panose="02060603020205020403" pitchFamily="18" charset="0"/>
            </a:endParaRPr>
          </a:p>
        </p:txBody>
      </p:sp>
      <p:sp>
        <p:nvSpPr>
          <p:cNvPr id="8" name="Shape 6"/>
          <p:cNvSpPr/>
          <p:nvPr/>
        </p:nvSpPr>
        <p:spPr>
          <a:xfrm>
            <a:off x="502920" y="1463039"/>
            <a:ext cx="5593080" cy="2203705"/>
          </a:xfrm>
          <a:prstGeom prst="roundRect">
            <a:avLst>
              <a:gd name="adj" fmla="val 3158"/>
            </a:avLst>
          </a:prstGeom>
          <a:solidFill>
            <a:srgbClr val="0D0D0D"/>
          </a:solidFill>
          <a:ln w="12700">
            <a:solidFill>
              <a:srgbClr val="555555"/>
            </a:solidFill>
            <a:prstDash val="solid"/>
          </a:ln>
        </p:spPr>
      </p:sp>
      <p:sp>
        <p:nvSpPr>
          <p:cNvPr id="9" name="Text 7"/>
          <p:cNvSpPr/>
          <p:nvPr/>
        </p:nvSpPr>
        <p:spPr>
          <a:xfrm>
            <a:off x="633984" y="1472511"/>
            <a:ext cx="5330952" cy="2212848"/>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0" name="Text 8"/>
          <p:cNvSpPr/>
          <p:nvPr/>
        </p:nvSpPr>
        <p:spPr>
          <a:xfrm>
            <a:off x="502920" y="3849622"/>
            <a:ext cx="6263640" cy="2185417"/>
          </a:xfrm>
          <a:prstGeom prst="rect">
            <a:avLst/>
          </a:prstGeom>
          <a:noFill/>
          <a:ln/>
        </p:spPr>
        <p:txBody>
          <a:bodyPr wrap="square" lIns="635" tIns="635" rIns="635" bIns="635" rtlCol="0" anchor="t">
            <a:normAutofit/>
          </a:bodyPr>
          <a:lstStyle/>
          <a:p>
            <a:pPr marL="177800" indent="-177800">
              <a:buSzPct val="100000"/>
              <a:buChar char="•"/>
            </a:pPr>
            <a:r>
              <a:rPr lang="en-US" sz="2000" dirty="0">
                <a:solidFill>
                  <a:srgbClr val="F6F1E8"/>
                </a:solidFill>
                <a:latin typeface="Rockwell" panose="02060603020205020403" pitchFamily="18" charset="0"/>
              </a:rPr>
              <a:t>When three children are Expanded with the default flex factor of 1, the parent first sizes the rigid widgets and then divides the remaining room equally among the flexible widgets.</a:t>
            </a:r>
            <a:endParaRPr lang="en-US" sz="2000" dirty="0">
              <a:latin typeface="Rockwell" panose="02060603020205020403" pitchFamily="18" charset="0"/>
            </a:endParaRPr>
          </a:p>
          <a:p>
            <a:pPr marL="177800" indent="-177800">
              <a:buSzPct val="100000"/>
              <a:buChar char="•"/>
            </a:pPr>
            <a:r>
              <a:rPr lang="en-US" sz="2000" dirty="0">
                <a:solidFill>
                  <a:srgbClr val="F6F1E8"/>
                </a:solidFill>
                <a:latin typeface="Rockwell" panose="02060603020205020403" pitchFamily="18" charset="0"/>
              </a:rPr>
              <a:t>The second child becomes smaller than in the previous slide because it is no longer the sole consumer of the leftover budget.</a:t>
            </a:r>
            <a:endParaRPr lang="en-US" sz="2000" dirty="0">
              <a:latin typeface="Rockwell" panose="02060603020205020403" pitchFamily="18" charset="0"/>
            </a:endParaRPr>
          </a:p>
        </p:txBody>
      </p:sp>
      <p:sp>
        <p:nvSpPr>
          <p:cNvPr id="11" name="Shape 9"/>
          <p:cNvSpPr/>
          <p:nvPr/>
        </p:nvSpPr>
        <p:spPr>
          <a:xfrm>
            <a:off x="6903720" y="1828800"/>
            <a:ext cx="4663440" cy="2651760"/>
          </a:xfrm>
          <a:prstGeom prst="roundRect">
            <a:avLst>
              <a:gd name="adj" fmla="val 2759"/>
            </a:avLst>
          </a:prstGeom>
          <a:solidFill>
            <a:srgbClr val="F7F7F7"/>
          </a:solidFill>
          <a:ln w="12700">
            <a:solidFill>
              <a:srgbClr val="F2C300"/>
            </a:solidFill>
            <a:prstDash val="solid"/>
          </a:ln>
        </p:spPr>
      </p:sp>
      <p:pic>
        <p:nvPicPr>
          <p:cNvPr id="12" name="Image 0" descr="/mnt/data/crops/expanded_many.png"/>
          <p:cNvPicPr>
            <a:picLocks noChangeAspect="1"/>
          </p:cNvPicPr>
          <p:nvPr/>
        </p:nvPicPr>
        <p:blipFill>
          <a:blip r:embed="rId3"/>
          <a:stretch>
            <a:fillRect/>
          </a:stretch>
        </p:blipFill>
        <p:spPr>
          <a:xfrm>
            <a:off x="6940296" y="2346531"/>
            <a:ext cx="4590288" cy="1616299"/>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35</a:t>
            </a:r>
            <a:endParaRPr lang="en-US" sz="900" dirty="0"/>
          </a:p>
        </p:txBody>
      </p:sp>
      <p:sp>
        <p:nvSpPr>
          <p:cNvPr id="15" name="Text 11"/>
          <p:cNvSpPr/>
          <p:nvPr/>
        </p:nvSpPr>
        <p:spPr>
          <a:xfrm>
            <a:off x="411479" y="6547104"/>
            <a:ext cx="2348049" cy="229250"/>
          </a:xfrm>
          <a:prstGeom prst="rect">
            <a:avLst/>
          </a:prstGeom>
          <a:noFill/>
          <a:ln/>
        </p:spPr>
        <p:txBody>
          <a:bodyPr wrap="square" lIns="0" tIns="0" rIns="0" bIns="0" rtlCol="0" anchor="ctr"/>
          <a:lstStyle/>
          <a:p>
            <a:pPr marL="0" indent="0">
              <a:buNone/>
            </a:pPr>
            <a:r>
              <a:rPr lang="en-US" sz="1200" dirty="0">
                <a:solidFill>
                  <a:srgbClr val="8C8C8C"/>
                </a:solidFill>
                <a:latin typeface="Rockwell" panose="02060603020205020403" pitchFamily="18" charset="0"/>
              </a:rPr>
              <a:t>Flutter layout lecture deck</a:t>
            </a:r>
            <a:endParaRPr lang="en-US" sz="1200" dirty="0">
              <a:latin typeface="Rockwell" panose="020606030202050204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200" b="1" dirty="0">
                <a:solidFill>
                  <a:srgbClr val="FFD95A"/>
                </a:solidFill>
                <a:latin typeface="Rockwell" panose="02060603020205020403" pitchFamily="18" charset="0"/>
                <a:ea typeface="Aptos" pitchFamily="34" charset="-122"/>
                <a:cs typeface="Aptos" pitchFamily="34" charset="-120"/>
              </a:rPr>
              <a:t>FLEX FACTOR</a:t>
            </a:r>
            <a:endParaRPr lang="en-US" sz="12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flex is a weighting system for space allocation</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Free space is distributed proportionally after rigid children are sized</a:t>
            </a:r>
            <a:endParaRPr lang="en-US" sz="1200" dirty="0">
              <a:latin typeface="Rockwell" panose="02060603020205020403" pitchFamily="18" charset="0"/>
            </a:endParaRPr>
          </a:p>
        </p:txBody>
      </p:sp>
      <p:sp>
        <p:nvSpPr>
          <p:cNvPr id="8" name="Shape 6"/>
          <p:cNvSpPr/>
          <p:nvPr/>
        </p:nvSpPr>
        <p:spPr>
          <a:xfrm>
            <a:off x="429768" y="1463039"/>
            <a:ext cx="4892040" cy="2579913"/>
          </a:xfrm>
          <a:prstGeom prst="roundRect">
            <a:avLst>
              <a:gd name="adj" fmla="val 2791"/>
            </a:avLst>
          </a:prstGeom>
          <a:solidFill>
            <a:srgbClr val="0D0D0D"/>
          </a:solidFill>
          <a:ln w="12700">
            <a:solidFill>
              <a:srgbClr val="555555"/>
            </a:solidFill>
            <a:prstDash val="solid"/>
          </a:ln>
        </p:spPr>
      </p:sp>
      <p:sp>
        <p:nvSpPr>
          <p:cNvPr id="9" name="Text 7"/>
          <p:cNvSpPr/>
          <p:nvPr/>
        </p:nvSpPr>
        <p:spPr>
          <a:xfrm>
            <a:off x="612647" y="1554479"/>
            <a:ext cx="4620659" cy="2534191"/>
          </a:xfrm>
          <a:prstGeom prst="rect">
            <a:avLst/>
          </a:prstGeom>
          <a:noFill/>
          <a:ln/>
        </p:spPr>
        <p:txBody>
          <a:bodyPr wrap="square" lIns="0" tIns="0" rIns="0" bIns="0"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graphicFrame>
        <p:nvGraphicFramePr>
          <p:cNvPr id="37" name="Table 0"/>
          <p:cNvGraphicFramePr>
            <a:graphicFrameLocks noGrp="1"/>
          </p:cNvGraphicFramePr>
          <p:nvPr>
            <p:extLst>
              <p:ext uri="{D42A27DB-BD31-4B8C-83A1-F6EECF244321}">
                <p14:modId xmlns:p14="http://schemas.microsoft.com/office/powerpoint/2010/main" val="1915249395"/>
              </p:ext>
            </p:extLst>
          </p:nvPr>
        </p:nvGraphicFramePr>
        <p:xfrm>
          <a:off x="502920" y="4180113"/>
          <a:ext cx="5342709" cy="1800012"/>
        </p:xfrm>
        <a:graphic>
          <a:graphicData uri="http://schemas.openxmlformats.org/drawingml/2006/table">
            <a:tbl>
              <a:tblPr/>
              <a:tblGrid>
                <a:gridCol w="1923375">
                  <a:extLst>
                    <a:ext uri="{9D8B030D-6E8A-4147-A177-3AD203B41FA5}">
                      <a16:colId xmlns:a16="http://schemas.microsoft.com/office/drawing/2014/main" val="20000"/>
                    </a:ext>
                  </a:extLst>
                </a:gridCol>
                <a:gridCol w="1175396">
                  <a:extLst>
                    <a:ext uri="{9D8B030D-6E8A-4147-A177-3AD203B41FA5}">
                      <a16:colId xmlns:a16="http://schemas.microsoft.com/office/drawing/2014/main" val="20001"/>
                    </a:ext>
                  </a:extLst>
                </a:gridCol>
                <a:gridCol w="2243938">
                  <a:extLst>
                    <a:ext uri="{9D8B030D-6E8A-4147-A177-3AD203B41FA5}">
                      <a16:colId xmlns:a16="http://schemas.microsoft.com/office/drawing/2014/main" val="20002"/>
                    </a:ext>
                  </a:extLst>
                </a:gridCol>
              </a:tblGrid>
              <a:tr h="450003">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Expanded child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Flex</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Relative share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450003">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1/6 of free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450003">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3/6 of free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450003">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2/6 of free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bl>
          </a:graphicData>
        </a:graphic>
      </p:graphicFrame>
      <p:sp>
        <p:nvSpPr>
          <p:cNvPr id="11" name="Text 8"/>
          <p:cNvSpPr/>
          <p:nvPr/>
        </p:nvSpPr>
        <p:spPr>
          <a:xfrm>
            <a:off x="5565299" y="1371603"/>
            <a:ext cx="2011680" cy="2314680"/>
          </a:xfrm>
          <a:prstGeom prst="rect">
            <a:avLst/>
          </a:prstGeom>
          <a:noFill/>
          <a:ln/>
        </p:spPr>
        <p:txBody>
          <a:bodyPr wrap="square" lIns="635" tIns="635" rIns="635" bIns="635" rtlCol="0" anchor="t">
            <a:normAutofit/>
          </a:bodyPr>
          <a:lstStyle/>
          <a:p>
            <a:pPr marL="177800" indent="-177800">
              <a:buSzPct val="100000"/>
              <a:buChar char="•"/>
            </a:pPr>
            <a:r>
              <a:rPr lang="en-US" dirty="0">
                <a:solidFill>
                  <a:srgbClr val="F6F1E8"/>
                </a:solidFill>
              </a:rPr>
              <a:t>Total flex = 6.</a:t>
            </a:r>
            <a:endParaRPr lang="en-US" dirty="0"/>
          </a:p>
          <a:p>
            <a:pPr marL="177800" indent="-177800">
              <a:buSzPct val="100000"/>
              <a:buChar char="•"/>
            </a:pPr>
            <a:r>
              <a:rPr lang="en-US" dirty="0">
                <a:solidFill>
                  <a:srgbClr val="F6F1E8"/>
                </a:solidFill>
              </a:rPr>
              <a:t>Only leftover space is divided this way.</a:t>
            </a:r>
            <a:endParaRPr lang="en-US" dirty="0"/>
          </a:p>
          <a:p>
            <a:pPr marL="177800" indent="-177800">
              <a:buSzPct val="100000"/>
              <a:buChar char="•"/>
            </a:pPr>
            <a:r>
              <a:rPr lang="en-US" dirty="0">
                <a:solidFill>
                  <a:srgbClr val="F6F1E8"/>
                </a:solidFill>
              </a:rPr>
              <a:t>Rigid widgets are measured first.</a:t>
            </a:r>
            <a:endParaRPr lang="en-US" dirty="0"/>
          </a:p>
        </p:txBody>
      </p:sp>
      <p:sp>
        <p:nvSpPr>
          <p:cNvPr id="12" name="Shape 9"/>
          <p:cNvSpPr/>
          <p:nvPr/>
        </p:nvSpPr>
        <p:spPr>
          <a:xfrm>
            <a:off x="8019288" y="630937"/>
            <a:ext cx="3886200" cy="4023360"/>
          </a:xfrm>
          <a:prstGeom prst="roundRect">
            <a:avLst>
              <a:gd name="adj" fmla="val 1882"/>
            </a:avLst>
          </a:prstGeom>
          <a:solidFill>
            <a:srgbClr val="F7F7F7"/>
          </a:solidFill>
          <a:ln w="12700">
            <a:solidFill>
              <a:srgbClr val="F2C300"/>
            </a:solidFill>
            <a:prstDash val="solid"/>
          </a:ln>
        </p:spPr>
      </p:sp>
      <p:pic>
        <p:nvPicPr>
          <p:cNvPr id="13" name="Image 0" descr="/mnt/data/crops/expanded_flex.png"/>
          <p:cNvPicPr>
            <a:picLocks noChangeAspect="1"/>
          </p:cNvPicPr>
          <p:nvPr/>
        </p:nvPicPr>
        <p:blipFill>
          <a:blip r:embed="rId3"/>
          <a:stretch>
            <a:fillRect/>
          </a:stretch>
        </p:blipFill>
        <p:spPr>
          <a:xfrm>
            <a:off x="8202233" y="1008779"/>
            <a:ext cx="3588302" cy="2773890"/>
          </a:xfrm>
          <a:prstGeom prst="rect">
            <a:avLst/>
          </a:prstGeom>
        </p:spPr>
      </p:pic>
      <p:sp>
        <p:nvSpPr>
          <p:cNvPr id="15"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36</a:t>
            </a:r>
            <a:endParaRPr lang="en-US" sz="900" dirty="0"/>
          </a:p>
        </p:txBody>
      </p:sp>
      <p:sp>
        <p:nvSpPr>
          <p:cNvPr id="16" name="Text 11"/>
          <p:cNvSpPr/>
          <p:nvPr/>
        </p:nvSpPr>
        <p:spPr>
          <a:xfrm>
            <a:off x="411480" y="6519670"/>
            <a:ext cx="2286000" cy="256682"/>
          </a:xfrm>
          <a:prstGeom prst="rect">
            <a:avLst/>
          </a:prstGeom>
          <a:noFill/>
          <a:ln/>
        </p:spPr>
        <p:txBody>
          <a:bodyPr wrap="square" lIns="0" tIns="0" rIns="0" bIns="0" rtlCol="0" anchor="ctr"/>
          <a:lstStyle/>
          <a:p>
            <a:pPr marL="0" indent="0">
              <a:buNone/>
            </a:pPr>
            <a:r>
              <a:rPr lang="en-US" sz="1200" dirty="0">
                <a:solidFill>
                  <a:srgbClr val="8C8C8C"/>
                </a:solidFill>
                <a:latin typeface="Rockwell" panose="02060603020205020403" pitchFamily="18" charset="0"/>
              </a:rPr>
              <a:t>Flutter layout lecture deck</a:t>
            </a:r>
            <a:endParaRPr lang="en-US" sz="1200" dirty="0">
              <a:latin typeface="Rockwell" panose="02060603020205020403"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txBody>
          <a:bodyPr/>
          <a:lstStyle/>
          <a:p>
            <a:endParaRPr lang="en-US" dirty="0"/>
          </a:p>
        </p:txBody>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OPEN SPACE</a:t>
            </a:r>
            <a:endParaRPr lang="en-US" sz="1400" dirty="0">
              <a:latin typeface="Rockwell" panose="02060603020205020403" pitchFamily="18" charset="0"/>
            </a:endParaRPr>
          </a:p>
        </p:txBody>
      </p:sp>
      <p:sp>
        <p:nvSpPr>
          <p:cNvPr id="6" name="Text 4"/>
          <p:cNvSpPr/>
          <p:nvPr/>
        </p:nvSpPr>
        <p:spPr>
          <a:xfrm>
            <a:off x="411479" y="566928"/>
            <a:ext cx="9793878"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Spacer and SizedBox add empty room back in under your control</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Use proportional gaps with Spacer and fixed gaps with SizedBox</a:t>
            </a:r>
            <a:endParaRPr lang="en-US" sz="1200" dirty="0">
              <a:latin typeface="Rockwell" panose="02060603020205020403" pitchFamily="18" charset="0"/>
            </a:endParaRPr>
          </a:p>
        </p:txBody>
      </p:sp>
      <p:sp>
        <p:nvSpPr>
          <p:cNvPr id="8" name="Text 6"/>
          <p:cNvSpPr/>
          <p:nvPr/>
        </p:nvSpPr>
        <p:spPr>
          <a:xfrm>
            <a:off x="502920" y="1417320"/>
            <a:ext cx="6309360" cy="2754627"/>
          </a:xfrm>
          <a:prstGeom prst="rect">
            <a:avLst/>
          </a:prstGeom>
          <a:noFill/>
          <a:ln/>
        </p:spPr>
        <p:txBody>
          <a:bodyPr wrap="square" lIns="635" tIns="635" rIns="635" bIns="635" rtlCol="0" anchor="t">
            <a:normAutofit/>
          </a:bodyPr>
          <a:lstStyle/>
          <a:p>
            <a:pPr marL="177800" indent="-177800">
              <a:buSzPct val="100000"/>
              <a:buChar char="•"/>
            </a:pPr>
            <a:r>
              <a:rPr lang="en-US" sz="1600" dirty="0">
                <a:solidFill>
                  <a:srgbClr val="F6F1E8"/>
                </a:solidFill>
              </a:rPr>
              <a:t>The chapter’s next refinement is subtle but important. Sometimes you want the precision of Expanded-based distribution, but you still want some empty room in the composition.</a:t>
            </a:r>
            <a:endParaRPr lang="en-US" sz="1600" dirty="0"/>
          </a:p>
          <a:p>
            <a:pPr marL="177800" indent="-177800">
              <a:buSzPct val="100000"/>
              <a:buChar char="•"/>
            </a:pPr>
            <a:r>
              <a:rPr lang="en-US" sz="1600" dirty="0">
                <a:solidFill>
                  <a:srgbClr val="F6F1E8"/>
                </a:solidFill>
              </a:rPr>
              <a:t>Spacer behaves like an Expanded whose content is empty; therefore it participates in flex allocation and is ideal for proportional whitespace.</a:t>
            </a:r>
            <a:endParaRPr lang="en-US" sz="1600" dirty="0"/>
          </a:p>
          <a:p>
            <a:pPr marL="177800" indent="-177800">
              <a:buSzPct val="100000"/>
              <a:buChar char="•"/>
            </a:pPr>
            <a:r>
              <a:rPr lang="en-US" sz="1600" dirty="0">
                <a:solidFill>
                  <a:srgbClr val="F6F1E8"/>
                </a:solidFill>
              </a:rPr>
              <a:t>SizedBox, by contrast, reserves a fixed width or height and is therefore the correct tool for deliberate pixel-precise gaps such as 8 px, 12 px, or 16 px spacing tokens.</a:t>
            </a:r>
            <a:endParaRPr lang="en-US" sz="1600" dirty="0"/>
          </a:p>
        </p:txBody>
      </p:sp>
      <p:sp>
        <p:nvSpPr>
          <p:cNvPr id="9" name="Shape 7"/>
          <p:cNvSpPr/>
          <p:nvPr/>
        </p:nvSpPr>
        <p:spPr>
          <a:xfrm>
            <a:off x="548640" y="3976015"/>
            <a:ext cx="5852160" cy="2113885"/>
          </a:xfrm>
          <a:prstGeom prst="roundRect">
            <a:avLst>
              <a:gd name="adj" fmla="val 5217"/>
            </a:avLst>
          </a:prstGeom>
          <a:solidFill>
            <a:srgbClr val="0D0D0D"/>
          </a:solidFill>
          <a:ln w="12700">
            <a:solidFill>
              <a:srgbClr val="555555"/>
            </a:solidFill>
            <a:prstDash val="solid"/>
          </a:ln>
        </p:spPr>
      </p:sp>
      <p:sp>
        <p:nvSpPr>
          <p:cNvPr id="10" name="Text 8"/>
          <p:cNvSpPr/>
          <p:nvPr/>
        </p:nvSpPr>
        <p:spPr>
          <a:xfrm>
            <a:off x="658368" y="4171947"/>
            <a:ext cx="5628132" cy="1853949"/>
          </a:xfrm>
          <a:prstGeom prst="rect">
            <a:avLst/>
          </a:prstGeom>
          <a:noFill/>
          <a:ln/>
        </p:spPr>
        <p:txBody>
          <a:bodyPr wrap="square" lIns="0" tIns="0" rIns="0" bIns="0" rtlCol="0" anchor="ctr">
            <a:normAutofit fontScale="92500" lnSpcReduction="10000"/>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Row</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children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Spacer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Spacer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Expanded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child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SizedBox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width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SubWidget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8F8F2"/>
                </a:solidFill>
                <a:latin typeface="Consolas" pitchFamily="34" charset="0"/>
                <a:ea typeface="Consolas" pitchFamily="34" charset="-122"/>
                <a:cs typeface="Consolas" pitchFamily="34" charset="-120"/>
              </a:rPr>
              <a:t>)</a:t>
            </a:r>
            <a:endParaRPr lang="en-US" sz="1350" dirty="0"/>
          </a:p>
        </p:txBody>
      </p:sp>
      <p:sp>
        <p:nvSpPr>
          <p:cNvPr id="11" name="Shape 9"/>
          <p:cNvSpPr/>
          <p:nvPr/>
        </p:nvSpPr>
        <p:spPr>
          <a:xfrm>
            <a:off x="7086600" y="1234440"/>
            <a:ext cx="4572000" cy="5394960"/>
          </a:xfrm>
          <a:prstGeom prst="roundRect">
            <a:avLst>
              <a:gd name="adj" fmla="val 1600"/>
            </a:avLst>
          </a:prstGeom>
          <a:solidFill>
            <a:srgbClr val="F7F7F7"/>
          </a:solidFill>
          <a:ln w="12700">
            <a:solidFill>
              <a:srgbClr val="F2C300"/>
            </a:solidFill>
            <a:prstDash val="solid"/>
          </a:ln>
        </p:spPr>
      </p:sp>
      <p:pic>
        <p:nvPicPr>
          <p:cNvPr id="12" name="Image 0" descr="/mnt/data/render/page-248.png"/>
          <p:cNvPicPr>
            <a:picLocks noChangeAspect="1"/>
          </p:cNvPicPr>
          <p:nvPr/>
        </p:nvPicPr>
        <p:blipFill>
          <a:blip r:embed="rId3"/>
          <a:stretch>
            <a:fillRect/>
          </a:stretch>
        </p:blipFill>
        <p:spPr>
          <a:xfrm>
            <a:off x="7616557" y="1271016"/>
            <a:ext cx="3512087" cy="5321808"/>
          </a:xfrm>
          <a:prstGeom prst="rect">
            <a:avLst/>
          </a:prstGeom>
        </p:spPr>
      </p:pic>
      <p:sp>
        <p:nvSpPr>
          <p:cNvPr id="14"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37</a:t>
            </a:r>
            <a:endParaRPr lang="en-US" sz="900" dirty="0"/>
          </a:p>
        </p:txBody>
      </p:sp>
      <p:sp>
        <p:nvSpPr>
          <p:cNvPr id="15" name="Text 11"/>
          <p:cNvSpPr/>
          <p:nvPr/>
        </p:nvSpPr>
        <p:spPr>
          <a:xfrm>
            <a:off x="411480" y="6483096"/>
            <a:ext cx="2286000" cy="247538"/>
          </a:xfrm>
          <a:prstGeom prst="rect">
            <a:avLst/>
          </a:prstGeom>
          <a:noFill/>
          <a:ln/>
        </p:spPr>
        <p:txBody>
          <a:bodyPr wrap="square" lIns="0" tIns="0" rIns="0" bIns="0" rtlCol="0" anchor="ctr"/>
          <a:lstStyle/>
          <a:p>
            <a:pPr marL="0" indent="0">
              <a:buNone/>
            </a:pPr>
            <a:r>
              <a:rPr lang="en-US" sz="1200" dirty="0">
                <a:solidFill>
                  <a:srgbClr val="8C8C8C"/>
                </a:solidFill>
                <a:latin typeface="Rockwell" panose="02060603020205020403" pitchFamily="18" charset="0"/>
              </a:rPr>
              <a:t>Flutter layout lecture deck</a:t>
            </a:r>
            <a:endParaRPr lang="en-US" sz="1200" dirty="0">
              <a:latin typeface="Rockwell" panose="02060603020205020403"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900" b="1" dirty="0">
                <a:solidFill>
                  <a:srgbClr val="FFD95A"/>
                </a:solidFill>
                <a:latin typeface="Aptos" pitchFamily="34" charset="0"/>
                <a:ea typeface="Aptos" pitchFamily="34" charset="-122"/>
                <a:cs typeface="Aptos" pitchFamily="34" charset="-120"/>
              </a:rPr>
              <a:t>DECISION GUIDE</a:t>
            </a:r>
            <a:endParaRPr lang="en-US" sz="900" dirty="0"/>
          </a:p>
        </p:txBody>
      </p:sp>
      <p:sp>
        <p:nvSpPr>
          <p:cNvPr id="6" name="Text 4"/>
          <p:cNvSpPr/>
          <p:nvPr/>
        </p:nvSpPr>
        <p:spPr>
          <a:xfrm>
            <a:off x="502918" y="566928"/>
            <a:ext cx="7772401" cy="420624"/>
          </a:xfrm>
          <a:prstGeom prst="rect">
            <a:avLst/>
          </a:prstGeom>
          <a:noFill/>
          <a:ln/>
        </p:spPr>
        <p:txBody>
          <a:bodyPr wrap="square" lIns="0" tIns="0" rIns="0" bIns="0" rtlCol="0" anchor="ctr"/>
          <a:lstStyle/>
          <a:p>
            <a:pPr marL="0" indent="0">
              <a:buNone/>
            </a:pPr>
            <a:r>
              <a:rPr lang="en-US" sz="2400" b="1" dirty="0">
                <a:solidFill>
                  <a:srgbClr val="F6F1E8"/>
                </a:solidFill>
                <a:latin typeface="Aptos Display" pitchFamily="34" charset="0"/>
                <a:ea typeface="Aptos Display" pitchFamily="34" charset="-122"/>
                <a:cs typeface="Aptos Display" pitchFamily="34" charset="-120"/>
              </a:rPr>
              <a:t>Which Chapter 14 tool should you reach for?</a:t>
            </a:r>
            <a:endParaRPr lang="en-US" sz="2400" dirty="0"/>
          </a:p>
        </p:txBody>
      </p:sp>
      <p:sp>
        <p:nvSpPr>
          <p:cNvPr id="7" name="Text 5"/>
          <p:cNvSpPr/>
          <p:nvPr/>
        </p:nvSpPr>
        <p:spPr>
          <a:xfrm>
            <a:off x="502918" y="1024128"/>
            <a:ext cx="7516369" cy="256029"/>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A quick decision guide for space allocation</a:t>
            </a:r>
            <a:endParaRPr lang="en-US" sz="1200" dirty="0">
              <a:latin typeface="Rockwell" panose="02060603020205020403" pitchFamily="18" charset="0"/>
            </a:endParaRPr>
          </a:p>
        </p:txBody>
      </p:sp>
      <p:graphicFrame>
        <p:nvGraphicFramePr>
          <p:cNvPr id="39" name="Table 0"/>
          <p:cNvGraphicFramePr>
            <a:graphicFrameLocks noGrp="1"/>
          </p:cNvGraphicFramePr>
          <p:nvPr>
            <p:extLst>
              <p:ext uri="{D42A27DB-BD31-4B8C-83A1-F6EECF244321}">
                <p14:modId xmlns:p14="http://schemas.microsoft.com/office/powerpoint/2010/main" val="2825660222"/>
              </p:ext>
            </p:extLst>
          </p:nvPr>
        </p:nvGraphicFramePr>
        <p:xfrm>
          <a:off x="502919" y="1371600"/>
          <a:ext cx="10714809" cy="3257550"/>
        </p:xfrm>
        <a:graphic>
          <a:graphicData uri="http://schemas.openxmlformats.org/drawingml/2006/table">
            <a:tbl>
              <a:tblPr/>
              <a:tblGrid>
                <a:gridCol w="3417655">
                  <a:extLst>
                    <a:ext uri="{9D8B030D-6E8A-4147-A177-3AD203B41FA5}">
                      <a16:colId xmlns:a16="http://schemas.microsoft.com/office/drawing/2014/main" val="20000"/>
                    </a:ext>
                  </a:extLst>
                </a:gridCol>
                <a:gridCol w="2401595">
                  <a:extLst>
                    <a:ext uri="{9D8B030D-6E8A-4147-A177-3AD203B41FA5}">
                      <a16:colId xmlns:a16="http://schemas.microsoft.com/office/drawing/2014/main" val="20001"/>
                    </a:ext>
                  </a:extLst>
                </a:gridCol>
                <a:gridCol w="4895559">
                  <a:extLst>
                    <a:ext uri="{9D8B030D-6E8A-4147-A177-3AD203B41FA5}">
                      <a16:colId xmlns:a16="http://schemas.microsoft.com/office/drawing/2014/main" val="20002"/>
                    </a:ext>
                  </a:extLst>
                </a:gridCol>
              </a:tblGrid>
              <a:tr h="409632">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Goal</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Primary tool</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Reason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409632">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Pack or distribute existing children evenly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mainAxisAlignment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Moves slack between children without resizing them</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539674">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Align differently sized children on the perpendicular axis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crossAxisAlignment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Controls cross-axis placement or stretching</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539674">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Make a control group share the width of the widest control</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IntrinsicWidth + stretch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Normalizes group width elegantly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539674">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Let selected children consume free capacity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Expanded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Resizes children rather than inserting gaps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409632">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Insert proportional whitespace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Spacer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Flex-based empty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r h="409632">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Insert fixed whitespace token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SizedBox</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Deterministic gap size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6"/>
                  </a:ext>
                </a:extLst>
              </a:tr>
            </a:tbl>
          </a:graphicData>
        </a:graphic>
      </p:graphicFrame>
      <p:sp>
        <p:nvSpPr>
          <p:cNvPr id="9" name="Shape 6"/>
          <p:cNvSpPr/>
          <p:nvPr/>
        </p:nvSpPr>
        <p:spPr>
          <a:xfrm>
            <a:off x="685799" y="5249637"/>
            <a:ext cx="8294915" cy="858555"/>
          </a:xfrm>
          <a:prstGeom prst="roundRect">
            <a:avLst>
              <a:gd name="adj" fmla="val 10345"/>
            </a:avLst>
          </a:prstGeom>
          <a:solidFill>
            <a:srgbClr val="202020"/>
          </a:solidFill>
          <a:ln w="12700">
            <a:solidFill>
              <a:srgbClr val="F2C300"/>
            </a:solidFill>
            <a:prstDash val="solid"/>
          </a:ln>
        </p:spPr>
      </p:sp>
      <p:sp>
        <p:nvSpPr>
          <p:cNvPr id="10" name="Text 7"/>
          <p:cNvSpPr/>
          <p:nvPr/>
        </p:nvSpPr>
        <p:spPr>
          <a:xfrm>
            <a:off x="795528" y="5367528"/>
            <a:ext cx="8070886" cy="667512"/>
          </a:xfrm>
          <a:prstGeom prst="rect">
            <a:avLst/>
          </a:prstGeom>
          <a:noFill/>
          <a:ln/>
        </p:spPr>
        <p:txBody>
          <a:bodyPr wrap="square" lIns="0" tIns="0" rIns="0" bIns="0" rtlCol="0" anchor="ctr">
            <a:normAutofit/>
          </a:bodyPr>
          <a:lstStyle/>
          <a:p>
            <a:pPr marL="0" indent="0">
              <a:buNone/>
            </a:pPr>
            <a:r>
              <a:rPr lang="en-US" sz="1400" b="1" dirty="0">
                <a:solidFill>
                  <a:srgbClr val="FFD95A"/>
                </a:solidFill>
              </a:rPr>
              <a:t>Engineer’s shortcut: choose between moving space, consuming space, or reserving space.</a:t>
            </a:r>
            <a:endParaRPr lang="en-US" sz="1400" dirty="0"/>
          </a:p>
        </p:txBody>
      </p:sp>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38</a:t>
            </a:r>
            <a:endParaRPr lang="en-US" sz="900" dirty="0"/>
          </a:p>
        </p:txBody>
      </p:sp>
      <p:sp>
        <p:nvSpPr>
          <p:cNvPr id="13" name="Text 9"/>
          <p:cNvSpPr/>
          <p:nvPr/>
        </p:nvSpPr>
        <p:spPr>
          <a:xfrm>
            <a:off x="411480" y="6547104"/>
            <a:ext cx="2286000" cy="204756"/>
          </a:xfrm>
          <a:prstGeom prst="rect">
            <a:avLst/>
          </a:prstGeom>
          <a:noFill/>
          <a:ln/>
        </p:spPr>
        <p:txBody>
          <a:bodyPr wrap="square" lIns="0" tIns="0" rIns="0" bIns="0" rtlCol="0" anchor="ctr"/>
          <a:lstStyle/>
          <a:p>
            <a:pPr marL="0" indent="0">
              <a:buNone/>
            </a:pPr>
            <a:r>
              <a:rPr lang="en-US" sz="1200" dirty="0">
                <a:solidFill>
                  <a:srgbClr val="8C8C8C"/>
                </a:solidFill>
                <a:latin typeface="Rockwell" panose="02060603020205020403" pitchFamily="18" charset="0"/>
              </a:rPr>
              <a:t>Flutter layout lecture deck</a:t>
            </a:r>
            <a:endParaRPr lang="en-US" sz="1200" dirty="0">
              <a:latin typeface="Rockwell" panose="02060603020205020403"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INTEGRATED RECIPE</a:t>
            </a:r>
            <a:endParaRPr lang="en-US" sz="1400" dirty="0">
              <a:latin typeface="Rockwell" panose="02060603020205020403" pitchFamily="18" charset="0"/>
            </a:endParaRPr>
          </a:p>
        </p:txBody>
      </p:sp>
      <p:sp>
        <p:nvSpPr>
          <p:cNvPr id="6" name="Text 4"/>
          <p:cNvSpPr/>
          <p:nvPr/>
        </p:nvSpPr>
        <p:spPr>
          <a:xfrm>
            <a:off x="411479" y="566928"/>
            <a:ext cx="9670663"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Putting Chapters 13 and 14 together in a realistic design recipe</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A robust mental algorithm for responsive Flutter scenes</a:t>
            </a:r>
            <a:endParaRPr lang="en-US" sz="1200" dirty="0">
              <a:latin typeface="Rockwell" panose="02060603020205020403" pitchFamily="18" charset="0"/>
            </a:endParaRPr>
          </a:p>
        </p:txBody>
      </p:sp>
      <p:sp>
        <p:nvSpPr>
          <p:cNvPr id="8" name="Text 6"/>
          <p:cNvSpPr/>
          <p:nvPr/>
        </p:nvSpPr>
        <p:spPr>
          <a:xfrm>
            <a:off x="502920" y="1551214"/>
            <a:ext cx="7406640" cy="4346665"/>
          </a:xfrm>
          <a:prstGeom prst="rect">
            <a:avLst/>
          </a:prstGeom>
          <a:noFill/>
          <a:ln/>
        </p:spPr>
        <p:txBody>
          <a:bodyPr wrap="square" lIns="635" tIns="635" rIns="635" bIns="635" rtlCol="0" anchor="t">
            <a:normAutofit/>
          </a:bodyPr>
          <a:lstStyle/>
          <a:p>
            <a:pPr marL="177800" indent="-177800">
              <a:buSzPct val="100000"/>
              <a:buChar char="•"/>
            </a:pPr>
            <a:r>
              <a:rPr lang="en-US" dirty="0">
                <a:solidFill>
                  <a:srgbClr val="F6F1E8"/>
                </a:solidFill>
                <a:latin typeface="Rockwell" panose="02060603020205020403" pitchFamily="18" charset="0"/>
              </a:rPr>
              <a:t>Step 1: choose the layout axis and baseline geometry with Row, Column, Flex, or Grid.</a:t>
            </a:r>
            <a:endParaRPr lang="en-US" dirty="0">
              <a:latin typeface="Rockwell" panose="02060603020205020403" pitchFamily="18" charset="0"/>
            </a:endParaRPr>
          </a:p>
          <a:p>
            <a:pPr marL="177800" indent="-177800">
              <a:buSzPct val="100000"/>
              <a:buChar char="•"/>
            </a:pPr>
            <a:r>
              <a:rPr lang="en-US" dirty="0">
                <a:solidFill>
                  <a:srgbClr val="F6F1E8"/>
                </a:solidFill>
                <a:latin typeface="Rockwell" panose="02060603020205020403" pitchFamily="18" charset="0"/>
              </a:rPr>
              <a:t>Step 2: ask what should happen when constraints become too small. Reflow if content is naturally discrete, compress only if semantics survive, otherwise scroll.</a:t>
            </a:r>
            <a:endParaRPr lang="en-US" dirty="0">
              <a:latin typeface="Rockwell" panose="02060603020205020403" pitchFamily="18" charset="0"/>
            </a:endParaRPr>
          </a:p>
          <a:p>
            <a:pPr marL="177800" indent="-177800">
              <a:buSzPct val="100000"/>
              <a:buChar char="•"/>
            </a:pPr>
            <a:r>
              <a:rPr lang="en-US" dirty="0">
                <a:solidFill>
                  <a:srgbClr val="F6F1E8"/>
                </a:solidFill>
                <a:latin typeface="Rockwell" panose="02060603020205020403" pitchFamily="18" charset="0"/>
              </a:rPr>
              <a:t>Step 3: after fit is restored, ask what should happen when constraints become too large. Redistribute empty room with alignment, let selected children grow with Expanded, or add intentional whitespace with Spacer/SizedBox.</a:t>
            </a:r>
            <a:endParaRPr lang="en-US" dirty="0">
              <a:latin typeface="Rockwell" panose="02060603020205020403" pitchFamily="18" charset="0"/>
            </a:endParaRPr>
          </a:p>
          <a:p>
            <a:pPr marL="177800" indent="-177800">
              <a:buSzPct val="100000"/>
              <a:buChar char="•"/>
            </a:pPr>
            <a:r>
              <a:rPr lang="en-US" dirty="0">
                <a:solidFill>
                  <a:srgbClr val="F6F1E8"/>
                </a:solidFill>
                <a:latin typeface="Rockwell" panose="02060603020205020403" pitchFamily="18" charset="0"/>
              </a:rPr>
              <a:t>Step 4: re-test under rotation, varied data cardinality, and accessibility text scaling. A production layout is not complete until it survives all three.</a:t>
            </a:r>
            <a:endParaRPr lang="en-US" dirty="0">
              <a:latin typeface="Rockwell" panose="02060603020205020403" pitchFamily="18" charset="0"/>
            </a:endParaRPr>
          </a:p>
        </p:txBody>
      </p:sp>
      <p:sp>
        <p:nvSpPr>
          <p:cNvPr id="9" name="Shape 7"/>
          <p:cNvSpPr/>
          <p:nvPr/>
        </p:nvSpPr>
        <p:spPr>
          <a:xfrm>
            <a:off x="8183880" y="1325880"/>
            <a:ext cx="1600200" cy="2148840"/>
          </a:xfrm>
          <a:prstGeom prst="roundRect">
            <a:avLst>
              <a:gd name="adj" fmla="val 4571"/>
            </a:avLst>
          </a:prstGeom>
          <a:solidFill>
            <a:srgbClr val="F7F7F7"/>
          </a:solidFill>
          <a:ln w="12700">
            <a:solidFill>
              <a:srgbClr val="F2C300"/>
            </a:solidFill>
            <a:prstDash val="solid"/>
          </a:ln>
        </p:spPr>
      </p:sp>
      <p:pic>
        <p:nvPicPr>
          <p:cNvPr id="10" name="Image 0" descr="/mnt/data/render/page-225.png"/>
          <p:cNvPicPr>
            <a:picLocks noChangeAspect="1"/>
          </p:cNvPicPr>
          <p:nvPr/>
        </p:nvPicPr>
        <p:blipFill>
          <a:blip r:embed="rId3"/>
          <a:stretch>
            <a:fillRect/>
          </a:stretch>
        </p:blipFill>
        <p:spPr>
          <a:xfrm>
            <a:off x="8299063" y="1362456"/>
            <a:ext cx="1369834" cy="2075688"/>
          </a:xfrm>
          <a:prstGeom prst="rect">
            <a:avLst/>
          </a:prstGeom>
        </p:spPr>
      </p:pic>
      <p:sp>
        <p:nvSpPr>
          <p:cNvPr id="11" name="Shape 8"/>
          <p:cNvSpPr/>
          <p:nvPr/>
        </p:nvSpPr>
        <p:spPr>
          <a:xfrm>
            <a:off x="9966960" y="1325880"/>
            <a:ext cx="1600200" cy="2148840"/>
          </a:xfrm>
          <a:prstGeom prst="roundRect">
            <a:avLst>
              <a:gd name="adj" fmla="val 4571"/>
            </a:avLst>
          </a:prstGeom>
          <a:solidFill>
            <a:srgbClr val="F7F7F7"/>
          </a:solidFill>
          <a:ln w="12700">
            <a:solidFill>
              <a:srgbClr val="F2C300"/>
            </a:solidFill>
            <a:prstDash val="solid"/>
          </a:ln>
        </p:spPr>
      </p:sp>
      <p:pic>
        <p:nvPicPr>
          <p:cNvPr id="12" name="Image 1" descr="/mnt/data/render/page-231.png"/>
          <p:cNvPicPr>
            <a:picLocks noChangeAspect="1"/>
          </p:cNvPicPr>
          <p:nvPr/>
        </p:nvPicPr>
        <p:blipFill>
          <a:blip r:embed="rId4"/>
          <a:stretch>
            <a:fillRect/>
          </a:stretch>
        </p:blipFill>
        <p:spPr>
          <a:xfrm>
            <a:off x="10082143" y="1362456"/>
            <a:ext cx="1369834" cy="2075688"/>
          </a:xfrm>
          <a:prstGeom prst="rect">
            <a:avLst/>
          </a:prstGeom>
        </p:spPr>
      </p:pic>
      <p:sp>
        <p:nvSpPr>
          <p:cNvPr id="13" name="Shape 9"/>
          <p:cNvSpPr/>
          <p:nvPr/>
        </p:nvSpPr>
        <p:spPr>
          <a:xfrm>
            <a:off x="8183880" y="3657600"/>
            <a:ext cx="3383280" cy="2011680"/>
          </a:xfrm>
          <a:prstGeom prst="roundRect">
            <a:avLst>
              <a:gd name="adj" fmla="val 3636"/>
            </a:avLst>
          </a:prstGeom>
          <a:solidFill>
            <a:srgbClr val="F7F7F7"/>
          </a:solidFill>
          <a:ln w="12700">
            <a:solidFill>
              <a:srgbClr val="F2C300"/>
            </a:solidFill>
            <a:prstDash val="solid"/>
          </a:ln>
        </p:spPr>
      </p:sp>
      <p:pic>
        <p:nvPicPr>
          <p:cNvPr id="14" name="Image 2" descr="/mnt/data/render/page-241.png"/>
          <p:cNvPicPr>
            <a:picLocks noChangeAspect="1"/>
          </p:cNvPicPr>
          <p:nvPr/>
        </p:nvPicPr>
        <p:blipFill>
          <a:blip r:embed="rId5"/>
          <a:stretch>
            <a:fillRect/>
          </a:stretch>
        </p:blipFill>
        <p:spPr>
          <a:xfrm>
            <a:off x="9235862" y="3694176"/>
            <a:ext cx="1279317" cy="1938528"/>
          </a:xfrm>
          <a:prstGeom prst="rect">
            <a:avLst/>
          </a:prstGeom>
        </p:spPr>
      </p:pic>
      <p:sp>
        <p:nvSpPr>
          <p:cNvPr id="16" name="Text 10"/>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39</a:t>
            </a:r>
            <a:endParaRPr lang="en-US" sz="900" dirty="0"/>
          </a:p>
        </p:txBody>
      </p:sp>
      <p:sp>
        <p:nvSpPr>
          <p:cNvPr id="17" name="Text 11"/>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111111"/>
          </a:solidFill>
          <a:ln w="12700">
            <a:solidFill>
              <a:srgbClr val="111111"/>
            </a:solidFill>
            <a:prstDash val="solid"/>
          </a:ln>
        </p:spPr>
      </p:sp>
      <p:sp>
        <p:nvSpPr>
          <p:cNvPr id="3" name="Shape 1"/>
          <p:cNvSpPr/>
          <p:nvPr/>
        </p:nvSpPr>
        <p:spPr>
          <a:xfrm>
            <a:off x="0" y="0"/>
            <a:ext cx="12191695" cy="219456"/>
          </a:xfrm>
          <a:prstGeom prst="rect">
            <a:avLst/>
          </a:prstGeom>
          <a:solidFill>
            <a:srgbClr val="F2C300"/>
          </a:solidFill>
          <a:ln w="12700">
            <a:solidFill>
              <a:srgbClr val="F2C300"/>
            </a:solidFill>
            <a:prstDash val="solid"/>
          </a:ln>
        </p:spPr>
      </p:sp>
      <p:sp>
        <p:nvSpPr>
          <p:cNvPr id="4" name="Shape 2"/>
          <p:cNvSpPr/>
          <p:nvPr/>
        </p:nvSpPr>
        <p:spPr>
          <a:xfrm>
            <a:off x="0" y="6473952"/>
            <a:ext cx="12191695" cy="0"/>
          </a:xfrm>
          <a:prstGeom prst="line">
            <a:avLst/>
          </a:prstGeom>
          <a:noFill/>
          <a:ln w="12700">
            <a:solidFill>
              <a:srgbClr val="444444"/>
            </a:solidFill>
            <a:prstDash val="solid"/>
          </a:ln>
        </p:spPr>
      </p:sp>
      <p:sp>
        <p:nvSpPr>
          <p:cNvPr id="5" name="Text 3"/>
          <p:cNvSpPr/>
          <p:nvPr/>
        </p:nvSpPr>
        <p:spPr>
          <a:xfrm>
            <a:off x="411480" y="310896"/>
            <a:ext cx="2926080" cy="228600"/>
          </a:xfrm>
          <a:prstGeom prst="rect">
            <a:avLst/>
          </a:prstGeom>
          <a:noFill/>
          <a:ln/>
        </p:spPr>
        <p:txBody>
          <a:bodyPr wrap="square" rtlCol="0" anchor="ctr"/>
          <a:lstStyle/>
          <a:p>
            <a:pPr marL="0" indent="0">
              <a:buNone/>
            </a:pPr>
            <a:r>
              <a:rPr lang="en-US" sz="1400" b="1" dirty="0">
                <a:solidFill>
                  <a:srgbClr val="FFD95A"/>
                </a:solidFill>
                <a:latin typeface="Rockwell" panose="02060603020205020403" pitchFamily="18" charset="0"/>
                <a:ea typeface="Aptos" pitchFamily="34" charset="-122"/>
                <a:cs typeface="Aptos" pitchFamily="34" charset="-120"/>
              </a:rPr>
              <a:t>FINAL REVIEW</a:t>
            </a:r>
            <a:endParaRPr lang="en-US" sz="1400" dirty="0">
              <a:latin typeface="Rockwell" panose="02060603020205020403" pitchFamily="18" charset="0"/>
            </a:endParaRPr>
          </a:p>
        </p:txBody>
      </p:sp>
      <p:sp>
        <p:nvSpPr>
          <p:cNvPr id="6" name="Text 4"/>
          <p:cNvSpPr/>
          <p:nvPr/>
        </p:nvSpPr>
        <p:spPr>
          <a:xfrm>
            <a:off x="411480" y="566928"/>
            <a:ext cx="7863840" cy="420624"/>
          </a:xfrm>
          <a:prstGeom prst="rect">
            <a:avLst/>
          </a:prstGeom>
          <a:noFill/>
          <a:ln/>
        </p:spPr>
        <p:txBody>
          <a:bodyPr wrap="square" lIns="0" tIns="0" rIns="0" bIns="0" rtlCol="0" anchor="ctr"/>
          <a:lstStyle/>
          <a:p>
            <a:pPr marL="0" indent="0">
              <a:buNone/>
            </a:pPr>
            <a:r>
              <a:rPr lang="en-US" sz="2400" b="1" dirty="0">
                <a:solidFill>
                  <a:srgbClr val="F6F1E8"/>
                </a:solidFill>
                <a:latin typeface="Rockwell" panose="02060603020205020403" pitchFamily="18" charset="0"/>
                <a:ea typeface="Aptos Display" pitchFamily="34" charset="-122"/>
                <a:cs typeface="Aptos Display" pitchFamily="34" charset="-120"/>
              </a:rPr>
              <a:t>Final recap and study prompts</a:t>
            </a:r>
            <a:endParaRPr lang="en-US" sz="2400" dirty="0">
              <a:latin typeface="Rockwell" panose="02060603020205020403" pitchFamily="18" charset="0"/>
            </a:endParaRPr>
          </a:p>
        </p:txBody>
      </p:sp>
      <p:sp>
        <p:nvSpPr>
          <p:cNvPr id="7" name="Text 5"/>
          <p:cNvSpPr/>
          <p:nvPr/>
        </p:nvSpPr>
        <p:spPr>
          <a:xfrm>
            <a:off x="429768" y="1024128"/>
            <a:ext cx="7589520" cy="256032"/>
          </a:xfrm>
          <a:prstGeom prst="rect">
            <a:avLst/>
          </a:prstGeom>
          <a:noFill/>
          <a:ln/>
        </p:spPr>
        <p:txBody>
          <a:bodyPr wrap="square" lIns="0" tIns="0" rIns="0" bIns="0" rtlCol="0" anchor="ctr"/>
          <a:lstStyle/>
          <a:p>
            <a:pPr marL="0" indent="0">
              <a:buNone/>
            </a:pPr>
            <a:r>
              <a:rPr lang="en-US" sz="1200" i="1" dirty="0">
                <a:solidFill>
                  <a:srgbClr val="C8C4BC"/>
                </a:solidFill>
                <a:latin typeface="Rockwell" panose="02060603020205020403" pitchFamily="18" charset="0"/>
              </a:rPr>
              <a:t>Use these questions to test conceptual mastery</a:t>
            </a:r>
            <a:endParaRPr lang="en-US" sz="1200" dirty="0">
              <a:latin typeface="Rockwell" panose="02060603020205020403" pitchFamily="18" charset="0"/>
            </a:endParaRPr>
          </a:p>
        </p:txBody>
      </p:sp>
      <p:graphicFrame>
        <p:nvGraphicFramePr>
          <p:cNvPr id="41" name="Table 0"/>
          <p:cNvGraphicFramePr>
            <a:graphicFrameLocks noGrp="1"/>
          </p:cNvGraphicFramePr>
          <p:nvPr>
            <p:extLst>
              <p:ext uri="{D42A27DB-BD31-4B8C-83A1-F6EECF244321}">
                <p14:modId xmlns:p14="http://schemas.microsoft.com/office/powerpoint/2010/main" val="3072601093"/>
              </p:ext>
            </p:extLst>
          </p:nvPr>
        </p:nvGraphicFramePr>
        <p:xfrm>
          <a:off x="429768" y="1459775"/>
          <a:ext cx="10908792" cy="2997600"/>
        </p:xfrm>
        <a:graphic>
          <a:graphicData uri="http://schemas.openxmlformats.org/drawingml/2006/table">
            <a:tbl>
              <a:tblPr/>
              <a:tblGrid>
                <a:gridCol w="3090824">
                  <a:extLst>
                    <a:ext uri="{9D8B030D-6E8A-4147-A177-3AD203B41FA5}">
                      <a16:colId xmlns:a16="http://schemas.microsoft.com/office/drawing/2014/main" val="20000"/>
                    </a:ext>
                  </a:extLst>
                </a:gridCol>
                <a:gridCol w="7817968">
                  <a:extLst>
                    <a:ext uri="{9D8B030D-6E8A-4147-A177-3AD203B41FA5}">
                      <a16:colId xmlns:a16="http://schemas.microsoft.com/office/drawing/2014/main" val="20001"/>
                    </a:ext>
                  </a:extLst>
                </a:gridCol>
              </a:tblGrid>
              <a:tr h="416239">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Prompt</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What a strong answer should mention</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0"/>
                  </a:ext>
                </a:extLst>
              </a:tr>
              <a:tr h="582961">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Why are overflow bars useful if the app still runs?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Debug-only diagnostic, hidden clipping risk in release, constraint policy still unresolved</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1"/>
                  </a:ext>
                </a:extLst>
              </a:tr>
              <a:tr h="416239">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When is Wrap better than ListView?</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Need simultaneous visibility and natural reflow of discrete items</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2"/>
                  </a:ext>
                </a:extLst>
              </a:tr>
              <a:tr h="582961">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Why is ListView.builder preferred for remote data?</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Lazy construction, data-to-widget factory separation, scalability</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3"/>
                  </a:ext>
                </a:extLst>
              </a:tr>
              <a:tr h="416239">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How do Expanded and Spacer differ?</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Both flex-based; Expanded contains content, Spacer is empty space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4"/>
                  </a:ext>
                </a:extLst>
              </a:tr>
              <a:tr h="582961">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When would IntrinsicWidth be more appropriate than stretch alone?</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tc>
                  <a:txBody>
                    <a:bodyPr/>
                    <a:lstStyle/>
                    <a:p>
                      <a:pPr marL="0" indent="0" algn="l">
                        <a:buNone/>
                      </a:pPr>
                      <a:r>
                        <a:rPr lang="en-US" sz="1300" dirty="0">
                          <a:solidFill>
                            <a:srgbClr val="F6F1E8"/>
                          </a:solidFill>
                          <a:latin typeface="Aptos" pitchFamily="34" charset="0"/>
                          <a:ea typeface="Aptos" pitchFamily="34" charset="-122"/>
                          <a:cs typeface="Aptos" pitchFamily="34" charset="-120"/>
                        </a:rPr>
                        <a:t>Need consistent control widths without wasting full-screen width</a:t>
                      </a:r>
                      <a:endParaRPr lang="en-US" sz="1300" dirty="0">
                        <a:latin typeface="Aptos" charset="0"/>
                        <a:ea typeface="Aptos" charset="0"/>
                        <a:cs typeface="Aptos" charset="0"/>
                      </a:endParaRPr>
                    </a:p>
                  </a:txBody>
                  <a:tcPr marL="54864" marR="54864" marT="54864" marB="54864">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B1B1B"/>
                    </a:solidFill>
                  </a:tcPr>
                </a:tc>
                <a:extLst>
                  <a:ext uri="{0D108BD9-81ED-4DB2-BD59-A6C34878D82A}">
                    <a16:rowId xmlns:a16="http://schemas.microsoft.com/office/drawing/2014/main" val="10005"/>
                  </a:ext>
                </a:extLst>
              </a:tr>
            </a:tbl>
          </a:graphicData>
        </a:graphic>
      </p:graphicFrame>
      <p:sp>
        <p:nvSpPr>
          <p:cNvPr id="9" name="Shape 6"/>
          <p:cNvSpPr/>
          <p:nvPr/>
        </p:nvSpPr>
        <p:spPr>
          <a:xfrm>
            <a:off x="354330" y="4685974"/>
            <a:ext cx="10587446" cy="1403931"/>
          </a:xfrm>
          <a:prstGeom prst="roundRect">
            <a:avLst>
              <a:gd name="adj" fmla="val 10345"/>
            </a:avLst>
          </a:prstGeom>
          <a:solidFill>
            <a:srgbClr val="202020"/>
          </a:solidFill>
          <a:ln w="12700">
            <a:solidFill>
              <a:srgbClr val="F2C300"/>
            </a:solidFill>
            <a:prstDash val="solid"/>
          </a:ln>
        </p:spPr>
      </p:sp>
      <p:sp>
        <p:nvSpPr>
          <p:cNvPr id="10" name="Text 7"/>
          <p:cNvSpPr/>
          <p:nvPr/>
        </p:nvSpPr>
        <p:spPr>
          <a:xfrm>
            <a:off x="538843" y="4685974"/>
            <a:ext cx="10262507" cy="1147897"/>
          </a:xfrm>
          <a:prstGeom prst="rect">
            <a:avLst/>
          </a:prstGeom>
          <a:noFill/>
          <a:ln/>
        </p:spPr>
        <p:txBody>
          <a:bodyPr wrap="square" lIns="0" tIns="0" rIns="0" bIns="0" rtlCol="0" anchor="ctr">
            <a:normAutofit/>
          </a:bodyPr>
          <a:lstStyle/>
          <a:p>
            <a:pPr marL="0" indent="0">
              <a:buNone/>
            </a:pPr>
            <a:r>
              <a:rPr lang="en-US" sz="2000" b="1" dirty="0">
                <a:solidFill>
                  <a:srgbClr val="FFD95A"/>
                </a:solidFill>
                <a:latin typeface="Rockwell" panose="02060603020205020403" pitchFamily="18" charset="0"/>
              </a:rPr>
              <a:t>Recommended practice lab: rebuild the same UI three ways - Wrap, ListView.builder, and GridView.extent - then explain the trade-offs.</a:t>
            </a:r>
            <a:endParaRPr lang="en-US" sz="2000" dirty="0">
              <a:latin typeface="Rockwell" panose="02060603020205020403" pitchFamily="18" charset="0"/>
            </a:endParaRPr>
          </a:p>
        </p:txBody>
      </p:sp>
      <p:sp>
        <p:nvSpPr>
          <p:cNvPr id="12" name="Text 8"/>
          <p:cNvSpPr/>
          <p:nvPr/>
        </p:nvSpPr>
        <p:spPr>
          <a:xfrm>
            <a:off x="11658600" y="310896"/>
            <a:ext cx="228600" cy="146304"/>
          </a:xfrm>
          <a:prstGeom prst="rect">
            <a:avLst/>
          </a:prstGeom>
          <a:noFill/>
          <a:ln/>
        </p:spPr>
        <p:txBody>
          <a:bodyPr wrap="square" lIns="0" tIns="0" rIns="0" bIns="0" rtlCol="0" anchor="ctr"/>
          <a:lstStyle/>
          <a:p>
            <a:pPr marL="0" indent="0" algn="r">
              <a:buNone/>
            </a:pPr>
            <a:r>
              <a:rPr lang="en-US" sz="900" b="1" dirty="0">
                <a:solidFill>
                  <a:srgbClr val="111111"/>
                </a:solidFill>
              </a:rPr>
              <a:t>40</a:t>
            </a:r>
            <a:endParaRPr lang="en-US" sz="900" dirty="0"/>
          </a:p>
        </p:txBody>
      </p:sp>
      <p:sp>
        <p:nvSpPr>
          <p:cNvPr id="13" name="Text 9"/>
          <p:cNvSpPr/>
          <p:nvPr/>
        </p:nvSpPr>
        <p:spPr>
          <a:xfrm>
            <a:off x="411480" y="6428232"/>
            <a:ext cx="2286000" cy="146304"/>
          </a:xfrm>
          <a:prstGeom prst="rect">
            <a:avLst/>
          </a:prstGeom>
          <a:noFill/>
          <a:ln/>
        </p:spPr>
        <p:txBody>
          <a:bodyPr wrap="square" lIns="0" tIns="0" rIns="0" bIns="0" rtlCol="0" anchor="ctr"/>
          <a:lstStyle/>
          <a:p>
            <a:pPr marL="0" indent="0">
              <a:buNone/>
            </a:pPr>
            <a:r>
              <a:rPr lang="en-US" sz="800" dirty="0">
                <a:solidFill>
                  <a:srgbClr val="8C8C8C"/>
                </a:solidFill>
              </a:rPr>
              <a:t>Flutter layout lecture deck</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6344</Words>
  <Application>Microsoft Office PowerPoint</Application>
  <PresentationFormat>Widescreen</PresentationFormat>
  <Paragraphs>605</Paragraphs>
  <Slides>40</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Aptos Display</vt:lpstr>
      <vt:lpstr>Arial</vt:lpstr>
      <vt:lpstr>Calibri</vt:lpstr>
      <vt:lpstr>Consolas</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Layout: Fixing Overflows and Filling Extra Space</dc:title>
  <dc:subject>Flutter layout chapters 13 and 14</dc:subject>
  <dc:creator>OpenAI</dc:creator>
  <cp:lastModifiedBy>CTS</cp:lastModifiedBy>
  <cp:revision>39</cp:revision>
  <dcterms:created xsi:type="dcterms:W3CDTF">2026-03-31T21:17:10Z</dcterms:created>
  <dcterms:modified xsi:type="dcterms:W3CDTF">2026-03-31T22:32:26Z</dcterms:modified>
</cp:coreProperties>
</file>