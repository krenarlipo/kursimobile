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0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65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9B30F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1005840"/>
            <a:ext cx="4114800" cy="411480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11480" y="14630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FFFF"/>
                </a:solidFill>
              </a:rPr>
              <a:t>Flutter Space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11480" y="214884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00D4FF"/>
                </a:solidFill>
              </a:rPr>
              <a:t>Shooter Game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411480" y="2907792"/>
            <a:ext cx="29260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175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9E0"/>
                </a:solidFill>
              </a:rPr>
              <a:t>Full Code · Firebase Integration · Publishing on Play Store &amp; App Store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206240"/>
            <a:ext cx="1554480" cy="292608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206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Flutter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30552" y="4206240"/>
            <a:ext cx="1554480" cy="292608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30552" y="4206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Flame Engine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9624" y="4206240"/>
            <a:ext cx="1554480" cy="292608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9624" y="4206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Firebase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68696" y="4206240"/>
            <a:ext cx="1554480" cy="292608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68696" y="4206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Google Play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87768" y="4206240"/>
            <a:ext cx="1554480" cy="292608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87768" y="4206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</a:rPr>
              <a:t>App Store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 / 35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We'll Cover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A complete end-to-end Flutter game development journey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91640"/>
            <a:ext cx="457200" cy="47548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6916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01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60120" y="1691640"/>
            <a:ext cx="7772400" cy="475488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17282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Game Design &amp;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193852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Screen flow, components, game loop logic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331720"/>
            <a:ext cx="457200" cy="47548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33172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02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0120" y="2331720"/>
            <a:ext cx="7772400" cy="475488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23682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Flutter / Flame 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257860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Every widget, component, and Dart file explained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971800"/>
            <a:ext cx="457200" cy="475488"/>
          </a:xfrm>
          <a:prstGeom prst="rect">
            <a:avLst/>
          </a:prstGeom>
          <a:solidFill>
            <a:srgbClr val="FFCA28">
              <a:alpha val="80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718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A28"/>
                </a:solidFill>
              </a:rPr>
              <a:t>03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60120" y="2971800"/>
            <a:ext cx="7772400" cy="475488"/>
          </a:xfrm>
          <a:prstGeom prst="rect">
            <a:avLst/>
          </a:prstGeom>
          <a:solidFill>
            <a:srgbClr val="0D1526"/>
          </a:solidFill>
          <a:ln w="6350">
            <a:solidFill>
              <a:srgbClr val="FFCA28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3008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Firebase Integration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321868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Auth, Firestore — save &amp; retrieve player scores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3611880"/>
            <a:ext cx="457200" cy="475488"/>
          </a:xfrm>
          <a:prstGeom prst="rect">
            <a:avLst/>
          </a:prstGeom>
          <a:solidFill>
            <a:srgbClr val="3DDC84">
              <a:alpha val="80000"/>
            </a:srgb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611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84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60120" y="3611880"/>
            <a:ext cx="7772400" cy="47548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43000" y="3648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Play Store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385876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Signing, build configs, store listing, release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480" y="4251960"/>
            <a:ext cx="457200" cy="475488"/>
          </a:xfrm>
          <a:prstGeom prst="rect">
            <a:avLst/>
          </a:prstGeom>
          <a:solidFill>
            <a:srgbClr val="D8D8D8">
              <a:alpha val="80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51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8D8D8"/>
                </a:solidFill>
              </a:rPr>
              <a:t>05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60120" y="4251960"/>
            <a:ext cx="7772400" cy="475488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42885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Apple App Store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" y="449884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Provisioning, Xcode settings, TestFlight, review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 / 35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GAME DESIGN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Game Overview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Core mechanics and screen flow at a glance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91640"/>
            <a:ext cx="265176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1691640"/>
            <a:ext cx="54864" cy="1417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072" y="21305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Instruction Screen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" y="237744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Shows controls, movement keys, how to shoot. Two buttons: Instructions &amp; Play.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691640"/>
            <a:ext cx="265176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9B30F5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1691640"/>
            <a:ext cx="54864" cy="1417320"/>
          </a:xfrm>
          <a:prstGeom prst="rect">
            <a:avLst/>
          </a:prstGeom>
          <a:solidFill>
            <a:srgbClr val="9B30F5"/>
          </a:solidFill>
          <a:ln w="12700">
            <a:solidFill>
              <a:srgbClr val="9B30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56432" y="21305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30F5"/>
                </a:solidFill>
              </a:rPr>
              <a:t>Play Screen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237744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Full game canvas. Player fires bullets, enemies spawn and accelerate every 10s.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1691640"/>
            <a:ext cx="265176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FF3A5E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691640"/>
            <a:ext cx="54864" cy="1417320"/>
          </a:xfrm>
          <a:prstGeom prst="rect">
            <a:avLst/>
          </a:prstGeom>
          <a:solidFill>
            <a:srgbClr val="FF3A5E"/>
          </a:solidFill>
          <a:ln w="12700">
            <a:solidFill>
              <a:srgbClr val="FF3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💀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36792" y="21305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A5E"/>
                </a:solidFill>
              </a:rPr>
              <a:t>Game Over Screen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36792" y="237744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HP reaches 0 → Game Over. Player submits unique email. Redirected to Play screen.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3337560"/>
            <a:ext cx="265176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FF7B35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11480" y="3337560"/>
            <a:ext cx="54864" cy="1417320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❤️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76072" y="37764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7B35"/>
                </a:solidFill>
              </a:rPr>
              <a:t>HP Bar System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" y="40233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Player has an HP bar. Small enemies = −15 HP. Large enemies = −20 HP.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3337560"/>
            <a:ext cx="265176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00FF88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91840" y="3337560"/>
            <a:ext cx="54864" cy="14173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56432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456432" y="37764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88"/>
                </a:solidFill>
              </a:rPr>
              <a:t>Speed Escalation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56432" y="40233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Enemy speed increases every 10 seconds. No levels — endless survival mode.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3337560"/>
            <a:ext cx="2651760" cy="1417320"/>
          </a:xfrm>
          <a:prstGeom prst="rect">
            <a:avLst/>
          </a:prstGeom>
          <a:solidFill>
            <a:srgbClr val="0D1526"/>
          </a:solidFill>
          <a:ln w="12700">
            <a:solidFill>
              <a:srgbClr val="FFCA28">
                <a:alpha val="5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3337560"/>
            <a:ext cx="54864" cy="1417320"/>
          </a:xfrm>
          <a:prstGeom prst="rect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336792" y="37764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A28"/>
                </a:solidFill>
              </a:rPr>
              <a:t>Score + Email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36792" y="402336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On game over, enter a unique email. Score stored to Firebase (covered in Part 2).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3 / 35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Structure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File layout and responsibility of each layer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5303520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50840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main.dart                  ← App entry point, routes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screens/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instruction_screen.dart ← Controls tutorial UI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play_screen.dart        ← GameWidget host + HUD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game_over_screen.dart   ← Email form + redirect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game/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space_game.dart         ← FlameGame subclass (game loop)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player.dart             ← Player spaceship component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enemy.dart              ← Enemy component (2 types)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bullet.dart             ← Bullet projectile component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enemy_spawner.dart      ← Timed spawn + speed escalation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widgets/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hp_bar.dart             ← HP overlay widget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score_display.dart      ← Score counter overlay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services/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auth_service.dart       ← Firebase Auth helper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score_service.dart      ← Firestore read/write helper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52160" y="1664208"/>
            <a:ext cx="2926080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1755648"/>
            <a:ext cx="270662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pubspec.yaml  —  Key dependencies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flutter: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sdk: flutter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flame: ^1.17.0          # Game engine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firebase_core: ^2.31.1  # Firebase init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firebase_auth: ^4.19.6  # Authentication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cloud_firestore: ^4.17.3 # Database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google_fonts: ^6.2.1    # Fonts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dev_dependencies: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flutter_test: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sdk: flutter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flutter_lints: ^4.0.0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4 / 35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main.dart — App Entry Point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Initializes Firebase and sets up named routes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7950877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3759539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lib/main.dart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'package:flutter/material.dart';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'package:firebase_core/firebase_core.dart';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'screens/instruction_screen.dart';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'screens/play_screen.dart';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'screens/game_over_screen.dart';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'firebase_options.dart'; // generated by FlutterFire CLI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main() async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WidgetsFlutterBinding.ensureInitialized();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Firebase.initializeApp(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options: DefaultFirebaseOptions.currentPlatform,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runApp(const SpaceShooterApp());</a:t>
            </a:r>
            <a:endParaRPr lang="en-US" sz="1000" dirty="0"/>
          </a:p>
          <a:p>
            <a:pPr marL="0" indent="0">
              <a:buNone/>
            </a:pPr>
            <a:r>
              <a:rPr lang="en-US" sz="7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1480" y="50474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C9E0"/>
                </a:solidFill>
              </a:rPr>
              <a:t>💡  WidgetsFlutterBinding.ensureInitialized() must be called before any async work in main(). Firebase.initializeApp() loads config from firebase_options.dart (auto-generated).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5 / 35</a:t>
            </a:r>
            <a:endParaRPr lang="en-US" sz="8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62E57DD6-A3D7-430B-BF54-DAC306526E49}"/>
              </a:ext>
            </a:extLst>
          </p:cNvPr>
          <p:cNvSpPr/>
          <p:nvPr/>
        </p:nvSpPr>
        <p:spPr>
          <a:xfrm>
            <a:off x="4687486" y="1759881"/>
            <a:ext cx="3674872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SpaceShooterApp extends StatelessWidget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SpaceShooterApp({super.key});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MaterialApp(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title: 'Space Shooter',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debugShowCheckedModeBanner: false,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theme: ThemeData.dark().copyWith(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scaffoldBackgroundColor: const Color(0xFF080C18),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initialRoute: '/',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routes: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'/':         (_) =&gt; const InstructionScreen(),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'/play':     (_) =&gt; const PlayScreen(),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'/gameover': (_) =&gt; const GameOverScreen(),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InstructionScreen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Landing page with controls tutorial and navigation buttons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5074920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48554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lib/screens/instruction_screen.dart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InstructionScreen extends StatelessWidget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InstructionScreen({super.key});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Scaffold(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body: Stack(children: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_StarfieldBackground(),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Center(child: Column(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mainAxisAlignment: MainAxisAlignment.center,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children: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const Text('🚀  SPACE SHOOTER',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style: TextStyle(fontSize: 36, fontWeight: FontWeight.bold,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color: Color(0xFF00D4FF), letterSpacing: 4)),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const SizedBox(height: 40),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_InstructionCard(),  // ← shows movement keys &amp; shoot key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const SizedBox(height: 40),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Row(mainAxisAlignment: MainAxisAlignment.center,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children: 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_NavButton(label: 'INSTRUCTIONS',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onTap: () =&gt; showDialog(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context: context,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builder: (_) =&gt; const _ControlsDialog())),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const SizedBox(width: 24),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16693" y="227118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InstructionCard — Controls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2595881"/>
            <a:ext cx="3063240" cy="438912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69248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 →  or  A  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2637026"/>
            <a:ext cx="1280160" cy="342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Move left / right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4708" y="3209037"/>
            <a:ext cx="3063240" cy="438912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3329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 or  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3339277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Accelerate forward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4708" y="3775964"/>
            <a:ext cx="3063240" cy="438912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16600" y="3872569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 or  Tap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5520" y="38816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Fire bullet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4708" y="4389120"/>
            <a:ext cx="3063240" cy="438912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4488519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42632" y="4498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Pause game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6 / 35</a:t>
            </a:r>
            <a:endParaRPr lang="en-US" sz="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633FDA-505A-4EA8-8991-493CC37C2433}"/>
              </a:ext>
            </a:extLst>
          </p:cNvPr>
          <p:cNvSpPr/>
          <p:nvPr/>
        </p:nvSpPr>
        <p:spPr>
          <a:xfrm>
            <a:off x="5669280" y="530352"/>
            <a:ext cx="320040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r>
              <a:rPr lang="en-US" sz="80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NavButton</a:t>
            </a: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label: 'PLAY',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80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isPrimary</a:t>
            </a: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true,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</a:t>
            </a:r>
            <a:r>
              <a:rPr lang="en-US" sz="80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onTap</a:t>
            </a: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() =&gt; </a:t>
            </a:r>
            <a:r>
              <a:rPr lang="en-US" sz="80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Navigator.pushReplacementNamed</a:t>
            </a: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context, '/play')),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]),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]),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]),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00" dirty="0"/>
          </a:p>
          <a:p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9B30F5">
              <a:alpha val="80000"/>
            </a:srgbClr>
          </a:solidFill>
          <a:ln w="12700">
            <a:solidFill>
              <a:srgbClr val="9B3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FLAME ENGINE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Flame Game Engine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How FlameGame, Component, and the game loop work together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4069080" cy="13716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664208"/>
            <a:ext cx="54864" cy="1371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1773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FlameGame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20848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</a:rPr>
              <a:t>The root game class. Override onLoad() to set up components, and update(dt) is the per-frame tick called automatically.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172968"/>
            <a:ext cx="4069080" cy="1371600"/>
          </a:xfrm>
          <a:prstGeom prst="rect">
            <a:avLst/>
          </a:prstGeom>
          <a:solidFill>
            <a:srgbClr val="0D1526"/>
          </a:solidFill>
          <a:ln w="12700">
            <a:solidFill>
              <a:srgbClr val="9B30F5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172968"/>
            <a:ext cx="54864" cy="1371600"/>
          </a:xfrm>
          <a:prstGeom prst="rect">
            <a:avLst/>
          </a:prstGeom>
          <a:solidFill>
            <a:srgbClr val="9B30F5"/>
          </a:solidFill>
          <a:ln w="12700">
            <a:solidFill>
              <a:srgbClr val="9B30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282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30F5"/>
                </a:solidFill>
              </a:rPr>
              <a:t>Component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" y="35935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</a:rPr>
              <a:t>Everything in the game is a Component: player, enemies, bullets. Each has onLoad(), update(dt), and render(canvas).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664208"/>
            <a:ext cx="4069080" cy="1371600"/>
          </a:xfrm>
          <a:prstGeom prst="rect">
            <a:avLst/>
          </a:prstGeom>
          <a:solidFill>
            <a:srgbClr val="0D1526"/>
          </a:solidFill>
          <a:ln w="1270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664208"/>
            <a:ext cx="54864" cy="13716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773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88"/>
                </a:solidFill>
              </a:rPr>
              <a:t>HasCollisionDetection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208483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</a:rPr>
              <a:t>Mixin added to FlameGame. Call add(ScreenHitbox()) to set boundaries. Components use RectangleHitbox for collision.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172968"/>
            <a:ext cx="4069080" cy="1371600"/>
          </a:xfrm>
          <a:prstGeom prst="rect">
            <a:avLst/>
          </a:prstGeom>
          <a:solidFill>
            <a:srgbClr val="0D1526"/>
          </a:solidFill>
          <a:ln w="12700">
            <a:solidFill>
              <a:srgbClr val="FF7B35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172968"/>
            <a:ext cx="54864" cy="1371600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2826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B35"/>
                </a:solidFill>
              </a:rPr>
              <a:t>FlameGame.camera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35935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</a:rPr>
              <a:t>Uses a CameraComponent with a FixedResolutionViewport to handle different screen sizes consistently.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246120"/>
            <a:ext cx="83210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3337560"/>
            <a:ext cx="8101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Game loop skeleton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SpaceGame extends FlameGame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HasCollisionDetection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Future&lt;void&gt; onLoad() async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add(ScreenHitbox());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add(Player());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add(EnemySpawner());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update(dt) is automatic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7 / 35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space_game.dart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Main FlameGame class — game state, HP tracking, score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8321040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398983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lib/game/space_game.dart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SpaceGame extends FlameGame with HasCollisionDetection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score = 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hp    = 100;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isGameOver = false;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 Player player;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ValueNotifier&lt;int&gt; hpNotifier    = ValueNotifier(100);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ValueNotifier&lt;int&gt; scoreNotifier = ValueNotifier(0);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Future&lt;void&gt; onLoad() async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camera.viewfinder.visibleGameSize = Vector2(400, 700);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add(ScreenHitbox());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 = Player();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add(player);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add(EnemySpawner());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Starfield background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add(ParallaxComponent.fromParallaxImages([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ParallaxImageData('stars_far.png'),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ParallaxImageData('stars_near.png'),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 velocityMultiplierDelta: Vector2(1.0, 1.8)));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8 / 35</a:t>
            </a:r>
            <a:endParaRPr lang="en-US" sz="8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8153ED2-3271-4CF5-B00A-3CB76125A3A8}"/>
              </a:ext>
            </a:extLst>
          </p:cNvPr>
          <p:cNvSpPr/>
          <p:nvPr/>
        </p:nvSpPr>
        <p:spPr>
          <a:xfrm>
            <a:off x="4382346" y="1822027"/>
            <a:ext cx="4240445" cy="3060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applyDamage(int dmg)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(isGameOver) return;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hp = (hp - dmg).clamp(0, 100);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hpNotifier.value = hp;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(hp &lt;= 0) triggerGameOver();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addScore(int pts)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pts;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scoreNotifier.value = score;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triggerGameOver()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isGameOver = true;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pauseEngine();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PlayScreen listens to hpNotifier and navigates when hp ==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player.dart — Spaceship Component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Handles movement, shooting, and keyboard / touch input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4352544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419303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lib/game/player.dart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Player extends SpriteComponent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HasGameRef&lt;SpaceGame&gt;, CollisionCallbacks,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KeyboardHandler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const double speed = 220;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Set&lt;LogicalKeyboardKey&gt; _keys = {};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Future&lt;void&gt; onLoad() async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sprite = await gameRef.loadSprite('player_ship.png');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   = Vector2(60, 80);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anchor = Anchor.center;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position = Vector2(gameRef.size.x / 2, gameRef.size.y - 100);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add(RectangleHitbox());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update(double dt)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(_keys.contains(LogicalKeyboardKey.arrowLeft)  ||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_keys.contains(LogicalKeyboardKey.keyA))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position.x -= speed * dt;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9 / 35</a:t>
            </a:r>
            <a:endParaRPr lang="en-US" sz="8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82A7AE1-2717-4CB7-8306-68D9026733DC}"/>
              </a:ext>
            </a:extLst>
          </p:cNvPr>
          <p:cNvSpPr/>
          <p:nvPr/>
        </p:nvSpPr>
        <p:spPr>
          <a:xfrm>
            <a:off x="4964852" y="1682496"/>
            <a:ext cx="4029795" cy="338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(_keys.contains(LogicalKeyboardKey.arrowRight) ||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_keys.contains(LogicalKeyboardKey.keyD))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position.x += speed * dt;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Clamp inside screen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position.x = position.x.clamp(size.x / 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gameRef.size.x - size.x / 2);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Auto-fire timer handled in EnemySpawner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shootBullet()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gameRef.add(Bullet(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position: position - Vector2(0, 40)));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onKeyEvent(KeyEvent e, Set&lt;LogicalKeyboardKey&gt; keys)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_keys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..clear()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..addAll(keys);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 is KeyDownEvent &amp;&amp;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e.logicalKey == LogicalKeyboardKey.space) shootBullet();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9B30F5">
              <a:alpha val="80000"/>
            </a:srgbClr>
          </a:solidFill>
          <a:ln w="12700">
            <a:solidFill>
              <a:srgbClr val="9B3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enemy.dart — Enemy Component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Two enemy types: small (−15 HP) and large (−20 HP)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8321040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4164584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lib/game/enemy.dart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enum EnemyType { small, large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Enemy extends SpriteComponent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with HasGameRef&lt;SpaceGame&gt;, CollisionCallbacks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final EnemyType type;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double speed; // mutable — escalated by EnemySpawner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Enemy({required this.type, required this.speed});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Future&lt;void&gt; onLoad() async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sprite = await gameRef.loadSprite(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type == EnemyType.small ? 'enemy_small.png' : 'enemy_large.png');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size = type == EnemyType.small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? Vector2(40, 40) : Vector2(64, 64);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anchor = Anchor.center;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add(RectangleHitbox());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10 / 35</a:t>
            </a:r>
            <a:endParaRPr lang="en-US" sz="8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51D8C19-8E11-4333-97AB-FB7999E02C40}"/>
              </a:ext>
            </a:extLst>
          </p:cNvPr>
          <p:cNvSpPr/>
          <p:nvPr/>
        </p:nvSpPr>
        <p:spPr>
          <a:xfrm>
            <a:off x="4795520" y="1792224"/>
            <a:ext cx="3827272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@override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void update(double dt)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position.y += speed * dt; // move downward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if (position.y &gt; gameRef.size.y + size.y)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removeFromParent(); // off-screen cleanup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void onCollisionStart(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Set&lt;Vector2&gt; pts, PositionComponent other)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super.onCollisionStart(pts, other);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if (other is Player)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final dmg = type == EnemyType.small ? 15 : 20;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gameRef.applyDamage(dmg);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removeFromParent();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79776" y="210312"/>
            <a:ext cx="6124449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bullet.dart &amp; enemy_spawner.dart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891540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Projectile physics and speed-escalation timer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27558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429173"/>
            <a:ext cx="4160520" cy="3572595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524000"/>
            <a:ext cx="3941064" cy="338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lib/game/bullet.dart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Bullet extends SpriteComponent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with HasGameRef&lt;SpaceGame&gt;, CollisionCallbacks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static const double _speed = 400;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Future&lt;void&gt; onLoad() async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sprite = await gameRef.loadSprite('bullet.png');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size   = Vector2(10, 28);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anchor = Anchor.center;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add(RectangleHitbox());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void update(double dt)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position.y -= _speed * dt; // moves up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if (position.y &lt; -size.y) removeFromParent();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void onCollisionStart(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Set&lt;Vector2&gt; pts, PositionComponent other)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if (other is Enemy)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gameRef.addScore(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other.type == EnemyType.small ? 10 : 25);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other.removeFromParent();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removeFromParent();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3"/>
            <a:ext cx="4114800" cy="4197096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955040"/>
            <a:ext cx="3895344" cy="395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lib/game/enemy_spawner.dart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EnemySpawner extends Component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with HasGameRef&lt;SpaceGame&gt;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double _spawnTimer 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double _speedTimer 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double _spawnRate   = 1.5; // seconds between spawns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double _enemySpeed  = 100;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void update(double dt)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_spawnTimer += dt;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_speedTimer += dt;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if (_spawnTimer &gt;= _spawnRate)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_spawnTimer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_spawnEnemy();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// Every 10 seconds, increase speed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if (_speedTimer &gt;= 10)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_speedTimer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_enemySpeed += 25;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_spawnRate  = (_spawnRate - 0.1).clamp(0.4, 1.5);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void _spawnEnemy()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final type = math.Random().nextBool()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? EnemyType.small : EnemyType.large;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final x = math.Random().nextDouble() *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(gameRef.size.x - 64) + 32;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gameRef.add(Enemy(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type: type, speed: _enemySpeed,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position: Vector2(x, -40)));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11 / 35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2055" y="216238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054" y="207942"/>
            <a:ext cx="15353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71800" y="141731"/>
            <a:ext cx="5007187" cy="44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hp_bar.dart &amp; play_screen.dart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" y="542461"/>
            <a:ext cx="4114800" cy="270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HP overlay widget and the GameWidget host screen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866479"/>
            <a:ext cx="1645920" cy="45719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042416"/>
            <a:ext cx="4160520" cy="39593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125221"/>
            <a:ext cx="3867912" cy="378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lib/widgets/hp_bar.dart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HpBar extends StatelessWidget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final ValueNotifier&lt;int&gt; hpNotifier;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const HpBar({required this.hpNotifier});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return ValueListenableBuilder&lt;int&gt;(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valueListenable: hpNotifier,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builder: (_, hp, __)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final pct = hp / 100;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Color barColor = pct &gt; 0.5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? Colors.greenAccent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: pct &gt; 0.25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? Colors.orangeAccent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: Colors.redAccent;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return Container(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width: 160, height: 18,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decoration: BoxDecoration(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color: Colors.black45,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borderRadius: BorderRadius.circular(9)),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child: FractionallySizedBox(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alignment: Alignment.centerLeft,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widthFactor: pct,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child: Container(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  decoration: BoxDecoration(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    color: barColor,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    borderRadius: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      BorderRadius.circular(9)))));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114800" cy="4197096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896112"/>
            <a:ext cx="3895344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lib/screens/play_screen.dart (simplified)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PlayScreen extends StatefulWidget { ...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_PlayScreenState extends State&lt;PlayScreen&gt;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late SpaceGame _game;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void initState()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super.initState();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_game = SpaceGame();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// Listen for game-over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_game.hpNotifier.addListener(()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if (_game.hpNotifier.value &lt;= 0)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Navigator.pushReplacementNamed(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context, '/gameover',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arguments: _game.score);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return Scaffold(body: Stack(children: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GameWidget(game: _game),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Positioned(top: 30, left: 16,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child: HpBar(hpNotifier: _game.hpNotifier)),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Positioned(top: 30, right: 16,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child: ScoreDisplay(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scoreNotifier: _game.scoreNotifier)),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// Mobile D-pad overlay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Positioned(bottom: 20, child: _MobileDpad(game: _game)),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]));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12 / 35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3A5E">
              <a:alpha val="80000"/>
            </a:srgbClr>
          </a:solidFill>
          <a:ln w="12700">
            <a:solidFill>
              <a:srgbClr val="FF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79427" y="45720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game_over_screen.dart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02166" y="659045"/>
            <a:ext cx="43163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Email submission form with duplicate check and redirect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033949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264583"/>
            <a:ext cx="8559800" cy="3737185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76" y="1523662"/>
            <a:ext cx="3925824" cy="3386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lib/screens/game_over_screen.dart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GameOverScreen extends StatefulWidget { ...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_GameOverState extends State&lt;GameOverScreen&gt;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final _ctrl = TextEditingController();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String? _error;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bool _submitted = false;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Future&lt;void&gt; _submit(int score) async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final email = _ctrl.text.trim();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if (!_isValidEmail(email))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setState(() =&gt; _error = 'Enter a valid email.');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return;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// Check uniqueness in Firestore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final exists = await ScoreService.emailExists(email);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if (exists)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setState(() =&gt; _error = 'Email already registered!');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return;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await ScoreService.saveScore(email: email, score: score);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setState(() =&gt; _submitted = true);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50474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C9E0"/>
                </a:solidFill>
              </a:rPr>
              <a:t>💡  The score is passed via route arguments. After submission the screen shows a Play Again button, which navigates to /play so the player can decide whether to start a new game.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13 / 35</a:t>
            </a:r>
            <a:endParaRPr lang="en-US" sz="8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B65519B-935E-40F5-8E5B-10A977B45564}"/>
              </a:ext>
            </a:extLst>
          </p:cNvPr>
          <p:cNvSpPr/>
          <p:nvPr/>
        </p:nvSpPr>
        <p:spPr>
          <a:xfrm>
            <a:off x="4727787" y="1287611"/>
            <a:ext cx="4108703" cy="329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@override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final score = ModalRoute.of(context)!.settings.arguments as int;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return Scaffold(body: Center(child: Column(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mainAxisAlignment: MainAxisAlignment.center,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children: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const Text('GAME OVER', style: TextStyle(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fontSize: 48, color: Color(0xFFFF3A5E),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fontWeight: FontWeight.bold, letterSpacing: 6)),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Text('Score: $score', style: const TextStyle(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fontSize: 28, color: Color(0xFF00D4FF))),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if (!_submitted) ...[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const SizedBox(height: 24),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_EmailField(ctrl: _ctrl, error: _error),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ElevatedButton(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onPressed: () =&gt; _submit(score),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child: const Text('SUBMIT &amp; CONTINUE')),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] else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TextButton(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onPressed: () =&gt; Navigator.pushReplacementNamed(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  context, '/play'),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child: const Text('▶  PLAY AGAIN')),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])));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Mobile D-Pad Overlay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7576" y="978408"/>
            <a:ext cx="37270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On-screen controls for touch devices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7576" y="1353651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581912"/>
            <a:ext cx="8536093" cy="3419856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4507992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Inside play_screen.dart — MobileDpad widget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_MobileDpad extends StatelessWidget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final SpaceGame game;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const _MobileDpad({required this.game});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Widget _btn(String label, VoidCallback onTap)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GestureDetector(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onTap: onTap,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child: Container(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width: 56, height: 56,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decoration: BoxDecoration(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color: Colors.white12,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border: Border.all(color: const Color(0xFF00D4FF), width: 1.5),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borderRadius: BorderRadius.circular(12)),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child: Center(child: Text(label,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style: const TextStyle(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color: Colors.white, fontSize: 22)))));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position.x</a:t>
            </a: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+= 14;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50474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C9E0"/>
                </a:solidFill>
              </a:rPr>
              <a:t>💡  The D-pad uses GestureDetector + direct method calls on the Player component. For continuous movement, wrap in a GestureDetector with onPanUpdate instead.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14 / 35</a:t>
            </a:r>
            <a:endParaRPr lang="en-US" sz="8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4E5AA43-0996-4A8B-90A9-A4CC5B2EE388}"/>
              </a:ext>
            </a:extLst>
          </p:cNvPr>
          <p:cNvSpPr/>
          <p:nvPr/>
        </p:nvSpPr>
        <p:spPr>
          <a:xfrm>
            <a:off x="5033264" y="1609343"/>
            <a:ext cx="3315547" cy="327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@override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Widget build(BuildContext context)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return Padding(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padding: const EdgeInsets.symmetric(horizontal: 24),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child: Row(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mainAxisAlignment: MainAxisAlignment.spaceBetween,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children: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Row(children: 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_btn('◀', () =&gt; game.player.moveLeft()),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const SizedBox(width: 12),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_btn('▶', () =&gt; game.player.moveRight()),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]),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_btn('🔥', () =&gt; game.player.shootBullet()),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]));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In Player — expose directional nudge methods: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void moveLeft()  =&gt; position.x -= 14;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void moveRight() =&gt; position.x += 14;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ASSETS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Assets, Audio &amp; Game Feel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Sprites, sound effects, and screen shake for polish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347472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32552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pubspec.yaml — assets block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assets/images/player_ship.png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assets/images/enemy_small.png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assets/images/enemy_large.png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assets/images/bullet.png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assets/images/stars_far.png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assets/images/stars_near.png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🔊 Add flame_audio for sound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flame_audio: ^2.1.1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566160"/>
            <a:ext cx="8321040" cy="1435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657600"/>
            <a:ext cx="810158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lib/game/space_game.dart — add audio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'package:flame_audio/flame_audio.dart';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@override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Future&lt;void&gt; onLoad() async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FlameAudio.audioCache.loadAll([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'shoot.wav', 'explosion.wav', 'game_over.mp3',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Bullet.onCollisionStart: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FlameAudio.play('explosion.wav');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Player.shootBullet():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FlameAudio.play('shoot.wav');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Screen shake on damage: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_shake()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effect = MoveEffect.by(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Vector2(8, 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SequenceEffectController([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LinearEffectController(0.05),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ReverseLinearEffectController(0.05),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LinearEffectController(0.05),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ReverseLinearEffectController(0.05),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camera.viewfinder.add(effect);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69080" y="1755648"/>
            <a:ext cx="46634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8105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</a:rPr>
              <a:t>Free sprite packs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1810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</a:rPr>
              <a:t>itch.io → kenney.nl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2185416"/>
            <a:ext cx="46634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2240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</a:rPr>
              <a:t>Free SFX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22402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</a:rPr>
              <a:t>freesound.org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69080" y="2615184"/>
            <a:ext cx="46634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670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</a:rPr>
              <a:t>Parallax bg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2670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</a:rPr>
              <a:t>ParallaxComponent in Flame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69080" y="3044952"/>
            <a:ext cx="46634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09981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</a:rPr>
              <a:t>Particle FX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30998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</a:rPr>
              <a:t>ParticleSystemComponent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15 / 35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00" y="914400"/>
            <a:ext cx="5486400" cy="5486400"/>
          </a:xfrm>
          <a:prstGeom prst="ellipse">
            <a:avLst/>
          </a:prstGeom>
          <a:solidFill>
            <a:srgbClr val="FFCA28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8229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🔥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1480" y="2011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800" dirty="0">
                <a:solidFill>
                  <a:srgbClr val="FFCA28"/>
                </a:solidFill>
              </a:rPr>
              <a:t>PART 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1480" y="25146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Firebase Integration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11480" y="3291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9E0"/>
                </a:solidFill>
              </a:rPr>
              <a:t>Authentication · Cloud Firestore · Score Saving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8680" y="4114800"/>
            <a:ext cx="1737360" cy="347472"/>
          </a:xfrm>
          <a:prstGeom prst="rect">
            <a:avLst/>
          </a:prstGeom>
          <a:solidFill>
            <a:srgbClr val="0D1526"/>
          </a:solidFill>
          <a:ln w="12700">
            <a:solidFill>
              <a:srgbClr val="FFCA28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A28"/>
                </a:solidFill>
              </a:rPr>
              <a:t>Email/Password Auth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88920" y="4114800"/>
            <a:ext cx="1737360" cy="347472"/>
          </a:xfrm>
          <a:prstGeom prst="rect">
            <a:avLst/>
          </a:prstGeom>
          <a:solidFill>
            <a:srgbClr val="0D1526"/>
          </a:solidFill>
          <a:ln w="12700">
            <a:solidFill>
              <a:srgbClr val="FFCA28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A28"/>
                </a:solidFill>
              </a:rPr>
              <a:t>Firestore Database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4114800"/>
            <a:ext cx="1737360" cy="347472"/>
          </a:xfrm>
          <a:prstGeom prst="rect">
            <a:avLst/>
          </a:prstGeom>
          <a:solidFill>
            <a:srgbClr val="0D1526"/>
          </a:solidFill>
          <a:ln w="12700">
            <a:solidFill>
              <a:srgbClr val="FFCA28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A28"/>
                </a:solidFill>
              </a:rPr>
              <a:t>Unique Email Guard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9400" y="4114800"/>
            <a:ext cx="1737360" cy="347472"/>
          </a:xfrm>
          <a:prstGeom prst="rect">
            <a:avLst/>
          </a:prstGeom>
          <a:solidFill>
            <a:srgbClr val="0D1526"/>
          </a:solidFill>
          <a:ln w="12700">
            <a:solidFill>
              <a:srgbClr val="FFCA28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A28"/>
                </a:solidFill>
              </a:rPr>
              <a:t>Score Retrieval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16 / 35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CA28">
              <a:alpha val="80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FIREBASE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Firebase Console Setup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Step-by-step: create project, enable Auth and Firestore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384048" cy="548640"/>
          </a:xfrm>
          <a:prstGeom prst="rect">
            <a:avLst/>
          </a:prstGeom>
          <a:solidFill>
            <a:srgbClr val="FFCA28">
              <a:alpha val="85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66420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A28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6968" y="1664208"/>
            <a:ext cx="7845552" cy="548640"/>
          </a:xfrm>
          <a:prstGeom prst="rect">
            <a:avLst/>
          </a:prstGeom>
          <a:solidFill>
            <a:srgbClr val="0D1526"/>
          </a:solidFill>
          <a:ln w="6350">
            <a:solidFill>
              <a:srgbClr val="FFCA28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170078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A28"/>
                </a:solidFill>
              </a:rPr>
              <a:t>Create Firebase Project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24128" y="192024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Go to console.firebase.google.com → Add project → name it 'SpaceShooterGame' → disable Google Analytics → Create.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322576"/>
            <a:ext cx="384048" cy="54864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322576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6968" y="2322576"/>
            <a:ext cx="7845552" cy="548640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235915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</a:rPr>
              <a:t>Enable Authentication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24128" y="25786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Build → Authentication → Get started → Sign-in method → Email/Password → Enable both Email/Password and Email link → Save.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2980944"/>
            <a:ext cx="384048" cy="548640"/>
          </a:xfrm>
          <a:prstGeom prst="rect">
            <a:avLst/>
          </a:prstGeom>
          <a:solidFill>
            <a:srgbClr val="00FF88">
              <a:alpha val="8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80944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86968" y="2980944"/>
            <a:ext cx="7845552" cy="548640"/>
          </a:xfrm>
          <a:prstGeom prst="rect">
            <a:avLst/>
          </a:prstGeom>
          <a:solidFill>
            <a:srgbClr val="0D1526"/>
          </a:solidFill>
          <a:ln w="6350">
            <a:solidFill>
              <a:srgbClr val="00FF88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30175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</a:rPr>
              <a:t>Create Firestore Database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24128" y="323697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Build → Firestore Database → Create database → Start in test mode (lock rules before production) → Choose region nearest users.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1480" y="3639312"/>
            <a:ext cx="384048" cy="548640"/>
          </a:xfrm>
          <a:prstGeom prst="rect">
            <a:avLst/>
          </a:prstGeom>
          <a:solidFill>
            <a:srgbClr val="9B30F5">
              <a:alpha val="85000"/>
            </a:srgbClr>
          </a:solidFill>
          <a:ln w="12700">
            <a:solidFill>
              <a:srgbClr val="9B30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639312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30F5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86968" y="3639312"/>
            <a:ext cx="7845552" cy="548640"/>
          </a:xfrm>
          <a:prstGeom prst="rect">
            <a:avLst/>
          </a:prstGeom>
          <a:solidFill>
            <a:srgbClr val="0D1526"/>
          </a:solidFill>
          <a:ln w="6350">
            <a:solidFill>
              <a:srgbClr val="9B30F5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367588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30F5"/>
                </a:solidFill>
              </a:rPr>
              <a:t>Register Flutter App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24128" y="389534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Project settings → Add app → Flutter icon → follow FlutterFire CLI wizard: `flutterfire configure --project=your-project-id`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4297680"/>
            <a:ext cx="384048" cy="548640"/>
          </a:xfrm>
          <a:prstGeom prst="rect">
            <a:avLst/>
          </a:prstGeom>
          <a:solidFill>
            <a:srgbClr val="FF7B35">
              <a:alpha val="85000"/>
            </a:srgbClr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29768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B35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86968" y="4297680"/>
            <a:ext cx="7845552" cy="548640"/>
          </a:xfrm>
          <a:prstGeom prst="rect">
            <a:avLst/>
          </a:prstGeom>
          <a:solidFill>
            <a:srgbClr val="0D1526"/>
          </a:solidFill>
          <a:ln w="6350">
            <a:solidFill>
              <a:srgbClr val="FF7B35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433425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B35"/>
                </a:solidFill>
              </a:rPr>
              <a:t>Download Config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24128" y="45537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FlutterFire CLI auto-generates lib/firebase_options.dart. For Android it also places google-services.json; for iOS, GoogleService-Info.plist.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17 / 35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CA28">
              <a:alpha val="80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FIREBASE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FlutterFire CLI &amp; Dependencies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Installing FlutterFire and running the configure command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09344"/>
            <a:ext cx="8321040" cy="2999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8101584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Dart CLI tools (run once globally)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dart pub global activate </a:t>
            </a:r>
            <a:r>
              <a:rPr lang="en-US" sz="80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flutterfire_cli</a:t>
            </a:r>
            <a:b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Configure the project (run from your Flutter root)</a:t>
            </a:r>
            <a:b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flutterfire configure --project=space-shooter-12345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↑ This command will: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• Detect your Flutter apps (Android / iOS / Web)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• Fetch Firebase config for each platform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• Generate  lib/firebase_options.dart  automatically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• Place google-services.json  →  android/app/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• Place GoogleService-Info.plist → ios/Runner/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Add Firebase packages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pub add firebase_core firebase_auth cloud_firestore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Android — confirm in android/build.gradle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classpath 'com.google.gms:google-services:4.4.1'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Android — confirm in android/app/build.gradle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apply plugin: 'com.google.gms.google-services'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6. iOS — run from ios/ directory: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pod install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83480" y="1883664"/>
            <a:ext cx="28581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CA28"/>
                </a:solidFill>
              </a:rPr>
              <a:t>Generated firebase_options.dart (excerpt)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79882" y="2642616"/>
            <a:ext cx="414291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DefaultFirebaseOptions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FirebaseOptions get currentPlatform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(kIsWeb)                       return web;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(defaultTargetPlatform == TargetPlatform.android) return android;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(defaultTargetPlatform == TargetPlatform.iOS)     return ios;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UnsupportedError('Platform not configured');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const FirebaseOptions android = FirebaseOptions(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apiKey: 'AIzaSyXXXXXXXXXXXXXXXXXXXXXX',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appId: '1:123456789:android:xxxxxxxx',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projectId: 'space-shooter-12345', ...);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18 / 35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CA28">
              <a:alpha val="80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auth_service.dart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Firebase Email/Password authentication helper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8321040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373435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lib/services/auth_service.dart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package:firebase_auth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firebase_auth.dart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AuthService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final _auth = FirebaseAuth.instance;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--- Sign Up ---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Future&lt;UserCredential?&gt; register({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String email,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String password,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 async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await _auth.createUserWithEmailAndPassword(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email: email, password: password);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on FirebaseAuthException catch (e)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_friendlyError(e.code);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--- Sign In ---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Future&lt;UserCredential?&gt; signIn({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String email,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required String password,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 async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19 / 35</a:t>
            </a:r>
            <a:endParaRPr lang="en-US" sz="8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829D092-E368-4011-9BE7-679E5594D6EE}"/>
              </a:ext>
            </a:extLst>
          </p:cNvPr>
          <p:cNvSpPr/>
          <p:nvPr/>
        </p:nvSpPr>
        <p:spPr>
          <a:xfrm>
            <a:off x="4365290" y="1755648"/>
            <a:ext cx="418296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await _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auth.signInWithEmailAndPassword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email: email, password: password);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on 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FirebaseAuthException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catch (e)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_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friendlyError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e.code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--- Sign Out ---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Future&lt;void&gt; 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signOut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=&gt; _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auth.signOut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--- Current user ---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User? get 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currentUser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_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auth.currentUser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String _</a:t>
            </a:r>
            <a:r>
              <a:rPr lang="en-US" sz="850" dirty="0" err="1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friendlyError</a:t>
            </a: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code) =&gt; switch (code)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'email-already-in-use' =&gt; 'Email already registered.',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'wrong-password'       =&gt; 'Wrong password.',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'user-not-found'       =&gt; 'No account with that email.',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'weak-password'        =&gt; 'Password too short (min 6 chars).',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                      =&gt; 'Auth error: $code',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CA28">
              <a:alpha val="80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Login Screen — UI Code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Login/Register screen that gates access to the game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8321040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3885523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lib/screens/login_screen.dart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LoginScreen extends StatefulWidget { ...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_LoginState extends State&lt;LoginScreen&gt;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_emailCtrl = TextEditingController();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 _passCtrl  = TextEditingController();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_isLogin = true; // toggle login/register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String? _error;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Future&lt;void&gt; _submit() async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(_isLogin)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AuthService.signIn(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email: _emailCtrl.text.trim(),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password: _passCtrl.text.trim());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 else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AuthService.register(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email: _emailCtrl.text.trim(),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password: _passCtrl.text.trim());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(mounted)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Navigator.pushReplacementNamed(context, '/');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(e)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setState(() =&gt; _error = e.toString());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20 / 35</a:t>
            </a:r>
            <a:endParaRPr lang="en-US" sz="8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330E524-1C2E-4D54-BCE1-BC4536F708A6}"/>
              </a:ext>
            </a:extLst>
          </p:cNvPr>
          <p:cNvSpPr/>
          <p:nvPr/>
        </p:nvSpPr>
        <p:spPr>
          <a:xfrm>
            <a:off x="3831336" y="1842516"/>
            <a:ext cx="4675355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 build(BuildContext context) =&gt; Scaffold(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Center(child: SizedBox(width: 320, child: Column(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mainAxisAlignment: MainAxisAlignment.center,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children: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Text('🔥', style: TextStyle(fontSize: 56)),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Text(_isLogin ? 'SIGN IN' : 'REGISTER',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style: const TextStyle(fontSize: 28, fontWeight: FontWeight.bold,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color: Color(0xFFFFCA28), letterSpacing: 4)),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SizedBox(height: 32),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_Field(ctrl: _emailCtrl, hint: 'Email'),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_Field(ctrl: _passCtrl,  hint: 'Password', obscure: true),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(_error != null) Text(_error!, style: TextStyle(color: Colors.red)),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ElevatedButton(onPressed: _submit,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child: Text(_isLogin ? 'Sign In' : 'Register')),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TextButton(onPressed: () =&gt;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setState(() =&gt; _isLogin = !_isLogin),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child: Text(_isLogin ? 'No account? Register' : 'Have account? Sign In')),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]))));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CA28">
              <a:alpha val="80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09827" y="36576"/>
            <a:ext cx="34059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score_service.dart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8149" y="544576"/>
            <a:ext cx="496383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Firestore — save scores, check duplicate emails, fetch leaderboard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94284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154176"/>
            <a:ext cx="4160520" cy="3847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4003379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lib/services/score_service.dart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import 'package:cloud_firestore/cloud_firestore.dart';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class ScoreService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static final _db = FirebaseFirestore.instance;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static const _col = 'scores'; // collection name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// Save a score (called from GameOverScreen)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static Future&lt;void&gt; saveScore({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required String email,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required int score,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}) async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await _db.collection(_col).add({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'email':     email,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'score':     score,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'createdAt': FieldValue.serverTimestamp(),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21 / 35</a:t>
            </a:r>
            <a:endParaRPr lang="en-US" sz="8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9A89ACB-C081-4F5C-BEFB-470F45676BD4}"/>
              </a:ext>
            </a:extLst>
          </p:cNvPr>
          <p:cNvSpPr/>
          <p:nvPr/>
        </p:nvSpPr>
        <p:spPr>
          <a:xfrm>
            <a:off x="5349239" y="740664"/>
            <a:ext cx="3674533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Guard: returns true if email already exists in 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Firestore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static Future&lt;bool&gt; 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emailExists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(String email) async {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final query = await _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db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.collection(_col)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.where('email', 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isEqualTo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: email)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.limit(1)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.get();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query.docs.isNotEmpty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// Fetch top-10 scores for a leaderboard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static Future&lt;List&lt;Map&lt;String, dynamic&gt;&gt;&gt; 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getTopScores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() async {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final snap = await _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db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.collection(_col)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('score', descending: true)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.limit(10)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.get();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snap.docs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.map((d) =&gt; {'email': d['email'], 'score': d['score']})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();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/* --- 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Firestore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document shape ---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scores/{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docId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  {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email:     "player@example.com",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score:     1450,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createdAt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: Timestamp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}</a:t>
            </a:r>
            <a:endParaRPr lang="en-US" sz="900" dirty="0"/>
          </a:p>
          <a:p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*/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CA28">
              <a:alpha val="80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FIREBASE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4560" y="9110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Firestore Security Rules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87147" y="612648"/>
            <a:ext cx="4045372" cy="438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Protect your database before going to production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34560" y="123460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355" y="704088"/>
            <a:ext cx="3820499" cy="3587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Firebase Console → Firestore → Rules tab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rules_version = '2';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cloud.firestore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/databases/{database}/documents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scores collection: anyone can read (leaderboard),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only authenticated users can create,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nobody can update/delete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/scores/{docId}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read:   if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create: if request.auth != null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&amp;&amp; request.resource.data.keys()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.hasAll(['email','score','createdAt'])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&amp;&amp; request.resource.data.score is int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&amp;&amp; request.resource.data.score &gt;=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update, delete: if false;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─── Firestore Indexes (auto-created on first query) 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Collection : scores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Fields     : score DESC, createdAt DESC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 scope: Collection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Created automatically when you first call getTopScores()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4560" y="19110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A28"/>
                </a:solidFill>
              </a:rPr>
              <a:t>🔒  Test Mode vs Locked: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34560" y="213055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Start in test mode (open access) during dev, switch to production rules before launch.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7147" y="2459059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A28"/>
                </a:solidFill>
              </a:rPr>
              <a:t>🔒  request.auth != null: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7146" y="2706625"/>
            <a:ext cx="390821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Ensures only logged-in users can write scores — prevents spam.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87147" y="300380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A28"/>
                </a:solidFill>
              </a:rPr>
              <a:t>🔒  request.resource.data: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7146" y="323240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Validates incoming fields — reject malformed documents at the DB level.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22 / 35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CA28">
              <a:alpha val="80000"/>
            </a:srgbClr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FLOW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End-to-End Data Flow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From app launch to score saved in Firestore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828800"/>
            <a:ext cx="1363133" cy="1005840"/>
          </a:xfrm>
          <a:prstGeom prst="rect">
            <a:avLst/>
          </a:prstGeom>
          <a:solidFill>
            <a:srgbClr val="00D4FF">
              <a:alpha val="85000"/>
            </a:srgbClr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 Launch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main.dart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11189" y="2278380"/>
            <a:ext cx="457200" cy="36576"/>
          </a:xfrm>
          <a:prstGeom prst="rect">
            <a:avLst/>
          </a:prstGeom>
          <a:solidFill>
            <a:srgbClr val="607B9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B9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94069" y="1828800"/>
            <a:ext cx="1682496" cy="1005840"/>
          </a:xfrm>
          <a:prstGeom prst="rect">
            <a:avLst/>
          </a:prstGeom>
          <a:solidFill>
            <a:srgbClr val="FFCA28">
              <a:alpha val="85000"/>
            </a:srgbClr>
          </a:solidFill>
          <a:ln w="19050">
            <a:solidFill>
              <a:srgbClr val="FFCA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8600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 In/Register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9803" y="2221992"/>
            <a:ext cx="109017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login_screen.dart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977640" y="2286000"/>
            <a:ext cx="457200" cy="36576"/>
          </a:xfrm>
          <a:prstGeom prst="rect">
            <a:avLst/>
          </a:prstGeom>
          <a:solidFill>
            <a:srgbClr val="607B9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14216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B9B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85955" y="1851661"/>
            <a:ext cx="1645920" cy="1005840"/>
          </a:xfrm>
          <a:prstGeom prst="rect">
            <a:avLst/>
          </a:prstGeom>
          <a:solidFill>
            <a:srgbClr val="9B30F5">
              <a:alpha val="85000"/>
            </a:srgbClr>
          </a:solidFill>
          <a:ln w="19050">
            <a:solidFill>
              <a:srgbClr val="9B30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6052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Play Game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B3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play_screen.dart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52160" y="2286000"/>
            <a:ext cx="457200" cy="36576"/>
          </a:xfrm>
          <a:prstGeom prst="rect">
            <a:avLst/>
          </a:prstGeom>
          <a:solidFill>
            <a:srgbClr val="607B9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88736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B9B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41265" y="1864191"/>
            <a:ext cx="1645920" cy="1005840"/>
          </a:xfrm>
          <a:prstGeom prst="rect">
            <a:avLst/>
          </a:prstGeom>
          <a:solidFill>
            <a:srgbClr val="FF3A5E">
              <a:alpha val="85000"/>
            </a:srgbClr>
          </a:solidFill>
          <a:ln w="19050">
            <a:solidFill>
              <a:srgbClr val="FF3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Game Over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76300" y="2331720"/>
            <a:ext cx="14129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game_over_screen.dart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726680" y="2286000"/>
            <a:ext cx="457200" cy="36576"/>
          </a:xfrm>
          <a:prstGeom prst="rect">
            <a:avLst/>
          </a:prstGeom>
          <a:solidFill>
            <a:srgbClr val="607B9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63256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07B9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33488" y="1832442"/>
            <a:ext cx="1645920" cy="1005840"/>
          </a:xfrm>
          <a:prstGeom prst="rect">
            <a:avLst/>
          </a:prstGeom>
          <a:solidFill>
            <a:srgbClr val="00FF88">
              <a:alpha val="85000"/>
            </a:srgbClr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43217" y="1920240"/>
            <a:ext cx="13715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Score Saved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2331720"/>
            <a:ext cx="557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Firestore DB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3063240"/>
            <a:ext cx="2029968" cy="1737360"/>
          </a:xfrm>
          <a:prstGeom prst="rect">
            <a:avLst/>
          </a:prstGeom>
          <a:solidFill>
            <a:srgbClr val="0D1526"/>
          </a:solidFill>
          <a:ln w="10160">
            <a:solidFill>
              <a:srgbClr val="FFCA28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1455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CA28"/>
                </a:solidFill>
              </a:rPr>
              <a:t>Login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3419856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AuthService.signIn() / register()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Auth returns User object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stored for session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624328" y="3063240"/>
            <a:ext cx="2029968" cy="1737360"/>
          </a:xfrm>
          <a:prstGeom prst="rect">
            <a:avLst/>
          </a:prstGeom>
          <a:solidFill>
            <a:srgbClr val="0D1526"/>
          </a:solidFill>
          <a:ln w="10160">
            <a:solidFill>
              <a:srgbClr val="9B30F5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15768" y="31455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B30F5"/>
                </a:solidFill>
              </a:rPr>
              <a:t>Game Session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15768" y="3419856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FlameGame runs game loop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hpNotifier watches HP changes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triggerGameOver() on HP = 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37176" y="3063240"/>
            <a:ext cx="2029968" cy="1737360"/>
          </a:xfrm>
          <a:prstGeom prst="rect">
            <a:avLst/>
          </a:prstGeom>
          <a:solidFill>
            <a:srgbClr val="0D1526"/>
          </a:solidFill>
          <a:ln w="10160">
            <a:solidFill>
              <a:srgbClr val="FF3A5E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28616" y="31455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3A5E"/>
                </a:solidFill>
              </a:rPr>
              <a:t>Game Over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28616" y="3419856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passed as route argument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emailExists() checks Firestore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saveScore() writes new doc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50024" y="3063240"/>
            <a:ext cx="1929384" cy="1737360"/>
          </a:xfrm>
          <a:prstGeom prst="rect">
            <a:avLst/>
          </a:prstGeom>
          <a:solidFill>
            <a:srgbClr val="0D1526"/>
          </a:solidFill>
          <a:ln w="1016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41464" y="31455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</a:rPr>
              <a:t>Firestore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141464" y="3419856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Collection: scores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 email, score, createdAt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rules enforce uniqueness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23 / 35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-914400"/>
            <a:ext cx="6400800" cy="6400800"/>
          </a:xfrm>
          <a:prstGeom prst="ellipse">
            <a:avLst/>
          </a:prstGeom>
          <a:solidFill>
            <a:srgbClr val="3DDC84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D8D8D8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📦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11480" y="1920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800" dirty="0">
                <a:solidFill>
                  <a:srgbClr val="B8C9E0"/>
                </a:solidFill>
              </a:rPr>
              <a:t>PART 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11480" y="242316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Publishing Your Game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9E0"/>
                </a:solidFill>
              </a:rPr>
              <a:t>Google Play Store  ·  Apple App Store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4023360"/>
            <a:ext cx="2834640" cy="457200"/>
          </a:xfrm>
          <a:prstGeom prst="rect">
            <a:avLst/>
          </a:prstGeom>
          <a:solidFill>
            <a:srgbClr val="3DDC84">
              <a:alpha val="80000"/>
            </a:srgb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C84"/>
                </a:solidFill>
              </a:rPr>
              <a:t>🤖  Google Play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4023360"/>
            <a:ext cx="2834640" cy="457200"/>
          </a:xfrm>
          <a:prstGeom prst="rect">
            <a:avLst/>
          </a:prstGeom>
          <a:solidFill>
            <a:srgbClr val="D8D8D8">
              <a:alpha val="80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E0E0"/>
                </a:solidFill>
              </a:rPr>
              <a:t>🍎  App Store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24 / 35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3DDC84">
              <a:alpha val="80000"/>
            </a:srgb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 · ANDROID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Android — Build Configuration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Signing key, version settings, and release build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8321040" cy="1371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8101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# 1. Generate a signing keystore (run once, keep this file safe!)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keytool -genkey -v -keystore ~/upload-keystore.jks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-keyalg RSA -keysize 2048 -validity 10000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-alias upload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# 2. Create  android/key.properties  (add to .gitignore!)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storePassword=&lt;your-store-password&gt;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keyPassword=&lt;your-key-password&gt;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keyAlias=upload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storeFile=/Users/&lt;you&gt;/upload-keystore.jks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104727"/>
            <a:ext cx="832104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200400"/>
            <a:ext cx="33368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// android/app/build.gradle — signing config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def keystoreProperties = new Properties()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def keystorePropertiesFile = rootProject.file('key.properties')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if (keystorePropertiesFile.exists())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keystoreProperties.load(new FileInputStream(keystorePropertiesFile))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android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defaultConfig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applicationId "com.yourcompany.spaceshooter"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minSdkVersion 21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targetSdkVersion 34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versionCode    1        // increment each release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versionName "1.0.0"    // human-readable version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50749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F7B35"/>
                </a:solidFill>
              </a:rPr>
              <a:t>⚠️  Never commit upload-keystore.jks or key.properties to version control. If lost, you cannot update your app on the Play Store.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25 / 35</a:t>
            </a:r>
            <a:endParaRPr lang="en-US" sz="8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BD13263-69B5-4BE2-BB9C-9E0B2E7098FA}"/>
              </a:ext>
            </a:extLst>
          </p:cNvPr>
          <p:cNvSpPr/>
          <p:nvPr/>
        </p:nvSpPr>
        <p:spPr>
          <a:xfrm>
            <a:off x="4219787" y="3127248"/>
            <a:ext cx="422656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signingConfigs</a:t>
            </a: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release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keyAlias     keystoreProperties['keyAlias']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keyPassword  keystoreProperties['keyPassword']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storeFile    file(keystoreProperties['storeFile'])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  storePassword keystoreProperties['storePassword']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buildTypes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release { signingConfig signingConfigs.release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3DDC84">
              <a:alpha val="80000"/>
            </a:srgb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 · ANDROID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Android — Build &amp; Upload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Generate the signed AAB and submit to Play Console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832104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8101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 release App Bundle (recommended over APK)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build appbundle --release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build/app/outputs/bundle/release/app-release.aab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(Optional) If you need an APK instead: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build apk --release --split-per-abi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 3 APKs (arm64-v8a, armeabi-v7a, x86_64)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971800"/>
            <a:ext cx="411480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971800"/>
            <a:ext cx="54864" cy="60350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026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1 — Create Developer Account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6072" y="3264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play.google.com/console → Pay one-time $25 USD registration fee → verify identity.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971800"/>
            <a:ext cx="411480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2971800"/>
            <a:ext cx="54864" cy="60350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3026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2 — Create Application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28032" y="3264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All apps → Create app → App name, Default language, App or Game toggle, Free or Paid → Create app.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3675888"/>
            <a:ext cx="411480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675888"/>
            <a:ext cx="54864" cy="60350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730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3 — Store Listing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6072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Fill in: title, short description (80 chars), full description, screenshots (2+ per device), feature graphic 1024×500, app icon 512×512.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675888"/>
            <a:ext cx="411480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675888"/>
            <a:ext cx="54864" cy="60350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730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4 — Release Setup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28032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Production → Create new release → Upload .aab file → Add release notes → Save → Review → Rollout to 100%.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11480" y="4379976"/>
            <a:ext cx="411480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4379976"/>
            <a:ext cx="54864" cy="60350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5 — Content Rating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6072" y="4672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Policy → App content → Complete the IARC questionnaire → Submit. Mandatory before first release.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4379976"/>
            <a:ext cx="4114800" cy="603504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4379976"/>
            <a:ext cx="54864" cy="603504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6 — Review &amp; Publish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28032" y="4672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All 3 required sections must be green. Submit → Google review takes hours to a few days for new apps.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26 / 35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3DDC84">
              <a:alpha val="80000"/>
            </a:srgbClr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 · ANDROID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Play Store — Checklist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Everything you need before submitting for review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91640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17465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App Icon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1984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512×512 PNG, no rounded corners (Play adds them), no alpha in background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350008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🖼️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24048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Feature Graphic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2688" y="26426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1024×500 JPG or PNG — shown on store listing header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3008376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Screenshots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32688" y="33009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Min 2 per device type (phone required). Min 320dp, max 3840dp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3666744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2688" y="37216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Store Description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32688" y="3959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Short: 80 chars. Full: up to 4000 chars. No spam keywords.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4325112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32688" y="43799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Privacy Policy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32688" y="46177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URL required if app collects any user data (email = yes)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691640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84648" y="17465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Content Rating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84648" y="1984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Complete IARC questionnaire. Game = usually Everyone or Teen.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2350008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84648" y="24048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Pricing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184648" y="26426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Set to Free or Paid. Free apps cannot later become Paid.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3008376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184648" y="30632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Target Countries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184648" y="33009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Select distribution countries. Start with all if no restrictions.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3666744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184648" y="37216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App Bundle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184648" y="3959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Upload signed .aab — Google Play Dynamic Delivery optimizes per device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4325112"/>
            <a:ext cx="411480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0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184648" y="43799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84"/>
                </a:solidFill>
              </a:rPr>
              <a:t>Review Time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184648" y="46177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First review: 1-3 days. Updates: a few hours. Use staged rollout.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27 / 35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74320"/>
            <a:ext cx="1645920" cy="292608"/>
          </a:xfrm>
          <a:prstGeom prst="rect">
            <a:avLst/>
          </a:prstGeom>
          <a:solidFill>
            <a:srgbClr val="D8D8D8">
              <a:alpha val="80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7867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 · iOS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28863"/>
            <a:ext cx="56404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iOS — Xcode &amp; Signing Setup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32888" y="641773"/>
            <a:ext cx="50455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Apple Developer account, certificates, and provisioning profiles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32888" y="1029331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187196"/>
            <a:ext cx="832104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" y="1189798"/>
            <a:ext cx="54864" cy="566928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197987"/>
            <a:ext cx="8046720" cy="24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Apple Developer Account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141782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enroll.developer.apple.com — costs $99/year. Required for TestFlight and App Store distribution.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1907540"/>
            <a:ext cx="8321040" cy="561848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1907540"/>
            <a:ext cx="54864" cy="566928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932940"/>
            <a:ext cx="8046720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Mac with Xcode 15+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2142744"/>
            <a:ext cx="80467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iOS builds can only be compiled on macOS. Xcode must be installed from the Mac App Store.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665984"/>
            <a:ext cx="8321040" cy="566928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" y="2665984"/>
            <a:ext cx="54864" cy="566928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2682240"/>
            <a:ext cx="8046720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Bundle 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2926080"/>
            <a:ext cx="8046720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Registered in Apple Developer portal. Must match the applicationId in ios/Runner.xcodeproj (e.g. com.yourcompany.spaceshooter).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373628"/>
            <a:ext cx="8321040" cy="576580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" y="3383280"/>
            <a:ext cx="54864" cy="566928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373628"/>
            <a:ext cx="804672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Certificates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3638296"/>
            <a:ext cx="8046720" cy="31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9E0"/>
                </a:solidFill>
              </a:rPr>
              <a:t>Xcode can manage signing automatically — check 'Automatically manage signing' in Xcode → Signing &amp; Capabilities.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" y="4027932"/>
            <a:ext cx="8321040" cy="986705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4090924"/>
            <a:ext cx="4369139" cy="964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version in pubspec.yaml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1.0.0+1   # format: versionName+versionCode (build number)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an iOS release (unsigned archive, Xcode handles signing)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build ipa --release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28 / 35</a:t>
            </a:r>
            <a:endParaRPr lang="en-US" sz="8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BD7EF774-03A4-4EF1-BDCD-C53D1CA0C544}"/>
              </a:ext>
            </a:extLst>
          </p:cNvPr>
          <p:cNvSpPr/>
          <p:nvPr/>
        </p:nvSpPr>
        <p:spPr>
          <a:xfrm>
            <a:off x="4890346" y="4090924"/>
            <a:ext cx="3732445" cy="923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build/ios/archive/Runner.xcarchive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in Xcode: Product → Archive → Distribute App → App Store Connect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use Xcode directly: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ios/Runner.xcworkspace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"Any iOS Device" → Product → Archive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D8D8D8">
              <a:alpha val="80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 · iOS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 Store Connect — Submission Steps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From creating the App record to going live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4114800" cy="1005840"/>
          </a:xfrm>
          <a:prstGeom prst="rect">
            <a:avLst/>
          </a:prstGeom>
          <a:solidFill>
            <a:srgbClr val="0D1526"/>
          </a:solidFill>
          <a:ln w="10160">
            <a:solidFill>
              <a:srgbClr val="D8D8D8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1773936"/>
            <a:ext cx="347472" cy="347472"/>
          </a:xfrm>
          <a:prstGeom prst="ellipse">
            <a:avLst/>
          </a:prstGeom>
          <a:solidFill>
            <a:srgbClr val="D8D8D8">
              <a:alpha val="85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D8D8"/>
                </a:solidFill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8408" y="1755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Create App Record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appstoreconnect.apple.com → My Apps → + → New App → iOS, App Name, Primary Language, Bundle ID, SKU → Create.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1664208"/>
            <a:ext cx="4114800" cy="1005840"/>
          </a:xfrm>
          <a:prstGeom prst="rect">
            <a:avLst/>
          </a:prstGeom>
          <a:solidFill>
            <a:srgbClr val="0D1526"/>
          </a:solidFill>
          <a:ln w="10160">
            <a:solidFill>
              <a:srgbClr val="D8D8D8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3168" y="1773936"/>
            <a:ext cx="347472" cy="347472"/>
          </a:xfrm>
          <a:prstGeom prst="ellipse">
            <a:avLst/>
          </a:prstGeom>
          <a:solidFill>
            <a:srgbClr val="D8D8D8">
              <a:alpha val="85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773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D8D8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1755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App Information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3168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Category: Games → Action. Age Rating: questionnaire. Privacy policy URL (required). Copyright: 2025 Your Name.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2779776"/>
            <a:ext cx="4114800" cy="1005840"/>
          </a:xfrm>
          <a:prstGeom prst="rect">
            <a:avLst/>
          </a:prstGeom>
          <a:solidFill>
            <a:srgbClr val="0D1526"/>
          </a:solidFill>
          <a:ln w="10160">
            <a:solidFill>
              <a:srgbClr val="D8D8D8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" y="2889504"/>
            <a:ext cx="347472" cy="347472"/>
          </a:xfrm>
          <a:prstGeom prst="ellipse">
            <a:avLst/>
          </a:prstGeom>
          <a:solidFill>
            <a:srgbClr val="D8D8D8">
              <a:alpha val="85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D8D8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78408" y="2871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Pricing &amp; Availability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" y="3236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Set price tier (Free = Tier 0) and select available territories. Free apps choose all territories.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2779776"/>
            <a:ext cx="4114800" cy="1005840"/>
          </a:xfrm>
          <a:prstGeom prst="rect">
            <a:avLst/>
          </a:prstGeom>
          <a:solidFill>
            <a:srgbClr val="0D1526"/>
          </a:solidFill>
          <a:ln w="10160">
            <a:solidFill>
              <a:srgbClr val="D8D8D8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73168" y="2889504"/>
            <a:ext cx="347472" cy="347472"/>
          </a:xfrm>
          <a:prstGeom prst="ellipse">
            <a:avLst/>
          </a:prstGeom>
          <a:solidFill>
            <a:srgbClr val="D8D8D8">
              <a:alpha val="85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889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D8D8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30368" y="28712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Prepare for Submission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236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Upload screenshots: 6.7" iPhone required, 12.9" iPad optional. App preview video optional. Icon 1024×1024 (no alpha).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3895344"/>
            <a:ext cx="4114800" cy="1005840"/>
          </a:xfrm>
          <a:prstGeom prst="rect">
            <a:avLst/>
          </a:prstGeom>
          <a:solidFill>
            <a:srgbClr val="0D1526"/>
          </a:solidFill>
          <a:ln w="10160">
            <a:solidFill>
              <a:srgbClr val="D8D8D8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08" y="4005072"/>
            <a:ext cx="347472" cy="347472"/>
          </a:xfrm>
          <a:prstGeom prst="ellipse">
            <a:avLst/>
          </a:prstGeom>
          <a:solidFill>
            <a:srgbClr val="D8D8D8">
              <a:alpha val="85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D8D8"/>
                </a:solidFill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78408" y="3986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Upload Build via Xcode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" y="4352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Xcode → Product → Archive → Distribute App → App Store Connect → Upload. Build appears in TestFlight within ~30 min.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63440" y="3895344"/>
            <a:ext cx="4114800" cy="1005840"/>
          </a:xfrm>
          <a:prstGeom prst="rect">
            <a:avLst/>
          </a:prstGeom>
          <a:solidFill>
            <a:srgbClr val="0D1526"/>
          </a:solidFill>
          <a:ln w="10160">
            <a:solidFill>
              <a:srgbClr val="D8D8D8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3168" y="4005072"/>
            <a:ext cx="347472" cy="347472"/>
          </a:xfrm>
          <a:prstGeom prst="ellipse">
            <a:avLst/>
          </a:prstGeom>
          <a:solidFill>
            <a:srgbClr val="D8D8D8">
              <a:alpha val="85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73168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8D8D8"/>
                </a:solidFill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30368" y="3986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8D8D8"/>
                </a:solidFill>
              </a:rPr>
              <a:t>Submit for Review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4352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Select the uploaded build → Add to App Store version → Complete all metadata → Submit for Review → 24-48h typical review time.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29 / 35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D8D8D8">
              <a:alpha val="80000"/>
            </a:srgbClr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 · iOS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App Store — Assets Checklist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Required graphics and metadata for a successful submission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4114800" cy="713232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664208"/>
            <a:ext cx="54864" cy="71323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17190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8D8D8"/>
                </a:solidFill>
              </a:rPr>
              <a:t>App Icon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6072" y="19751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1024×1024 PNG, no alpha, no rounded corners (iOS adds them). Must be provided as AppIcon.appiconset in Assets.xcassets.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664208"/>
            <a:ext cx="4114800" cy="713232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64208"/>
            <a:ext cx="54864" cy="71323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71907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8D8D8"/>
                </a:solidFill>
              </a:rPr>
              <a:t>iPhone Screenshots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28032" y="19751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Required: 6.7" (1290×2796). Recommended: also 6.1" and 5.5" sizes. Simulator screenshots accepted.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487168"/>
            <a:ext cx="4114800" cy="713232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487168"/>
            <a:ext cx="54864" cy="71323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2542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8D8D8"/>
                </a:solidFill>
              </a:rPr>
              <a:t>iPad Screenshots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6072" y="27980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Optional but recommended: 12.9" (2048×2732). Needed if you support iPad.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487168"/>
            <a:ext cx="4114800" cy="713232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487168"/>
            <a:ext cx="54864" cy="71323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542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8D8D8"/>
                </a:solidFill>
              </a:rPr>
              <a:t>App Preview Video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28032" y="27980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Optional: 15-30 second MP4 showing gameplay. Autoplay muted in the App Store.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3310128"/>
            <a:ext cx="4114800" cy="713232"/>
          </a:xfrm>
          <a:prstGeom prst="rect">
            <a:avLst/>
          </a:prstGeom>
          <a:solidFill>
            <a:srgbClr val="0D1526"/>
          </a:solidFill>
          <a:ln w="6350">
            <a:solidFill>
              <a:srgbClr val="FF7B35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310128"/>
            <a:ext cx="54864" cy="713232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3364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B35"/>
                </a:solidFill>
              </a:rPr>
              <a:t>Privacy Policy URL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76072" y="36210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Must be a publicly accessible URL. Required if app collects any data (auth email = yes).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3440" y="3310128"/>
            <a:ext cx="4114800" cy="713232"/>
          </a:xfrm>
          <a:prstGeom prst="rect">
            <a:avLst/>
          </a:prstGeom>
          <a:solidFill>
            <a:srgbClr val="0D1526"/>
          </a:solidFill>
          <a:ln w="6350">
            <a:solidFill>
              <a:srgbClr val="FF7B35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310128"/>
            <a:ext cx="54864" cy="713232"/>
          </a:xfrm>
          <a:prstGeom prst="rect">
            <a:avLst/>
          </a:prstGeom>
          <a:solidFill>
            <a:srgbClr val="FF7B35"/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33649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B35"/>
                </a:solidFill>
              </a:rPr>
              <a:t>Export Compliance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28032" y="36210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Does the app use encryption (HTTPS = yes)? Answer 'Yes, but uses standard encryption' → no additional docs needed.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4133088"/>
            <a:ext cx="4114800" cy="713232"/>
          </a:xfrm>
          <a:prstGeom prst="rect">
            <a:avLst/>
          </a:prstGeom>
          <a:solidFill>
            <a:srgbClr val="0D1526"/>
          </a:solidFill>
          <a:ln w="635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133088"/>
            <a:ext cx="54864" cy="71323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" y="4187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88"/>
                </a:solidFill>
              </a:rPr>
              <a:t>TestFlight (recommended)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76072" y="4443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Upload build → TestFlight → Invite up to 10,000 external testers before public release. Catches bugs early.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63440" y="4133088"/>
            <a:ext cx="4114800" cy="713232"/>
          </a:xfrm>
          <a:prstGeom prst="rect">
            <a:avLst/>
          </a:prstGeom>
          <a:solidFill>
            <a:srgbClr val="0D1526"/>
          </a:solidFill>
          <a:ln w="6350">
            <a:solidFill>
              <a:srgbClr val="FFCA28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63440" y="4133088"/>
            <a:ext cx="54864" cy="713232"/>
          </a:xfrm>
          <a:prstGeom prst="rect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4187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CA28"/>
                </a:solidFill>
              </a:rPr>
              <a:t>Review Notes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28032" y="4443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Add login credentials for review team if any screen requires auth. Firebase demo account example: test@demo.com / Demo1234!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30 / 35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3 · TIPS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TestFlight &amp; Automated Deployment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Beta testing and CI/CD pipelines for both stores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8034867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682496"/>
            <a:ext cx="4206579" cy="3296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# GitHub Actions workflow — .github/workflows/deploy.yml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name: Build &amp; Deploy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on: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push: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jobs: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android: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steps: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uses: subosito/flutter-action@v2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with: { flutter-version: '3.22.0'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run: flutter pub get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run: flutter build appbundle --release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uses: r0adkll/upload-google-play@v1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with: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serviceAccountJsonPlainText: ${{ secrets.SERVICE_ACCOUNT_JSON }}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packageName: com.yourcompany.spaceshooter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releaseFiles: build/app/outputs/bundle/release/*.aab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track: internal   # internal → alpha → beta → production</a:t>
            </a:r>
            <a:endParaRPr lang="en-US" sz="900" dirty="0"/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ea typeface="Consolas" pitchFamily="34" charset="-122"/>
                <a:cs typeface="Consolas" pitchFamily="34" charset="-120"/>
              </a:rPr>
              <a:t>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31 / 35</a:t>
            </a:r>
            <a:endParaRPr lang="en-US" sz="8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05929060-EF83-4F02-A99E-3531D6D0BAD7}"/>
              </a:ext>
            </a:extLst>
          </p:cNvPr>
          <p:cNvSpPr/>
          <p:nvPr/>
        </p:nvSpPr>
        <p:spPr>
          <a:xfrm>
            <a:off x="4727788" y="1755648"/>
            <a:ext cx="351536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APPSTORE_API_KEY_ID }}</a:t>
            </a:r>
            <a:endParaRPr lang="en-US" sz="1000" dirty="0"/>
          </a:p>
          <a:p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0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api</a:t>
            </a: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-private-key: ${{ </a:t>
            </a:r>
            <a:r>
              <a:rPr lang="en-US" sz="1000" dirty="0" err="1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secrets.APPSTORE_API_KEY</a:t>
            </a: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}}</a:t>
            </a:r>
            <a:endParaRPr lang="en-US" sz="10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EA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ios: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runs-on: macos-latest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steps: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uses: subosito/flutter-action@v2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run: flutter pub 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run: flutter build ipa --release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- uses: apple-actions/upload-testflight-build@v1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with: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app-path: build/ios/ipa/space_shooter.ipa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issuer-id: ${{ secrets.APPSTORE_ISSUER_ID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api-key-id: ${{ secrets.APPSTORE_API_KEY_ID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0EAF6"/>
                </a:solidFill>
                <a:ea typeface="Consolas" pitchFamily="34" charset="-122"/>
                <a:cs typeface="Consolas" pitchFamily="34" charset="-120"/>
              </a:rPr>
              <a:t>          api-private-key: ${{ secrets.APPSTORE_API_KEY }}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FF88">
              <a:alpha val="8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BONUS · PERFORMANCE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Performance &amp; Polish Tips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Ship a game that feels great on all devices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4114800" cy="1005840"/>
          </a:xfrm>
          <a:prstGeom prst="rect">
            <a:avLst/>
          </a:prstGeom>
          <a:solidFill>
            <a:srgbClr val="0D1526"/>
          </a:solidFill>
          <a:ln w="12700">
            <a:solidFill>
              <a:srgbClr val="00FF88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33272" y="1755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88"/>
                </a:solidFill>
              </a:rPr>
              <a:t>Sprite Atlases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Pack all sprites into a single texture atlas (TexturePacker or Flame's SpriteBatch). Reduces draw calls from N to 1 per frame.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664208"/>
            <a:ext cx="4114800" cy="1005840"/>
          </a:xfrm>
          <a:prstGeom prst="rect">
            <a:avLst/>
          </a:prstGeom>
          <a:solidFill>
            <a:srgbClr val="0D1526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7556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85232" y="1755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</a:rPr>
              <a:t>Object Pooling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21214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Never add/removeFromParent() bullets each frame. Use a ComponentPool to recycle bullet objects and cut GC pressure.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2779776"/>
            <a:ext cx="4114800" cy="1005840"/>
          </a:xfrm>
          <a:prstGeom prst="rect">
            <a:avLst/>
          </a:prstGeom>
          <a:solidFill>
            <a:srgbClr val="0D1526"/>
          </a:solidFill>
          <a:ln w="12700">
            <a:solidFill>
              <a:srgbClr val="9B30F5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28712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33272" y="28712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30F5"/>
                </a:solidFill>
              </a:rPr>
              <a:t>Fixed Resolution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1208" y="3236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Use camera.viewfinder.visibleGameSize = Vector2(400, 700) so the game looks the same on all devices regardless of DPI.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779776"/>
            <a:ext cx="4114800" cy="1005840"/>
          </a:xfrm>
          <a:prstGeom prst="rect">
            <a:avLst/>
          </a:prstGeom>
          <a:solidFill>
            <a:srgbClr val="0D1526"/>
          </a:solidFill>
          <a:ln w="12700">
            <a:solidFill>
              <a:srgbClr val="FFCA28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8712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🔇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85232" y="28712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CA28"/>
                </a:solidFill>
              </a:rPr>
              <a:t>Audio Latency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32369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Preload all SFX in onLoad(). Use FlameAudio.play() (short sounds) vs FlameAudio.loopLongAudio() for background music.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3895344"/>
            <a:ext cx="4114800" cy="1005840"/>
          </a:xfrm>
          <a:prstGeom prst="rect">
            <a:avLst/>
          </a:prstGeom>
          <a:solidFill>
            <a:srgbClr val="0D1526"/>
          </a:solidFill>
          <a:ln w="12700">
            <a:solidFill>
              <a:srgbClr val="FF7B35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" y="3986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33272" y="39867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7B35"/>
                </a:solidFill>
              </a:rPr>
              <a:t>Profile Build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1208" y="4352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Run with flutter run --profile to see Raster and UI thread times. Target 60fps = &lt;16ms per frame budget.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3895344"/>
            <a:ext cx="4114800" cy="1005840"/>
          </a:xfrm>
          <a:prstGeom prst="rect">
            <a:avLst/>
          </a:prstGeom>
          <a:solidFill>
            <a:srgbClr val="0D1526"/>
          </a:solidFill>
          <a:ln w="12700">
            <a:solidFill>
              <a:srgbClr val="FF3A5E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98678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285232" y="398678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A5E"/>
                </a:solidFill>
              </a:rPr>
              <a:t>Widget Tests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73168" y="4352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Test ScoreService and AuthService with FakeFirebaseFirestore and MockFirebaseAuth (firebase_auth_mocks package).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32 / 35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FF7B35">
              <a:alpha val="80000"/>
            </a:srgbClr>
          </a:solidFill>
          <a:ln w="12700">
            <a:solidFill>
              <a:srgbClr val="FF7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BONUS · TROUBLESHOOTING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Common Errors &amp; Fixes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Errors you will encounter and exactly how to fix them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83210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FF3A5E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69164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3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[firebase_core] No Firebase App '[DEFAULT]'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184708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→ You called Firebase.initializeApp() but didn't await it, OR initializeApp() was never called. Fix: ensure await Firebase.initializeApp() is the first async call in main().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1480" y="2084832"/>
            <a:ext cx="83210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FF7B35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1122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MissingPluginException (firebase_auth)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226771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→ Native plugin not linked. Fix: Run flutter clean &amp;&amp; flutter pub get. For iOS also run cd ios &amp;&amp; pod install.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2505456"/>
            <a:ext cx="83210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FF7B35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5328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7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Unsupported operation: _Namespace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2688336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→ firebase_options.dart is missing. Fix: Run flutterfire configure again.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1480" y="2926080"/>
            <a:ext cx="83210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5351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FlameGame: Component added but game is not mounted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108960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→ You're calling gameRef.add() before onLoad() completes. Fix: use await super.onLoad() and add components after it.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3346704"/>
            <a:ext cx="83210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741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Collision not detected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3529584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→ Hitbox not added to component, or HasCollisionDetection mixin missing on FlameGame. Fix: Add RectangleHitbox() in onLoad() and check game mixin.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" y="3767328"/>
            <a:ext cx="83210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79476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Play Store: 'You uploaded an APK or Android App Bundle signed with a key error'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3950208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→ Wrong keystore used. Fix: Use the same upload-keystore.jks you registered with Play. If lost, request key reset via Play Console.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1480" y="4187952"/>
            <a:ext cx="83210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D8D8D8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21538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8D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App Store: 'Missing compliance'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437083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→ Need export compliance key in Info.plist. Fix: Add ITSAppUsesNonExemptEncryption = NO if you only use standard HTTPS.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11480" y="4608576"/>
            <a:ext cx="8321040" cy="347472"/>
          </a:xfrm>
          <a:prstGeom prst="rect">
            <a:avLst/>
          </a:prstGeom>
          <a:solidFill>
            <a:srgbClr val="0D1526"/>
          </a:solidFill>
          <a:ln w="6350">
            <a:solidFill>
              <a:srgbClr val="3DDC84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63600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C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Google Play: minSdkVersion must be ≥ 21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8640" y="4791456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C9E0"/>
                </a:solidFill>
              </a:rPr>
              <a:t>→ Your build.gradle has a lower minSdkVersion. Fix: Set minSdkVersion 21 in android/app/build.gradle.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33 / 35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RECAP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548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Full Architecture Recap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1480" y="1115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9E0"/>
                </a:solidFill>
              </a:rPr>
              <a:t>Everything in one view — screens, services, and infrastructure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1481328"/>
            <a:ext cx="1280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1664208"/>
            <a:ext cx="1871133" cy="2560320"/>
          </a:xfrm>
          <a:prstGeom prst="rect">
            <a:avLst/>
          </a:prstGeom>
          <a:solidFill>
            <a:srgbClr val="0D1526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664208"/>
            <a:ext cx="1871133" cy="36576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709928"/>
            <a:ext cx="165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UI Layer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" y="2121408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InstructionScreen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LoginScreen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PlayScreen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GameOverScreen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7752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B9B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551176" y="1664208"/>
            <a:ext cx="1993392" cy="2560320"/>
          </a:xfrm>
          <a:prstGeom prst="rect">
            <a:avLst/>
          </a:prstGeom>
          <a:solidFill>
            <a:srgbClr val="0D1526"/>
          </a:solidFill>
          <a:ln w="19050">
            <a:solidFill>
              <a:srgbClr val="9B3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87752" y="1664208"/>
            <a:ext cx="1956816" cy="365760"/>
          </a:xfrm>
          <a:prstGeom prst="rect">
            <a:avLst/>
          </a:prstGeom>
          <a:solidFill>
            <a:srgbClr val="9B30F5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170992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/>
                </a:solidFill>
              </a:rPr>
              <a:t>Game Engine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852928" y="2121408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SpaceGame (FlameGame)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· Enemy · Bullet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EnemySpawner · HpBar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9472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B9B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727448" y="1664208"/>
            <a:ext cx="2130552" cy="2560320"/>
          </a:xfrm>
          <a:prstGeom prst="rect">
            <a:avLst/>
          </a:prstGeom>
          <a:solidFill>
            <a:srgbClr val="0D1526"/>
          </a:solidFill>
          <a:ln w="19050">
            <a:solidFill>
              <a:srgbClr val="FFCA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7448" y="1664208"/>
            <a:ext cx="2148840" cy="365760"/>
          </a:xfrm>
          <a:prstGeom prst="rect">
            <a:avLst/>
          </a:prstGeom>
          <a:solidFill>
            <a:srgbClr val="FFCA28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7099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Services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84648" y="2121408"/>
            <a:ext cx="1938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ScoreService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(Firebase wrappers)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51192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07B9B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59168" y="1664208"/>
            <a:ext cx="1965960" cy="2560320"/>
          </a:xfrm>
          <a:prstGeom prst="rect">
            <a:avLst/>
          </a:prstGeom>
          <a:solidFill>
            <a:srgbClr val="0D1526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1664208"/>
            <a:ext cx="1965960" cy="365760"/>
          </a:xfrm>
          <a:prstGeom prst="rect">
            <a:avLst/>
          </a:prstGeom>
          <a:solidFill>
            <a:srgbClr val="00FF88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1709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Infrastructure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141464" y="2121408"/>
            <a:ext cx="172482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Auth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Firestore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C9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Security Rules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334256"/>
            <a:ext cx="4114800" cy="237744"/>
          </a:xfrm>
          <a:prstGeom prst="rect">
            <a:avLst/>
          </a:prstGeom>
          <a:solidFill>
            <a:srgbClr val="0D1526"/>
          </a:solidFill>
          <a:ln w="3810">
            <a:solidFill>
              <a:srgbClr val="607B9B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</a:rPr>
              <a:t>Flame 1.17: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37360" y="437083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2D game engine on top of Flutter Canvas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4334256"/>
            <a:ext cx="4114800" cy="237744"/>
          </a:xfrm>
          <a:prstGeom prst="rect">
            <a:avLst/>
          </a:prstGeom>
          <a:solidFill>
            <a:srgbClr val="0D1526"/>
          </a:solidFill>
          <a:ln w="3810">
            <a:solidFill>
              <a:srgbClr val="607B9B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37083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</a:rPr>
              <a:t>Firebase Auth: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89320" y="437083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Email/password login, secure session management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11480" y="4626864"/>
            <a:ext cx="4114800" cy="237744"/>
          </a:xfrm>
          <a:prstGeom prst="rect">
            <a:avLst/>
          </a:prstGeom>
          <a:solidFill>
            <a:srgbClr val="0D1526"/>
          </a:solidFill>
          <a:ln w="3810">
            <a:solidFill>
              <a:srgbClr val="607B9B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6634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</a:rPr>
              <a:t>Cloud Firestore: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737360" y="46634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NoSQL realtime database, score persistence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4626864"/>
            <a:ext cx="4114800" cy="237744"/>
          </a:xfrm>
          <a:prstGeom prst="rect">
            <a:avLst/>
          </a:prstGeom>
          <a:solidFill>
            <a:srgbClr val="0D1526"/>
          </a:solidFill>
          <a:ln w="3810">
            <a:solidFill>
              <a:srgbClr val="607B9B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6634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</a:rPr>
              <a:t>GitHub Actions: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89320" y="46634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Automated CI/CD — build &amp; deploy on every push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11480" y="4919472"/>
            <a:ext cx="4114800" cy="237744"/>
          </a:xfrm>
          <a:prstGeom prst="rect">
            <a:avLst/>
          </a:prstGeom>
          <a:solidFill>
            <a:srgbClr val="0D1526"/>
          </a:solidFill>
          <a:ln w="3810">
            <a:solidFill>
              <a:srgbClr val="607B9B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956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</a:rPr>
              <a:t>Google Play: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37360" y="4956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AAB upload, staged rollout, content rating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4919472"/>
            <a:ext cx="4114800" cy="237744"/>
          </a:xfrm>
          <a:prstGeom prst="rect">
            <a:avLst/>
          </a:prstGeom>
          <a:solidFill>
            <a:srgbClr val="0D1526"/>
          </a:solidFill>
          <a:ln w="3810">
            <a:solidFill>
              <a:srgbClr val="607B9B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956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FF"/>
                </a:solidFill>
              </a:rPr>
              <a:t>App Store: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989320" y="495604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C9E0"/>
                </a:solidFill>
              </a:rPr>
              <a:t>IPA via Xcode, TestFlight beta, IARC rating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34 / 35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229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36576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46634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100584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39319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484632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457200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82880"/>
            <a:ext cx="36576" cy="36576"/>
          </a:xfrm>
          <a:prstGeom prst="ellipse">
            <a:avLst/>
          </a:prstGeom>
          <a:solidFill>
            <a:srgbClr val="B8C9E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-921327"/>
            <a:ext cx="6400800" cy="64008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756890" y="364237"/>
            <a:ext cx="4855064" cy="5059542"/>
          </a:xfrm>
          <a:prstGeom prst="ellipse">
            <a:avLst/>
          </a:prstGeom>
          <a:solidFill>
            <a:srgbClr val="9B30F5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4572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🚀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274320" y="64465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You're Ready to Launch!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362200" y="1426880"/>
            <a:ext cx="4349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600" dirty="0">
                <a:solidFill>
                  <a:srgbClr val="00D4FF"/>
                </a:solidFill>
              </a:rPr>
              <a:t>Build · Firebase · Ship</a:t>
            </a:r>
            <a:endParaRPr lang="en-US" sz="2000" b="1" dirty="0"/>
          </a:p>
        </p:txBody>
      </p:sp>
      <p:sp>
        <p:nvSpPr>
          <p:cNvPr id="17" name="Text 15"/>
          <p:cNvSpPr/>
          <p:nvPr/>
        </p:nvSpPr>
        <p:spPr>
          <a:xfrm>
            <a:off x="2560320" y="222199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Full Flame game with HP bar, speed escalation &amp; touch controls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2606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9E0"/>
                </a:solidFill>
              </a:rPr>
              <a:t>✅  Firebase Auth (email/password) + Firestore score saving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960993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Duplicate email guard + game over email 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290177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9E0"/>
                </a:solidFill>
              </a:rPr>
              <a:t>✅  Android AAB signing + Google Play Console walkthrough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60320" y="3620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iOS IPA build + App Store Connect submission checklist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3949377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9E0"/>
                </a:solidFill>
              </a:rPr>
              <a:t>✅  CI/CD with GitHub Actions for both platforms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78608" y="4374989"/>
            <a:ext cx="4572000" cy="347472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4366399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bg1"/>
                </a:solidFill>
              </a:rPr>
              <a:t>Good luck — and may your enemies never reach the bottom! 🎮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07B9B"/>
                </a:solidFill>
              </a:rPr>
              <a:t>35 / 35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8087</Words>
  <Application>Microsoft Office PowerPoint</Application>
  <PresentationFormat>On-screen Show (16:9)</PresentationFormat>
  <Paragraphs>1253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Space Shooter Game</dc:title>
  <dc:subject>PptxGenJS Presentation</dc:subject>
  <dc:creator>PptxGenJS</dc:creator>
  <cp:lastModifiedBy>CTS</cp:lastModifiedBy>
  <cp:revision>25</cp:revision>
  <dcterms:created xsi:type="dcterms:W3CDTF">2026-04-20T19:46:44Z</dcterms:created>
  <dcterms:modified xsi:type="dcterms:W3CDTF">2026-04-20T23:19:02Z</dcterms:modified>
</cp:coreProperties>
</file>